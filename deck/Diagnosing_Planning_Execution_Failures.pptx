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52cce4322c428a" /><Relationship Type="http://schemas.openxmlformats.org/officeDocument/2006/relationships/extended-properties" Target="/docProps/app.xml" Id="R0eb1dac9661244a8" /><Relationship Type="http://schemas.openxmlformats.org/officeDocument/2006/relationships/officeDocument" Target="/ppt/presentation.xml" Id="Rbd611a2a7ba948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593314d6c34a92"/>
  </p:sldMasterIdLst>
  <p:notesMasterIdLst>
    <p:notesMasterId xmlns:r="http://schemas.openxmlformats.org/officeDocument/2006/relationships" r:id="R94a73fafb6bc4b52"/>
  </p:notesMasterIdLst>
  <p:sldIdLst>
    <p:sldId xmlns:r="http://schemas.openxmlformats.org/officeDocument/2006/relationships" id="256" r:id="R7dd85e09ea8b4818"/>
    <p:sldId xmlns:r="http://schemas.openxmlformats.org/officeDocument/2006/relationships" id="257" r:id="Ra7fcd632611a43bc"/>
    <p:sldId xmlns:r="http://schemas.openxmlformats.org/officeDocument/2006/relationships" id="258" r:id="Rf2f8ee97c70343eb"/>
    <p:sldId xmlns:r="http://schemas.openxmlformats.org/officeDocument/2006/relationships" id="259" r:id="R68caef89644d4714"/>
    <p:sldId xmlns:r="http://schemas.openxmlformats.org/officeDocument/2006/relationships" id="260" r:id="R96c24426bc7e4aec"/>
    <p:sldId xmlns:r="http://schemas.openxmlformats.org/officeDocument/2006/relationships" id="261" r:id="Rf328139ad40943e2"/>
    <p:sldId xmlns:r="http://schemas.openxmlformats.org/officeDocument/2006/relationships" id="262" r:id="Rc506380be4314cf2"/>
    <p:sldId xmlns:r="http://schemas.openxmlformats.org/officeDocument/2006/relationships" id="263" r:id="R4e638a6cce254ccf"/>
    <p:sldId xmlns:r="http://schemas.openxmlformats.org/officeDocument/2006/relationships" id="264" r:id="R4b990cc4093048e6"/>
    <p:sldId xmlns:r="http://schemas.openxmlformats.org/officeDocument/2006/relationships" id="265" r:id="Rc1a28ab8000e429a"/>
    <p:sldId xmlns:r="http://schemas.openxmlformats.org/officeDocument/2006/relationships" id="266" r:id="R23bbe02b7a4848bf"/>
    <p:sldId xmlns:r="http://schemas.openxmlformats.org/officeDocument/2006/relationships" id="267" r:id="R63a8fb9fcc274f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cd9dbb9c034192" /><Relationship Type="http://schemas.openxmlformats.org/officeDocument/2006/relationships/slideMaster" Target="/ppt/slideMasters/slideMaster1.xml" Id="R83593314d6c34a92" /><Relationship Type="http://schemas.openxmlformats.org/officeDocument/2006/relationships/notesMaster" Target="/ppt/notesMasters/notesMaster1.xml" Id="R94a73fafb6bc4b52" /><Relationship Type="http://schemas.openxmlformats.org/officeDocument/2006/relationships/presProps" Target="/ppt/presProps.xml" Id="Rb1225a0577724728" /><Relationship Type="http://schemas.openxmlformats.org/officeDocument/2006/relationships/viewProps" Target="/ppt/viewProps.xml" Id="R00eadbdbfff7429d" /><Relationship Type="http://schemas.openxmlformats.org/officeDocument/2006/relationships/tableStyles" Target="/ppt/tableStyles.xml" Id="Rccbbff99069146d7" /><Relationship Type="http://schemas.openxmlformats.org/officeDocument/2006/relationships/slide" Target="/ppt/slides/slide1.xml" Id="R7dd85e09ea8b4818" /><Relationship Type="http://schemas.openxmlformats.org/officeDocument/2006/relationships/slide" Target="/ppt/slides/slide2.xml" Id="Ra7fcd632611a43bc" /><Relationship Type="http://schemas.openxmlformats.org/officeDocument/2006/relationships/slide" Target="/ppt/slides/slide3.xml" Id="Rf2f8ee97c70343eb" /><Relationship Type="http://schemas.openxmlformats.org/officeDocument/2006/relationships/slide" Target="/ppt/slides/slide4.xml" Id="R68caef89644d4714" /><Relationship Type="http://schemas.openxmlformats.org/officeDocument/2006/relationships/slide" Target="/ppt/slides/slide5.xml" Id="R96c24426bc7e4aec" /><Relationship Type="http://schemas.openxmlformats.org/officeDocument/2006/relationships/slide" Target="/ppt/slides/slide6.xml" Id="Rf328139ad40943e2" /><Relationship Type="http://schemas.openxmlformats.org/officeDocument/2006/relationships/slide" Target="/ppt/slides/slide7.xml" Id="Rc506380be4314cf2" /><Relationship Type="http://schemas.openxmlformats.org/officeDocument/2006/relationships/slide" Target="/ppt/slides/slide8.xml" Id="R4e638a6cce254ccf" /><Relationship Type="http://schemas.openxmlformats.org/officeDocument/2006/relationships/slide" Target="/ppt/slides/slide9.xml" Id="R4b990cc4093048e6" /><Relationship Type="http://schemas.openxmlformats.org/officeDocument/2006/relationships/slide" Target="/ppt/slides/slide10.xml" Id="Rc1a28ab8000e429a" /><Relationship Type="http://schemas.openxmlformats.org/officeDocument/2006/relationships/slide" Target="/ppt/slides/slide11.xml" Id="R23bbe02b7a4848bf" /><Relationship Type="http://schemas.openxmlformats.org/officeDocument/2006/relationships/slide" Target="/ppt/slides/slide12.xml" Id="R63a8fb9fcc274f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c006a7d55940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e91083e8b1432d" /><Relationship Type="http://schemas.openxmlformats.org/officeDocument/2006/relationships/notesMaster" Target="/ppt/notesMasters/notesMaster1.xml" Id="R360774ffa27441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56ec8e0b1b4aa8" /><Relationship Type="http://schemas.openxmlformats.org/officeDocument/2006/relationships/notesMaster" Target="/ppt/notesMasters/notesMaster1.xml" Id="Rb9262b1547d24c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0e236ef78b4c8d" /><Relationship Type="http://schemas.openxmlformats.org/officeDocument/2006/relationships/notesMaster" Target="/ppt/notesMasters/notesMaster1.xml" Id="R0767c5185b9b4d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59625cf138488f" /><Relationship Type="http://schemas.openxmlformats.org/officeDocument/2006/relationships/notesMaster" Target="/ppt/notesMasters/notesMaster1.xml" Id="R2f88c18716fe45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3baf744aad4358" /><Relationship Type="http://schemas.openxmlformats.org/officeDocument/2006/relationships/notesMaster" Target="/ppt/notesMasters/notesMaster1.xml" Id="R09c98d762d724e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37114261004397" /><Relationship Type="http://schemas.openxmlformats.org/officeDocument/2006/relationships/notesMaster" Target="/ppt/notesMasters/notesMaster1.xml" Id="Rfffa8a7959024b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dca65b493943c5" /><Relationship Type="http://schemas.openxmlformats.org/officeDocument/2006/relationships/notesMaster" Target="/ppt/notesMasters/notesMaster1.xml" Id="Rfed743c2e0bc4b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7c8de0095443b3" /><Relationship Type="http://schemas.openxmlformats.org/officeDocument/2006/relationships/notesMaster" Target="/ppt/notesMasters/notesMaster1.xml" Id="R16c8137b480543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20461bd0de43c3" /><Relationship Type="http://schemas.openxmlformats.org/officeDocument/2006/relationships/notesMaster" Target="/ppt/notesMasters/notesMaster1.xml" Id="R5781f5e3f84542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f4ce0bd8a44123" /><Relationship Type="http://schemas.openxmlformats.org/officeDocument/2006/relationships/notesMaster" Target="/ppt/notesMasters/notesMaster1.xml" Id="Rb361deb846444c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9dd048762049b6" /><Relationship Type="http://schemas.openxmlformats.org/officeDocument/2006/relationships/notesMaster" Target="/ppt/notesMasters/notesMaster1.xml" Id="R806211944c5642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131ca9304740d8" /><Relationship Type="http://schemas.openxmlformats.org/officeDocument/2006/relationships/notesMaster" Target="/ppt/notesMasters/notesMaster1.xml" Id="Rd724a8b6f58c4e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AllTravelPlanner and ChinaTravel results are frozen. The presentation does not rerun models, tools, or evaluators.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frame: research_narrative.md and unified_failure_taxonomy.md.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results_master.json. TP-A gets complete official reference information, not an oracle itinerary. TP-B gets query and official tool schemas.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results_master.json, TravelPlanner main_metrics A/B/C/D. All values use 180 validation queries per stage.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results_master.json and TravelPlanner analysis/figures/05_horizon_difficulty_heatmap.csv.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results_master.json stage_d_funnel and C_to_D transition. D independently reran the upstream C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results_master.json ChinaTravel CT-B/CT-C four-layer metrics. Pilot includes easy, medium, and human splits with four queries each.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results_master.json grounding counts and zero-tool sensitivity. CT-C entity counts: 70 consistent, 18 inconsistent, 11 unobserved, 20 placeholders, 4 invalid.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unified_failure_taxonomy.json and representative_cases.json.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frozen_claims.md, challenge_to_rq.md, and results_master.json. ChinaTravel evidence is a 12-query paired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results_master.json. Protocol details: research/validity_boundaries.md and stage manifests.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representative_cases.json and validity_boundaries.md. Full bibliography: references/references.bib.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4e74cac2347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7ac2261055492f" /><Relationship Type="http://schemas.openxmlformats.org/officeDocument/2006/relationships/slideLayout" Target="/ppt/slideLayouts/slideLayout1.xml" Id="R074e79e2213f48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4e79e2213f48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04bf759ee4d0d" /><Relationship Type="http://schemas.openxmlformats.org/officeDocument/2006/relationships/notesSlide" Target="/ppt/notesSlides/notesSlide1.xml" Id="Rd4af455fbe9c4e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23ce705854344" /><Relationship Type="http://schemas.openxmlformats.org/officeDocument/2006/relationships/notesSlide" Target="/ppt/notesSlides/notesSlide2.xml" Id="R4a5fa81c19004d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ae58d6d24423d" /><Relationship Type="http://schemas.openxmlformats.org/officeDocument/2006/relationships/notesSlide" Target="/ppt/notesSlides/notesSlide3.xml" Id="R1781928bf8724b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e85ba9842447e" /><Relationship Type="http://schemas.openxmlformats.org/officeDocument/2006/relationships/notesSlide" Target="/ppt/notesSlides/notesSlide4.xml" Id="Rcbf44dec420f45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999fa94914745" /><Relationship Type="http://schemas.openxmlformats.org/officeDocument/2006/relationships/notesSlide" Target="/ppt/notesSlides/notesSlide5.xml" Id="Rb7eacf13c36e4f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9e573a3c14e6d" /><Relationship Type="http://schemas.openxmlformats.org/officeDocument/2006/relationships/notesSlide" Target="/ppt/notesSlides/notesSlide6.xml" Id="R62958810ad2548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ffbe46ee6496b" /><Relationship Type="http://schemas.openxmlformats.org/officeDocument/2006/relationships/notesSlide" Target="/ppt/notesSlides/notesSlide7.xml" Id="R6122e56c140945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d0ce92e5b4a4c" /><Relationship Type="http://schemas.openxmlformats.org/officeDocument/2006/relationships/notesSlide" Target="/ppt/notesSlides/notesSlide8.xml" Id="R061478e7d69946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2ac2b706e49c1" /><Relationship Type="http://schemas.openxmlformats.org/officeDocument/2006/relationships/notesSlide" Target="/ppt/notesSlides/notesSlide9.xml" Id="Rcf8aa5a0bff84b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5518b5626463e" /><Relationship Type="http://schemas.openxmlformats.org/officeDocument/2006/relationships/notesSlide" Target="/ppt/notesSlides/notesSlide10.xml" Id="R2ec2b1de173341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30e1820ed4316" /><Relationship Type="http://schemas.openxmlformats.org/officeDocument/2006/relationships/notesSlide" Target="/ppt/notesSlides/notesSlide11.xml" Id="R02a43b61409e4c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5b0f290744efc" /><Relationship Type="http://schemas.openxmlformats.org/officeDocument/2006/relationships/notesSlide" Target="/ppt/notesSlides/notesSlide12.xml" Id="R770631114af14c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9EFA54A-0ABD-4EE8-A7F4-49A57F2D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RESEARCH STUDY · 2026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ED26DE6-289F-4D1A-A399-FDB487A9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34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Diagnosing Planning–Execution Failures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233224C-F03C-46EB-BDAE-7984A281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3225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in Tool-Augmented LLM Agents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F618392-C4FC-4336-9C37-E924C7FB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098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Evidence from </a:t>
            </a:r>
            <a:r>
              <a:rPr sz="16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TravelPlanner</a:t>
            </a:r>
            <a:r>
              <a:rPr sz="16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 and </a:t>
            </a:r>
            <a:r>
              <a:rPr sz="16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ChinaTravel</a:t>
            </a:r>
            <a:endParaRPr sz="1600" b="1">
              <a:solidFill>
                <a:srgbClr val="63708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CB10DC1C-3098-4751-993F-291249E4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BD26C6-B734-49ED-8CCC-501BEBFA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CONSTRAINT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FA22C37-2898-4EF8-8695-22095271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6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What must hold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1779CB2-76E9-4904-9E30-E8D5BBB8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5777"/>
            </a:solidFill>
            <a:prstDash val="solid"/>
          </a:ln>
        </p:spPr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6F53AD42-99BF-4C04-B3AC-E78BA10A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958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0BBB52D-A48C-4B59-92D9-5EF70F29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482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4AB32FB-D675-4426-96F1-727CF26B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38500" y="4695825"/>
            <a:ext cx="85725" cy="476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99C7EDA-BCEE-4448-A5E7-648CDF0F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EVIDENCE</a:t>
            </a:r>
            <a:endParaRPr sz="900" b="1">
              <a:solidFill>
                <a:srgbClr val="D9684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0D0B37F-EAA1-4528-B684-6979D08C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71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What the Agent knows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3F998718-96FD-4156-84C5-FCDF1294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95825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846"/>
            </a:solidFill>
            <a:prstDash val="solid"/>
          </a:ln>
        </p:spPr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F4529781-BA05-4E1D-8D83-9E84E30A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6958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8335817E-D26D-4E8B-8776-3193980D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6482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154A4776-6AB2-493A-9F52-667B419F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34075" y="4695823"/>
            <a:ext cx="75009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D4C490C-525E-4021-B4B4-D1AE2C86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10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EXECUTION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CA5412-062F-4198-84D0-28FB2064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6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What the Agent does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CD69123E-43BB-4611-A067-FAFD0F71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95825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474"/>
            </a:solidFill>
            <a:prstDash val="solid"/>
          </a:ln>
        </p:spPr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FDCEED15-47F2-43DB-BBD3-3CD5B26B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958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22" name="直接连接符 21">
            <a:extLst xmlns:a="http://schemas.openxmlformats.org/drawingml/2006/main">
              <a:ext uri="{FF2B5EF4-FFF2-40B4-BE49-F238E27FC236}">
                <a16:creationId xmlns:a16="http://schemas.microsoft.com/office/drawing/2014/main" id="{5064D85B-3699-498C-9231-844F9116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170208EC-3CAB-4B21-9A91-07C5E89F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29650" y="4695822"/>
            <a:ext cx="75009" cy="571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3BE480B-A13F-47EE-BCA9-384EC805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290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0649A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70649A"/>
                </a:solidFill>
                <a:latin typeface="Noto Sans SC"/>
                <a:ea typeface="Noto Sans SC"/>
                <a:cs typeface="Noto Sans SC"/>
              </a:rPr>
              <a:t>OUTPUT</a:t>
            </a:r>
            <a:endParaRPr sz="900" b="1">
              <a:solidFill>
                <a:srgbClr val="70649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97249CA-1C96-40BC-ADF5-3E516618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4" y="4171950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What the evaluator sees</a:t>
            </a:r>
          </a:p>
        </p:txBody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14B38DB4-731D-484D-9AAE-4F10EA55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695825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649A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60B560-3A6D-41DC-85BC-EB8C3032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A controlled mechanism study with field-level grounding analysis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57AC773-2731-4C99-B82B-B486B9E1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769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TravelPlanner: 180 queries per stage · ChinaTravel: 12 paired pilot queries</a:t>
            </a:r>
          </a:p>
        </p:txBody>
      </p:sp>
    </p:spTree>
    <p:extLst>
      <p:ext uri="{BB962C8B-B14F-4D97-AF65-F5344CB8AC3E}">
        <p14:creationId xmlns:p14="http://schemas.microsoft.com/office/powerpoint/2010/main" val="1476829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044D3329-0CBC-4E33-8157-528A6029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6FE8340-1EC6-42F9-9C6B-5D4461D2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RESEARCH FRAME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B2614B3-C909-48BB-8E7F-9C11FBCC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Planning quality depends on an entire execution chain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5B0961A-CA35-44E4-97D4-CCD992B0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A plausible local choice can still produce an infeasible global itinerary.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8792948E-B86B-43B7-9B71-2C106E8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920BD9E-3AE7-46E3-B923-60A3974C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7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B51541D-0071-481B-8DA4-0F0A861D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524000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Interpret constraints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83E8A7F-189D-4D3F-BB45-E968C5E4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777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704E84C-8842-4D63-B6B0-1F6E039E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misread or omit</a:t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A96FADE-FCBC-490C-98B5-9D9BFA8D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051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5A725D1-9444-4F36-BD99-8BF0EEAC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05752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D9D28FE1-5297-4222-BF91-164B6FF0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14575" y="3105151"/>
            <a:ext cx="85725" cy="57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088A23D-D101-4FA6-A53C-C1B369C7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49" y="2124075"/>
            <a:ext cx="49084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6846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D96846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0075F08-6D58-4440-A309-91B6E3BF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431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Acquire</a:t>
            </a:r>
            <a:r>
              <a:rPr sz="14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 </a:t>
            </a: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evidence</a:t>
            </a:r>
            <a:endParaRPr sz="1400" b="1">
              <a:solidFill>
                <a:srgbClr val="15202B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2D21E6C7-28BD-4DC3-A89C-7DA2CAFA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95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6846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0056C2F-2898-4B0F-ACE9-23FF886F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19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missing evidence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5B24C8EF-7074-4563-94E8-99387A4A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1051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D94963D7-6DF9-4FB5-A22D-BEE5EAAE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5752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8DF5E8BB-D717-467C-A54C-623D9411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124325" y="3105150"/>
            <a:ext cx="85725" cy="571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28FD727-DC64-4E26-A1D3-8B1A388A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24075"/>
            <a:ext cx="54880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B8A2B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BB8A2B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DCADC0F-5DA1-43AC-9E69-A90B3B9E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431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Judge sufficiency</a:t>
            </a:r>
          </a:p>
        </p:txBody>
      </p:sp>
      <p:sp>
        <p:nvSpPr>
          <p:cNvPr id="22" name="直接连接符 21">
            <a:extLst xmlns:a="http://schemas.openxmlformats.org/drawingml/2006/main">
              <a:ext uri="{FF2B5EF4-FFF2-40B4-BE49-F238E27FC236}">
                <a16:creationId xmlns:a16="http://schemas.microsoft.com/office/drawing/2014/main" id="{0F20F616-95F8-4C5A-B1CF-9FFEC7D9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95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B8A2B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C6046A7-ED10-4B75-8E20-1034A9C7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stop too early or late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646F5AFC-FC67-4239-A717-B725E370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051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0483E829-B0DF-424F-99DB-525BC98C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5752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7A88D23E-00B8-4967-8C80-C3CACAD4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34075" y="3105151"/>
            <a:ext cx="85725" cy="571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C1A9BD7-9CC6-4108-9DC0-3BA82BCC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49" y="2124075"/>
            <a:ext cx="61162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B8DEA68-E1DB-497A-83B2-F70C68A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4317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Execute commitments</a:t>
            </a:r>
          </a:p>
        </p:txBody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2C962752-2DFE-4456-AD9E-17241B1D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95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47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A77A9F5-83BC-48CF-A0F0-FD0438EC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19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deviate from blueprint</a:t>
            </a: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461037CC-4FB3-435E-8C7E-A621252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051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A9521FDC-99A7-4AC8-8B52-E2AE063B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05752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33" name="直接连接符 32">
            <a:extLst xmlns:a="http://schemas.openxmlformats.org/drawingml/2006/main">
              <a:ext uri="{FF2B5EF4-FFF2-40B4-BE49-F238E27FC236}">
                <a16:creationId xmlns:a16="http://schemas.microsoft.com/office/drawing/2014/main" id="{96DA6E0B-EA3B-4E89-928C-F0BD8686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43825" y="3105150"/>
            <a:ext cx="75009" cy="571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CA357A2-FFA7-4F28-A1E5-C767BEF6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799" y="2124075"/>
            <a:ext cx="49935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B20BD80-5298-4BA4-BFAA-A3585C9A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431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Ground output</a:t>
            </a:r>
          </a:p>
        </p:txBody>
      </p:sp>
      <p:sp>
        <p:nvSpPr>
          <p:cNvPr id="36" name="直接连接符 35">
            <a:extLst xmlns:a="http://schemas.openxmlformats.org/drawingml/2006/main">
              <a:ext uri="{FF2B5EF4-FFF2-40B4-BE49-F238E27FC236}">
                <a16:creationId xmlns:a16="http://schemas.microsoft.com/office/drawing/2014/main" id="{91F72340-6FEE-4F2C-BB95-EA7CB4BA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95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0649A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7E55980-0175-4609-B50D-0DB1D8D0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19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misuse or fabricate</a:t>
            </a:r>
          </a:p>
        </p:txBody>
      </p:sp>
      <p:sp>
        <p:nvSpPr>
          <p:cNvPr id="38" name="直接连接符 37">
            <a:extLst xmlns:a="http://schemas.openxmlformats.org/drawingml/2006/main">
              <a:ext uri="{FF2B5EF4-FFF2-40B4-BE49-F238E27FC236}">
                <a16:creationId xmlns:a16="http://schemas.microsoft.com/office/drawing/2014/main" id="{A9C402BD-4806-41E0-99D1-BF3477A0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051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F4F022C0-6880-462C-9DBE-0C2479E2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05752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40" name="直接连接符 39">
            <a:extLst xmlns:a="http://schemas.openxmlformats.org/drawingml/2006/main">
              <a:ext uri="{FF2B5EF4-FFF2-40B4-BE49-F238E27FC236}">
                <a16:creationId xmlns:a16="http://schemas.microsoft.com/office/drawing/2014/main" id="{9B722A82-3096-4386-A0C8-9E5E57B2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564291" y="3105151"/>
            <a:ext cx="75009" cy="571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1F0A09C9-35C3-4679-AA3F-63F20F61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24075"/>
            <a:ext cx="43085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94C4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B94C45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E1C12EF-4D33-4D9A-B0CC-9657D7D2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43175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Satisfy constraints</a:t>
            </a:r>
          </a:p>
        </p:txBody>
      </p:sp>
      <p:sp>
        <p:nvSpPr>
          <p:cNvPr id="43" name="直接连接符 42">
            <a:extLst xmlns:a="http://schemas.openxmlformats.org/drawingml/2006/main">
              <a:ext uri="{FF2B5EF4-FFF2-40B4-BE49-F238E27FC236}">
                <a16:creationId xmlns:a16="http://schemas.microsoft.com/office/drawing/2014/main" id="{C7710221-EBDB-42F2-B219-9298E0D0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95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4C45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2916844-8A40-4975-9087-3C827EB3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19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globally infeasible</a:t>
            </a: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601B07B5-43DC-4F5C-90D4-850ACFAD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676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EC2045B6-1D20-40AF-B5FC-FA8F9F76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299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DIAGNOSTIC QUESTION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357B4EA9-8C58-4AC3-8121-0C808ABA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731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Where does the system lose the information needed to produce a valid plan?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EC5C9F9-A0D7-41B4-8CBC-C870EC76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266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Controlled interventions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31BA720E-B66D-4801-8017-B06FCBAF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841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A/B/C/D separate information conditions, planning, and repair.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4228D11-F19F-4AF5-9F1A-C464A93F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6266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Failure-oriented analysis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AA738EF-1853-470C-ABE7-3BF810C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4841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Delivery, evidence, contract, and final correctness remain distinct.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E715A6E2-B16A-4FF4-BE9E-3D56BC86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6266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0649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70649A"/>
                </a:solidFill>
                <a:latin typeface="Noto Sans SC"/>
                <a:ea typeface="Noto Sans SC"/>
                <a:cs typeface="Noto Sans SC"/>
              </a:rPr>
              <a:t>Cross-benchmark check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EEB4515F-020B-4DC4-8340-FEEDD3B2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4841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ChinaTravel</a:t>
            </a:r>
            <a:r>
              <a:rPr sz="12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 tests whether the same failure pattern survives open Chinese requests.</a:t>
            </a:r>
          </a:p>
        </p:txBody>
      </p:sp>
      <p:sp>
        <p:nvSpPr>
          <p:cNvPr id="54" name="直接连接符 53">
            <a:extLst xmlns:a="http://schemas.openxmlformats.org/drawingml/2006/main">
              <a:ext uri="{FF2B5EF4-FFF2-40B4-BE49-F238E27FC236}">
                <a16:creationId xmlns:a16="http://schemas.microsoft.com/office/drawing/2014/main" id="{DDA3769B-28A0-42A4-9775-840E5CBA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921F83A4-7C5F-4635-A33A-59E964A4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22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Sources: ReAct (Yao et al., 2023); TravelPlanner (Xie et al., 2024); ChinaTravel (Shao et al., 2026).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2820B2D6-C941-49E4-87D4-EE421F43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5990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AC4045C6-AF15-4881-B86D-32C71A5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96CB799-8D67-4781-9AD0-09462080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STUDY DESIGN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FC53BF0-0C9A-4099-954A-2F58071D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TP-A and TP-B assign different information responsibilities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6EF1410-1962-44B6-8AD3-874A7758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The A/B comparison changes the task boundary, not only the interface.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E00D6971-9ABB-4631-A4B1-FC51A648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9DA7079-3280-40E4-8D40-C18654B6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05025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0">
                <a:solidFill>
                  <a:srgbClr val="245777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0">
                <a:solidFill>
                  <a:srgbClr val="245777"/>
                </a:solidFill>
                <a:latin typeface="Noto Serif SC"/>
                <a:ea typeface="Noto Serif SC"/>
                <a:cs typeface="Noto Serif SC"/>
              </a:rPr>
              <a:t>A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7972338-15B4-428E-B9CE-F6FB682A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8597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SUPPLIED-EVIDENCE SOLE-PLANNING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C2DB7CA-652F-4371-B274-246D5F8B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9077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Can the model compose a valid itinerary when benchmark evidence is already available?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7EFF0D-4EDA-4617-A411-FA8344DB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199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INPUT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F1C6A80-5228-43C9-8919-052F5492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4327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Query + complete official reference information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2A67239-C437-4EAE-82B2-710E76AB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777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200C30-BA12-4790-8786-FE4A0746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81467"/>
            <a:ext cx="2308291" cy="35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MODEL RESPONSIBILITY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A399B23-16BD-4407-8C02-3D1032D5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774" y="4324350"/>
            <a:ext cx="4642931" cy="552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Select and compose supplied evidence into one itinerary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89FE9ED-4E34-45FC-A1B1-41B570B4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6" y="488156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No tools · one planning call</a:t>
            </a: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AB91C835-40E0-44AB-ACA4-398A4DCD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F7F2117-F722-41CD-B932-CD31914F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05025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0">
                <a:solidFill>
                  <a:srgbClr val="D96846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0">
                <a:solidFill>
                  <a:srgbClr val="D96846"/>
                </a:solidFill>
                <a:latin typeface="Noto Serif SC"/>
                <a:ea typeface="Noto Serif SC"/>
                <a:cs typeface="Noto Serif SC"/>
              </a:rPr>
              <a:t>B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D11CC57-C452-46F8-8490-58BD2B66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QUERY-ONLY AUTONOMOUS ACQUISITION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1772EC0-DFAA-4887-9451-66926FFE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Can the Agent acquire enough evidence, stop correctly, and then produce a valid plan?</a:t>
            </a:r>
          </a:p>
        </p:txBody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A57ED98F-3991-47DC-AC52-7B6BE230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419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F3783BD-3E49-43C1-9910-E42959A6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54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21EF7D6-7D9D-4463-B2CB-14352A90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112" y="3812421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Find gap</a:t>
            </a:r>
          </a:p>
        </p:txBody>
      </p:sp>
      <p:sp>
        <p:nvSpPr>
          <p:cNvPr id="22" name="直接连接符 21">
            <a:extLst xmlns:a="http://schemas.openxmlformats.org/drawingml/2006/main">
              <a:ext uri="{FF2B5EF4-FFF2-40B4-BE49-F238E27FC236}">
                <a16:creationId xmlns:a16="http://schemas.microsoft.com/office/drawing/2014/main" id="{C78EFA4A-B40F-4B0F-8096-A7517E05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62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C00EA403-7686-425F-AE45-AFAA1A23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51472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A438891F-A302-4151-A929-4E5324B5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47409" y="3562350"/>
            <a:ext cx="77391" cy="476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椭圆 24">
            <a:extLst xmlns:a="http://schemas.openxmlformats.org/drawingml/2006/main">
              <a:ext uri="{FF2B5EF4-FFF2-40B4-BE49-F238E27FC236}">
                <a16:creationId xmlns:a16="http://schemas.microsoft.com/office/drawing/2014/main" id="{4670457C-AD75-4511-AADF-4C425527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66900CA-CA34-4833-857E-DE0AC17D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54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</a:t>
            </a:r>
            <a:endParaRPr sz="75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5D63408-6592-42F5-A40E-DBE670B1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533" y="3820638"/>
            <a:ext cx="71318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Call tool</a:t>
            </a:r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0D6D3953-9C93-4566-817A-1674F11C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62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2403595B-4D8E-4BEA-96E2-1E090C97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1472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B3C673C0-F5D3-4531-8616-550400D7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05850" y="3562350"/>
            <a:ext cx="77391" cy="476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DFDA78B4-16D2-4395-A06A-AFAC5A9E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19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F5249D1-6480-4799-B608-8CC64199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2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A07F2D2-D914-41A6-AED3-AD683585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83" y="3824490"/>
            <a:ext cx="97783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Read result</a:t>
            </a:r>
          </a:p>
        </p:txBody>
      </p:sp>
      <p:sp>
        <p:nvSpPr>
          <p:cNvPr id="34" name="直接连接符 33">
            <a:extLst xmlns:a="http://schemas.openxmlformats.org/drawingml/2006/main">
              <a:ext uri="{FF2B5EF4-FFF2-40B4-BE49-F238E27FC236}">
                <a16:creationId xmlns:a16="http://schemas.microsoft.com/office/drawing/2014/main" id="{49CFDB33-7D84-44E1-95C3-93C13A86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62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35" name="直接连接符 34">
            <a:extLst xmlns:a="http://schemas.openxmlformats.org/drawingml/2006/main">
              <a:ext uri="{FF2B5EF4-FFF2-40B4-BE49-F238E27FC236}">
                <a16:creationId xmlns:a16="http://schemas.microsoft.com/office/drawing/2014/main" id="{778D16E2-EEC4-4114-B00D-65D4CDBD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1472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36" name="直接连接符 35">
            <a:extLst xmlns:a="http://schemas.openxmlformats.org/drawingml/2006/main">
              <a:ext uri="{FF2B5EF4-FFF2-40B4-BE49-F238E27FC236}">
                <a16:creationId xmlns:a16="http://schemas.microsoft.com/office/drawing/2014/main" id="{7FBD1A33-AB58-4C5E-B0C6-BC759B99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579768" y="3562356"/>
            <a:ext cx="71437" cy="571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7EAD1938-5ECE-4D1D-9B30-24822180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19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3135715-8EC0-422E-9801-A87D237E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54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4</a:t>
            </a:r>
            <a:endParaRPr sz="75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84A7F41-987B-4AA9-84E8-4A1A984B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24389"/>
            <a:ext cx="65453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Assess</a:t>
            </a:r>
          </a:p>
        </p:txBody>
      </p:sp>
      <p:sp>
        <p:nvSpPr>
          <p:cNvPr id="40" name="直接连接符 39">
            <a:extLst xmlns:a="http://schemas.openxmlformats.org/drawingml/2006/main">
              <a:ext uri="{FF2B5EF4-FFF2-40B4-BE49-F238E27FC236}">
                <a16:creationId xmlns:a16="http://schemas.microsoft.com/office/drawing/2014/main" id="{85DCFE21-42E4-4F50-8E62-C59504B8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562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ACD82898-4A9E-40BE-B9DE-78B430E8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1472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42" name="直接连接符 41">
            <a:extLst xmlns:a="http://schemas.openxmlformats.org/drawingml/2006/main">
              <a:ext uri="{FF2B5EF4-FFF2-40B4-BE49-F238E27FC236}">
                <a16:creationId xmlns:a16="http://schemas.microsoft.com/office/drawing/2014/main" id="{486A161E-C7AE-4A42-8E05-5094F283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39400" y="3562350"/>
            <a:ext cx="85725" cy="571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5"/>
            </a:solidFill>
            <a:prstDash val="solid"/>
          </a:ln>
        </p:spPr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725B7D82-E8AF-41D4-853D-750D8071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419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9525">
            <a:solidFill>
              <a:srgbClr val="168474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33CBFB07-F2D6-45C0-BB43-5E542851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54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83AC9EC8-AB01-4891-B6F2-245EE0EE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394" y="3833812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Write plan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E626E4D3-A6AC-4C70-8C50-70C4D7B2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75" y="4374297"/>
            <a:ext cx="2513401" cy="214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AGENT RESPONSIBILITY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3070BD2-8EBB-4A66-A961-BB366878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946" y="4618518"/>
            <a:ext cx="4774661" cy="483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Acquire, ground, stop, and synthesize across multiple rounds</a:t>
            </a:r>
          </a:p>
        </p:txBody>
      </p:sp>
      <p:sp>
        <p:nvSpPr>
          <p:cNvPr id="48" name="直接连接符 47">
            <a:extLst xmlns:a="http://schemas.openxmlformats.org/drawingml/2006/main">
              <a:ext uri="{FF2B5EF4-FFF2-40B4-BE49-F238E27FC236}">
                <a16:creationId xmlns:a16="http://schemas.microsoft.com/office/drawing/2014/main" id="{212E1B7F-DCF5-4828-AA78-44ACCFEE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88753C78-9831-4B3B-AE8E-FA2EDE5C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SYSTEM GAP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F6C282FE-9527-4A7C-BED4-5E1C9C46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695950"/>
            <a:ext cx="691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Evidence access, interaction form, and system responsibility all change.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56946E1F-A674-4814-B6B7-6111404F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7912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300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Delivery 95% → 35%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5F652E71-A11C-4C0E-B5C5-41A1B99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722" y="6105323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Final Pass 13.9% → 15.6%</a:t>
            </a:r>
          </a:p>
        </p:txBody>
      </p:sp>
      <p:sp>
        <p:nvSpPr>
          <p:cNvPr id="53" name="直接连接符 52">
            <a:extLst xmlns:a="http://schemas.openxmlformats.org/drawingml/2006/main">
              <a:ext uri="{FF2B5EF4-FFF2-40B4-BE49-F238E27FC236}">
                <a16:creationId xmlns:a16="http://schemas.microsoft.com/office/drawing/2014/main" id="{A1938DA4-FD3E-45BE-B30A-166C1ECE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1DC0BAA8-26BC-47AC-BA04-CA1A9764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22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Source: TravelPlanner protocol and frozen experiment manifests; Xie et al. (2024).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E7CEAA3D-0CC5-48A6-B096-FF59EDC5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72466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7FD50B6D-8025-4D8B-9EED-C24FD20F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8FFE7B5-D8F3-4B91-9895-34A741BF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TRAVELPLANNER · 180 QUERIES PER STAGE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DDAB88-DE27-4E15-9EAA-42B4F0C9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Added mechanisms changed delivery more than correctness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27C799F-B2DD-45E3-B1D1-093BADED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Planner reduced some control failures. Verification increased cost without a net Final Pass gain.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720BAB84-F674-471B-B950-96D33A8F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60E8702-F7A2-4464-9F5E-5384FD5D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5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defRPr>
            </a:pPr>
            <a:r>
              <a:rPr sz="2775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rPr>
              <a:t>A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6E4717E-A449-4D44-8655-4CF1D542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574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SUPPLIED EVIDENCE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20933DD-19D1-4E21-9CFA-EED7D13C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86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sole-planning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E534673-F4B7-4591-9721-E66D78AB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47875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D96846"/>
                </a:solidFill>
                <a:latin typeface="Noto Serif SC"/>
                <a:ea typeface="Noto Serif SC"/>
                <a:cs typeface="Noto Serif SC"/>
              </a:defRPr>
            </a:pPr>
            <a:r>
              <a:rPr sz="2775" b="1">
                <a:solidFill>
                  <a:srgbClr val="D96846"/>
                </a:solidFill>
                <a:latin typeface="Noto Serif SC"/>
                <a:ea typeface="Noto Serif SC"/>
                <a:cs typeface="Noto Serif SC"/>
              </a:rPr>
              <a:t>B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300A61-C4A9-4906-82AC-620B91E5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574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QUERY ONLY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1C54E8A-8C0A-44FD-B399-28BE570B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86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ReAct + tools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EFE08F-AB01-413C-85FA-760809D2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47875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269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2775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C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863102-DFB1-4F7C-9918-E7EC28E3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EXPLICIT PLANNER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46935D0-F5DF-4793-BE5C-6CA20876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Planner + ReAct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5FEFF28-E3AD-481A-8948-C58FE8FA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47875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76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defRPr>
            </a:pPr>
            <a:r>
              <a:rPr sz="2775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rPr>
              <a:t>D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7FA9CB3-6354-4FF6-AFA2-9C3A9BEC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0574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49A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70649A"/>
                </a:solidFill>
                <a:latin typeface="Noto Sans SC"/>
                <a:ea typeface="Noto Sans SC"/>
                <a:cs typeface="Noto Sans SC"/>
              </a:rPr>
              <a:t>POST-HOC REPAIR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DA5BED-1F19-415E-B709-C2C2D3BD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86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33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Verifier + single replan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F3EAF2A-DCC2-4AD2-9805-7A4DF2C2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Delivery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194F30F3-66EA-4684-9093-F6A33BBE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0515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7BE2071-EA2F-4BB6-860D-99FB5DC0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rPr>
              <a:t>95.0%</a:t>
            </a:r>
          </a:p>
        </p:txBody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40FCD2DB-11E6-496D-A5BB-66B92611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10677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5777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07874C8-7739-47AF-B934-1C51094F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6846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D96846"/>
                </a:solidFill>
                <a:latin typeface="Noto Serif SC"/>
                <a:ea typeface="Noto Serif SC"/>
                <a:cs typeface="Noto Serif SC"/>
              </a:rPr>
              <a:t>35.0%</a:t>
            </a: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36480479-1D18-4DE7-9538-4B05A323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67075"/>
            <a:ext cx="3933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846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6493DB9-3AC2-47EF-955F-EBB71105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40.0%</a:t>
            </a:r>
          </a:p>
        </p:txBody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EB61EA30-0A07-4087-AF39-053D0F8C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67075"/>
            <a:ext cx="4495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474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3D18AAA-111F-4E0E-860B-9EE6C78F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857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rPr>
              <a:t>41.7%</a:t>
            </a:r>
          </a:p>
        </p:txBody>
      </p:sp>
      <p:sp>
        <p:nvSpPr>
          <p:cNvPr id="27" name="直接连接符 26">
            <a:extLst xmlns:a="http://schemas.openxmlformats.org/drawingml/2006/main">
              <a:ext uri="{FF2B5EF4-FFF2-40B4-BE49-F238E27FC236}">
                <a16:creationId xmlns:a16="http://schemas.microsoft.com/office/drawing/2014/main" id="{C6B3A56A-C236-451A-9C81-0149E0A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267075"/>
            <a:ext cx="4683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649A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A4AA938-87ED-477C-94A6-DF9CF87C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Commonsense micro</a:t>
            </a:r>
          </a:p>
        </p:txBody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D72A0D3D-FA5C-4928-8EC5-F6264F1E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338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88ECDA0-C7EA-42C9-928F-DADED27D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rPr>
              <a:t>79.7%</a:t>
            </a: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FF58D73E-1A5E-4DD2-881F-E52E3E75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89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5777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DC9237EA-D1A5-41A4-9153-B5F0572D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861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6846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D96846"/>
                </a:solidFill>
                <a:latin typeface="Noto Serif SC"/>
                <a:ea typeface="Noto Serif SC"/>
                <a:cs typeface="Noto Serif SC"/>
              </a:rPr>
              <a:t>32.2%</a:t>
            </a:r>
          </a:p>
        </p:txBody>
      </p:sp>
      <p:sp>
        <p:nvSpPr>
          <p:cNvPr id="33" name="直接连接符 32">
            <a:extLst xmlns:a="http://schemas.openxmlformats.org/drawingml/2006/main">
              <a:ext uri="{FF2B5EF4-FFF2-40B4-BE49-F238E27FC236}">
                <a16:creationId xmlns:a16="http://schemas.microsoft.com/office/drawing/2014/main" id="{7C867F77-3974-4F99-AF41-AC86A449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95725"/>
            <a:ext cx="3613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846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27B1475-B9C1-469F-8337-872405D3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36.9%</a:t>
            </a:r>
          </a:p>
        </p:txBody>
      </p:sp>
      <p:sp>
        <p:nvSpPr>
          <p:cNvPr id="35" name="直接连接符 34">
            <a:extLst xmlns:a="http://schemas.openxmlformats.org/drawingml/2006/main">
              <a:ext uri="{FF2B5EF4-FFF2-40B4-BE49-F238E27FC236}">
                <a16:creationId xmlns:a16="http://schemas.microsoft.com/office/drawing/2014/main" id="{14F6662A-4553-49D1-993B-6415DD79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95725"/>
            <a:ext cx="4144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47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BBF18FF-3124-4DFA-BA78-167B886D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861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rPr>
              <a:t>37.9%</a:t>
            </a:r>
          </a:p>
        </p:txBody>
      </p:sp>
      <p:sp>
        <p:nvSpPr>
          <p:cNvPr id="37" name="直接连接符 36">
            <a:extLst xmlns:a="http://schemas.openxmlformats.org/drawingml/2006/main">
              <a:ext uri="{FF2B5EF4-FFF2-40B4-BE49-F238E27FC236}">
                <a16:creationId xmlns:a16="http://schemas.microsoft.com/office/drawing/2014/main" id="{4AFFA554-5FF5-407B-AE2F-485CE116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95725"/>
            <a:ext cx="4261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649A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8F36C99-4719-4865-B633-560ACA86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Hard micro</a:t>
            </a:r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D5B0FE3A-A16E-4B18-99C9-ED744CC1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76E52136-89D4-4473-A392-89A9C3C4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148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rPr>
              <a:t>69.5%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4EA5432B-B273-4910-96DF-5819F774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24375"/>
            <a:ext cx="7814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5777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262F041A-FA37-4752-ACEC-984CAFD1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148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6846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D96846"/>
                </a:solidFill>
                <a:latin typeface="Noto Serif SC"/>
                <a:ea typeface="Noto Serif SC"/>
                <a:cs typeface="Noto Serif SC"/>
              </a:rPr>
              <a:t>24.8%</a:t>
            </a:r>
          </a:p>
        </p:txBody>
      </p:sp>
      <p:sp>
        <p:nvSpPr>
          <p:cNvPr id="43" name="直接连接符 42">
            <a:extLst xmlns:a="http://schemas.openxmlformats.org/drawingml/2006/main">
              <a:ext uri="{FF2B5EF4-FFF2-40B4-BE49-F238E27FC236}">
                <a16:creationId xmlns:a16="http://schemas.microsoft.com/office/drawing/2014/main" id="{21463EC0-C563-4AA5-B6E7-89733004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24375"/>
            <a:ext cx="2783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846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3BB34ED5-215D-4B7A-8AA7-AA956601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31.7%</a:t>
            </a: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15867A9F-FE28-4E29-BF9E-475EE438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3559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474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56D64AC-E0AD-4AC3-B436-9915EC92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1148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rPr>
              <a:t>32.6%</a:t>
            </a:r>
          </a:p>
        </p:txBody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1FC6F4C8-3019-4A27-96C3-A28FC094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24375"/>
            <a:ext cx="3666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649A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928E002-6118-41D1-9A81-662B636B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Final Pass</a:t>
            </a:r>
          </a:p>
        </p:txBody>
      </p:sp>
      <p:sp>
        <p:nvSpPr>
          <p:cNvPr id="49" name="直接连接符 48">
            <a:extLst xmlns:a="http://schemas.openxmlformats.org/drawingml/2006/main">
              <a:ext uri="{FF2B5EF4-FFF2-40B4-BE49-F238E27FC236}">
                <a16:creationId xmlns:a16="http://schemas.microsoft.com/office/drawing/2014/main" id="{1A05B3FB-5BEC-479F-9E09-F7506404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911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5B8D915-049C-4037-9C10-1468FE9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rPr>
              <a:t>13.9%</a:t>
            </a:r>
          </a:p>
        </p:txBody>
      </p:sp>
      <p:sp>
        <p:nvSpPr>
          <p:cNvPr id="51" name="直接连接符 50">
            <a:extLst xmlns:a="http://schemas.openxmlformats.org/drawingml/2006/main">
              <a:ext uri="{FF2B5EF4-FFF2-40B4-BE49-F238E27FC236}">
                <a16:creationId xmlns:a16="http://schemas.microsoft.com/office/drawing/2014/main" id="{65D3959B-46CD-4FC3-B827-BD9AEF3D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53025"/>
            <a:ext cx="1561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5777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81053098-5F75-436D-BFB7-EEC69418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43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6846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D96846"/>
                </a:solidFill>
                <a:latin typeface="Noto Serif SC"/>
                <a:ea typeface="Noto Serif SC"/>
                <a:cs typeface="Noto Serif SC"/>
              </a:rPr>
              <a:t>15.6%</a:t>
            </a:r>
          </a:p>
        </p:txBody>
      </p:sp>
      <p:sp>
        <p:nvSpPr>
          <p:cNvPr id="53" name="直接连接符 52">
            <a:extLst xmlns:a="http://schemas.openxmlformats.org/drawingml/2006/main">
              <a:ext uri="{FF2B5EF4-FFF2-40B4-BE49-F238E27FC236}">
                <a16:creationId xmlns:a16="http://schemas.microsoft.com/office/drawing/2014/main" id="{8F939BA9-5567-4E6C-B18D-AB2F1B3F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153025"/>
            <a:ext cx="17483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846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605552DD-C52A-4F18-BD32-774CD240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16.1%</a:t>
            </a:r>
          </a:p>
        </p:txBody>
      </p:sp>
      <p:sp>
        <p:nvSpPr>
          <p:cNvPr id="55" name="直接连接符 54">
            <a:extLst xmlns:a="http://schemas.openxmlformats.org/drawingml/2006/main">
              <a:ext uri="{FF2B5EF4-FFF2-40B4-BE49-F238E27FC236}">
                <a16:creationId xmlns:a16="http://schemas.microsoft.com/office/drawing/2014/main" id="{7C1E1F5A-E3FB-4661-843E-E1E5637A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1810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474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987D2F44-EA90-49BD-B37E-962CB7B4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743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rPr>
              <a:t>16.1%</a:t>
            </a:r>
          </a:p>
        </p:txBody>
      </p:sp>
      <p:sp>
        <p:nvSpPr>
          <p:cNvPr id="57" name="直接连接符 56">
            <a:extLst xmlns:a="http://schemas.openxmlformats.org/drawingml/2006/main">
              <a:ext uri="{FF2B5EF4-FFF2-40B4-BE49-F238E27FC236}">
                <a16:creationId xmlns:a16="http://schemas.microsoft.com/office/drawing/2014/main" id="{F5F67A31-1A59-4763-B0C5-D1C08ACC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153025"/>
            <a:ext cx="1810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649A"/>
            </a:solidFill>
            <a:prstDash val="solid"/>
          </a:ln>
        </p:spPr>
      </p:sp>
      <p:sp>
        <p:nvSpPr>
          <p:cNvPr id="58" name="直接连接符 57">
            <a:extLst xmlns:a="http://schemas.openxmlformats.org/drawingml/2006/main">
              <a:ext uri="{FF2B5EF4-FFF2-40B4-BE49-F238E27FC236}">
                <a16:creationId xmlns:a16="http://schemas.microsoft.com/office/drawing/2014/main" id="{4E99804B-7C03-48A0-B1BD-378C21C1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41EC94E-0127-4FA2-BADA-50BE45DC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816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COST PER QUERY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A41EC4B5-9AEA-4EE9-B785-53F9B976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TP-A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F08EE4FD-8D6C-416E-B516-9B997ED7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7150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1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10.9k tokens   0.0 tools   4.7s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31F1FCAE-CE7F-409A-869E-C73DBA65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7150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TP-B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1A1F6553-20EA-42B5-BDC4-618E81A6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7150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63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57.6k tokens   19.4 tools   38.6s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7C3AA64-0FC7-4CCB-9876-F8F7FF4B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150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TP-C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BD4301B2-BF28-42A0-901F-A46C262A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7150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63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56.0k tokens   17.8 tools   39.5s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618AC2E3-8573-4092-A1A3-44D491B8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7150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0649A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70649A"/>
                </a:solidFill>
                <a:latin typeface="Noto Sans SC"/>
                <a:ea typeface="Noto Sans SC"/>
                <a:cs typeface="Noto Sans SC"/>
              </a:rPr>
              <a:t>TP-D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518D84CC-592F-47E6-B341-934C6DE6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7150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63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63.0k tokens   17.6 tools   44.3s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2CE86F60-E124-409C-827B-9D4A12BC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67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4C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B94C45"/>
                </a:solidFill>
                <a:latin typeface="Noto Sans SC"/>
                <a:ea typeface="Noto Sans SC"/>
                <a:cs typeface="Noto Sans SC"/>
              </a:rPr>
              <a:t>Only one additional Final Pass separates B from C. D adds 1.26M tokens over C.</a:t>
            </a:r>
          </a:p>
        </p:txBody>
      </p:sp>
      <p:sp>
        <p:nvSpPr>
          <p:cNvPr id="69" name="直接连接符 68">
            <a:extLst xmlns:a="http://schemas.openxmlformats.org/drawingml/2006/main">
              <a:ext uri="{FF2B5EF4-FFF2-40B4-BE49-F238E27FC236}">
                <a16:creationId xmlns:a16="http://schemas.microsoft.com/office/drawing/2014/main" id="{F6EFE6AA-1009-4E7A-A19B-D6AEF722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80C6E462-1397-4BED-B6E2-3BE7968C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Source: frozen TravelPlanner validation results (n=180 per stage); results_master.json.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8A27FF08-2C1F-44E0-AF14-0ABF729C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71504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27CB7EEE-4F7F-4D42-AD3E-C3CE24F9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C95206-79F9-4EFC-B264-0E076F0F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TRAVELPLANNER · B TO C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87F4621-24DB-42E5-AC72-C79FA747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7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4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The Planner recovered delivery but left long-horizon correctness unresolved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298F9B-812C-4C66-95BA-167AD45C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B/C holds the query-only information condition, official tools, output contract, and 30-call budget constant.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09E1233E-F4CF-48D1-BF2A-F0A1C893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85B6E45-FB8A-4830-9999-59FEFD4F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MECHANISM EFFECT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AB45832-AC9C-4F29-AB76-9F9CF359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Delivery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92F4180-5F0B-4833-906C-D77EF245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384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29C70652-E11A-406C-9DCD-54F48278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EAB3633E-5308-497C-A29F-5927F2C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9525">
            <a:solidFill>
              <a:srgbClr val="16847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9C35C7-1F35-421D-9F84-86F8506A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145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35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6B865B-266B-42B9-8F7F-E5D5A704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527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40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86DEA3-872F-4C93-8625-6BA0C886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050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+5.0 pp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A6141B2-3FC6-4878-89D0-6CB9CBCA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Final Pass</a:t>
            </a: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AB3B370C-2CE9-48F9-98AC-F2DF84B4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242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E082AF46-941F-4D71-80CE-16653518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A4A2D0F2-270B-4AD5-BD1C-3E387044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7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9525">
            <a:solidFill>
              <a:srgbClr val="168474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34C3C70-2F95-46C8-B472-9B3B50D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15.56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2884D4F-93C3-4555-9FC7-9BA162EB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7" y="34385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16.11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E95182D-CA38-4C21-9E48-84AE5BB0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908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+0.56 pp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319EF54-18EC-4732-ACCC-AABDE261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Tokens / query</a:t>
            </a:r>
          </a:p>
        </p:txBody>
      </p:sp>
      <p:sp>
        <p:nvSpPr>
          <p:cNvPr id="22" name="直接连接符 21">
            <a:extLst xmlns:a="http://schemas.openxmlformats.org/drawingml/2006/main">
              <a:ext uri="{FF2B5EF4-FFF2-40B4-BE49-F238E27FC236}">
                <a16:creationId xmlns:a16="http://schemas.microsoft.com/office/drawing/2014/main" id="{69EBC4B2-3091-4334-96F8-C67B8E66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100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84590BFD-57B5-4F86-AE84-0783D378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24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24" name="椭圆 23">
            <a:extLst xmlns:a="http://schemas.openxmlformats.org/drawingml/2006/main">
              <a:ext uri="{FF2B5EF4-FFF2-40B4-BE49-F238E27FC236}">
                <a16:creationId xmlns:a16="http://schemas.microsoft.com/office/drawing/2014/main" id="{92B2448F-9206-444C-AD48-F1703C84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24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9525">
            <a:solidFill>
              <a:srgbClr val="168474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1ED6150-0F8B-4C26-A322-898062BB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861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57.64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467C98B-B2D1-40BA-A7AE-9E9E0771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24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55.98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9EE2F7F-EA2C-487E-B9DB-C678B92A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766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−2.9%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822BD08-1FD6-432D-8747-5A6E263D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624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Tools / query</a:t>
            </a:r>
          </a:p>
        </p:txBody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F35EE971-0BBB-4A96-94FC-3CD7CADE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958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6C82F169-4F7E-4D7D-AE2D-8B6648F8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10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5A4088D3-213B-4672-9F84-811FE317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10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9525">
            <a:solidFill>
              <a:srgbClr val="168474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8E6BDEF-EE4D-42C5-BE91-D4941B27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71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19.43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C919778-A5E4-47FC-9CA2-69CDC97A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101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17.83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A77CDEA-D620-4C5F-B122-1BC31BD7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624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−8.2%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6B6F548-813F-40CE-84F3-A5BF354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5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Primary agent-control failures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32EF3A2-2F71-4BC1-A0FC-1E407320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006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117 → 108</a:t>
            </a:r>
          </a:p>
        </p:txBody>
      </p:sp>
      <p:sp>
        <p:nvSpPr>
          <p:cNvPr id="37" name="直接连接符 36">
            <a:extLst xmlns:a="http://schemas.openxmlformats.org/drawingml/2006/main">
              <a:ext uri="{FF2B5EF4-FFF2-40B4-BE49-F238E27FC236}">
                <a16:creationId xmlns:a16="http://schemas.microsoft.com/office/drawing/2014/main" id="{0144FFE7-C630-4A42-92AA-27FD6CDA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002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1D08958-BB68-4995-A01A-DCB8D4FF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97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FINAL PASS BY HORIZON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E5B208D-1FF2-405C-968B-E7EEACD7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03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TP-A</a:t>
            </a:r>
          </a:p>
        </p:txBody>
      </p:sp>
      <p:sp>
        <p:nvSpPr>
          <p:cNvPr id="40" name="矩形: 圆角 39">
            <a:extLst xmlns:a="http://schemas.openxmlformats.org/drawingml/2006/main">
              <a:ext uri="{FF2B5EF4-FFF2-40B4-BE49-F238E27FC236}">
                <a16:creationId xmlns:a16="http://schemas.microsoft.com/office/drawing/2014/main" id="{E6153BC9-21F0-457B-9336-AE74EAFD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05075"/>
            <a:ext cx="87630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68474"/>
          </a:solidFill>
          <a:ln xmlns:a="http://schemas.openxmlformats.org/drawingml/2006/main" w="0">
            <a:solidFill>
              <a:srgbClr val="168474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FCD2BFD-5410-4AC4-B275-7E9ABBAB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25%</a:t>
            </a:r>
          </a:p>
        </p:txBody>
      </p:sp>
      <p:sp>
        <p:nvSpPr>
          <p:cNvPr id="42" name="矩形: 圆角 41">
            <a:extLst xmlns:a="http://schemas.openxmlformats.org/drawingml/2006/main">
              <a:ext uri="{FF2B5EF4-FFF2-40B4-BE49-F238E27FC236}">
                <a16:creationId xmlns:a16="http://schemas.microsoft.com/office/drawing/2014/main" id="{6B9C3D2D-D8B6-42E8-895C-92D923DE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05075"/>
            <a:ext cx="87630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BB8A2B"/>
          </a:solidFill>
          <a:ln xmlns:a="http://schemas.openxmlformats.org/drawingml/2006/main" w="0">
            <a:solidFill>
              <a:srgbClr val="BB8A2B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DA09D8CB-9385-4EC6-96FE-32622016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717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13%</a:t>
            </a:r>
          </a:p>
        </p:txBody>
      </p:sp>
      <p:sp>
        <p:nvSpPr>
          <p:cNvPr id="44" name="矩形: 圆角 43">
            <a:extLst xmlns:a="http://schemas.openxmlformats.org/drawingml/2006/main">
              <a:ext uri="{FF2B5EF4-FFF2-40B4-BE49-F238E27FC236}">
                <a16:creationId xmlns:a16="http://schemas.microsoft.com/office/drawing/2014/main" id="{D481012B-01F3-4129-A081-66DC3942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05075"/>
            <a:ext cx="87630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96846"/>
          </a:solidFill>
          <a:ln xmlns:a="http://schemas.openxmlformats.org/drawingml/2006/main" w="0">
            <a:solidFill>
              <a:srgbClr val="D96846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B1CF707-1D16-43CD-90B9-A1882C1F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3%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B4DEDF1E-A1C7-4954-83DF-C04A5916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TP-B</a:t>
            </a:r>
          </a:p>
        </p:txBody>
      </p:sp>
      <p:sp>
        <p:nvSpPr>
          <p:cNvPr id="47" name="矩形: 圆角 46">
            <a:extLst xmlns:a="http://schemas.openxmlformats.org/drawingml/2006/main">
              <a:ext uri="{FF2B5EF4-FFF2-40B4-BE49-F238E27FC236}">
                <a16:creationId xmlns:a16="http://schemas.microsoft.com/office/drawing/2014/main" id="{CC844819-DEF1-4FAF-96E3-01279538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0875"/>
            <a:ext cx="87630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68474"/>
          </a:solidFill>
          <a:ln xmlns:a="http://schemas.openxmlformats.org/drawingml/2006/main" w="0">
            <a:solidFill>
              <a:srgbClr val="168474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60FBE77-4A48-4027-9AD4-988700BF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575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33%</a:t>
            </a:r>
          </a:p>
        </p:txBody>
      </p:sp>
      <p:sp>
        <p:nvSpPr>
          <p:cNvPr id="49" name="矩形: 圆角 48">
            <a:extLst xmlns:a="http://schemas.openxmlformats.org/drawingml/2006/main">
              <a:ext uri="{FF2B5EF4-FFF2-40B4-BE49-F238E27FC236}">
                <a16:creationId xmlns:a16="http://schemas.microsoft.com/office/drawing/2014/main" id="{FE1357D5-2074-44DD-B20E-4B2A7FA7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90875"/>
            <a:ext cx="87630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BB8A2B"/>
          </a:solidFill>
          <a:ln xmlns:a="http://schemas.openxmlformats.org/drawingml/2006/main" w="0">
            <a:solidFill>
              <a:srgbClr val="BB8A2B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E477DB89-26C8-4D2C-8CF7-A94B1214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575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10%</a:t>
            </a:r>
          </a:p>
        </p:txBody>
      </p:sp>
      <p:sp>
        <p:nvSpPr>
          <p:cNvPr id="51" name="矩形: 圆角 50">
            <a:extLst xmlns:a="http://schemas.openxmlformats.org/drawingml/2006/main">
              <a:ext uri="{FF2B5EF4-FFF2-40B4-BE49-F238E27FC236}">
                <a16:creationId xmlns:a16="http://schemas.microsoft.com/office/drawing/2014/main" id="{7D15795F-6924-4DC9-9CA4-75540097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190875"/>
            <a:ext cx="87630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96846"/>
          </a:solidFill>
          <a:ln xmlns:a="http://schemas.openxmlformats.org/drawingml/2006/main" w="0">
            <a:solidFill>
              <a:srgbClr val="D96846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981E4C4A-B1A8-47D3-82F7-9FDD5FDE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2575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3%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0FA42CCF-68F9-4A67-8256-7F1DD8F3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719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TP-C</a:t>
            </a:r>
          </a:p>
        </p:txBody>
      </p:sp>
      <p:sp>
        <p:nvSpPr>
          <p:cNvPr id="54" name="矩形: 圆角 53">
            <a:extLst xmlns:a="http://schemas.openxmlformats.org/drawingml/2006/main">
              <a:ext uri="{FF2B5EF4-FFF2-40B4-BE49-F238E27FC236}">
                <a16:creationId xmlns:a16="http://schemas.microsoft.com/office/drawing/2014/main" id="{997F3DC5-919F-4073-AB51-221FEF99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76675"/>
            <a:ext cx="87630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68474"/>
          </a:solidFill>
          <a:ln xmlns:a="http://schemas.openxmlformats.org/drawingml/2006/main" w="0">
            <a:solidFill>
              <a:srgbClr val="168474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0DB94058-16E6-43B1-8311-D2F0F7B5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433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38%</a:t>
            </a:r>
          </a:p>
        </p:txBody>
      </p:sp>
      <p:sp>
        <p:nvSpPr>
          <p:cNvPr id="56" name="矩形: 圆角 55">
            <a:extLst xmlns:a="http://schemas.openxmlformats.org/drawingml/2006/main">
              <a:ext uri="{FF2B5EF4-FFF2-40B4-BE49-F238E27FC236}">
                <a16:creationId xmlns:a16="http://schemas.microsoft.com/office/drawing/2014/main" id="{FAB96CF2-4530-4298-8AF3-B001EB8E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76675"/>
            <a:ext cx="87630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96846"/>
          </a:solidFill>
          <a:ln xmlns:a="http://schemas.openxmlformats.org/drawingml/2006/main" w="0">
            <a:solidFill>
              <a:srgbClr val="D96846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3FB7DEF-9D56-435D-A891-F4C7CB9E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433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8%</a:t>
            </a:r>
          </a:p>
        </p:txBody>
      </p:sp>
      <p:sp>
        <p:nvSpPr>
          <p:cNvPr id="58" name="矩形: 圆角 57">
            <a:extLst xmlns:a="http://schemas.openxmlformats.org/drawingml/2006/main">
              <a:ext uri="{FF2B5EF4-FFF2-40B4-BE49-F238E27FC236}">
                <a16:creationId xmlns:a16="http://schemas.microsoft.com/office/drawing/2014/main" id="{CF51003C-13C3-4C0F-B416-867E4B61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876675"/>
            <a:ext cx="87630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96846"/>
          </a:solidFill>
          <a:ln xmlns:a="http://schemas.openxmlformats.org/drawingml/2006/main" w="0">
            <a:solidFill>
              <a:srgbClr val="D96846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BD78839-90BA-4AC4-863C-F33E532E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9433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2%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8131EAB-0981-4370-A0A9-E2E7B94E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0649A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70649A"/>
                </a:solidFill>
                <a:latin typeface="Noto Sans SC"/>
                <a:ea typeface="Noto Sans SC"/>
                <a:cs typeface="Noto Sans SC"/>
              </a:rPr>
              <a:t>TP-D</a:t>
            </a:r>
          </a:p>
        </p:txBody>
      </p:sp>
      <p:sp>
        <p:nvSpPr>
          <p:cNvPr id="61" name="矩形: 圆角 60">
            <a:extLst xmlns:a="http://schemas.openxmlformats.org/drawingml/2006/main">
              <a:ext uri="{FF2B5EF4-FFF2-40B4-BE49-F238E27FC236}">
                <a16:creationId xmlns:a16="http://schemas.microsoft.com/office/drawing/2014/main" id="{DAD46848-5D40-4956-AC6C-F518BBBD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62475"/>
            <a:ext cx="87630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68474"/>
          </a:solidFill>
          <a:ln xmlns:a="http://schemas.openxmlformats.org/drawingml/2006/main" w="0">
            <a:solidFill>
              <a:srgbClr val="168474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81268413-5822-4776-A4E5-E364803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29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33%</a:t>
            </a:r>
          </a:p>
        </p:txBody>
      </p:sp>
      <p:sp>
        <p:nvSpPr>
          <p:cNvPr id="63" name="矩形: 圆角 62">
            <a:extLst xmlns:a="http://schemas.openxmlformats.org/drawingml/2006/main">
              <a:ext uri="{FF2B5EF4-FFF2-40B4-BE49-F238E27FC236}">
                <a16:creationId xmlns:a16="http://schemas.microsoft.com/office/drawing/2014/main" id="{805D04D7-F223-49AD-8307-578D7EEA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62475"/>
            <a:ext cx="87630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BB8A2B"/>
          </a:solidFill>
          <a:ln xmlns:a="http://schemas.openxmlformats.org/drawingml/2006/main" w="0">
            <a:solidFill>
              <a:srgbClr val="BB8A2B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459EC2F-B878-4BC4-8ED9-0F3DA4C9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29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12%</a:t>
            </a:r>
          </a:p>
        </p:txBody>
      </p:sp>
      <p:sp>
        <p:nvSpPr>
          <p:cNvPr id="65" name="矩形: 圆角 64">
            <a:extLst xmlns:a="http://schemas.openxmlformats.org/drawingml/2006/main">
              <a:ext uri="{FF2B5EF4-FFF2-40B4-BE49-F238E27FC236}">
                <a16:creationId xmlns:a16="http://schemas.microsoft.com/office/drawing/2014/main" id="{8C95AD93-3DF4-4222-82CB-16FD05D2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562475"/>
            <a:ext cx="876300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96846"/>
          </a:solidFill>
          <a:ln xmlns:a="http://schemas.openxmlformats.org/drawingml/2006/main" w="0">
            <a:solidFill>
              <a:srgbClr val="D96846"/>
            </a:solidFill>
            <a:prstDash val="solid"/>
          </a:ln>
        </p:spPr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D21D8B54-3224-49AD-A611-C12169B5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629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3%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61AE8737-97B0-44AE-AFA9-74C66726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4292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3 days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E512113F-BDEC-4E63-9330-B59C8895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4292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5 days</a:t>
            </a: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BEAF58F-C01F-4611-8333-CE8EEC60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4292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7 days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8110E075-9F7E-4699-938C-BB2E4539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674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4C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B94C45"/>
                </a:solidFill>
                <a:latin typeface="Noto Sans SC"/>
                <a:ea typeface="Noto Sans SC"/>
                <a:cs typeface="Noto Sans SC"/>
              </a:rPr>
              <a:t>Seven-day cells remain at or below 10% across stages.</a:t>
            </a:r>
          </a:p>
        </p:txBody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46F90F4D-AD7C-4788-B28E-A38EE4CA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A663F549-0573-40F1-BAAF-3E2D9A9B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Source: frozen TravelPlanner validation results (n=180 per stage); results_master.json.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CEE62148-D949-46CA-AA76-571CA2C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07010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70A5B9-0F28-482B-93CD-2BAC7A18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219239-20E9-4098-A842-AA5E34A1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TRAVELPLANNER · C TO D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F3CFA4-DF46-456B-9A20-3F2267F8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Post-hoc verification added cost without a net Final Pass gain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8127CD9-9121-45E4-9980-59C4FDF9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D can only act after the upstream C-chain produces a candidate.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18266522-687C-41CE-BB76-81B1CA2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D374BC9-DE96-4B7A-9538-3F54094D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0649A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70649A"/>
                </a:solidFill>
                <a:latin typeface="Noto Sans SC"/>
                <a:ea typeface="Noto Sans SC"/>
                <a:cs typeface="Noto Sans SC"/>
              </a:rPr>
              <a:t>VERIFIER FUNNEL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08EFFD9A-982A-4A6E-A0EE-F69C5153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3" y="2409825"/>
            <a:ext cx="5048250" cy="4095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245777"/>
          </a:solidFill>
          <a:ln xmlns:a="http://schemas.openxmlformats.org/drawingml/2006/main" w="0">
            <a:solidFill>
              <a:srgbClr val="245777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12B3355-AFBF-43D4-B75F-1FE8BE50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3" y="24765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Candidates  119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934447D9-5FD5-45F2-A047-BA44D4C0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3" y="3009900"/>
            <a:ext cx="5048250" cy="4095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245777"/>
          </a:solidFill>
          <a:ln xmlns:a="http://schemas.openxmlformats.org/drawingml/2006/main" w="0">
            <a:solidFill>
              <a:srgbClr val="245777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8FFD069-45E0-4859-A5F9-20F7E306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3" y="307657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Verifier calls  119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6D9556D8-5230-4724-AAB1-CBEA2D78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3" y="3609975"/>
            <a:ext cx="3333750" cy="4095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BB8A2B"/>
          </a:solidFill>
          <a:ln xmlns:a="http://schemas.openxmlformats.org/drawingml/2006/main" w="0">
            <a:solidFill>
              <a:srgbClr val="BB8A2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7C01C1-B76F-4C6B-8321-EEBAE6F7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3" y="3676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Repair requested  46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89E8E0D3-2096-45FB-ADCF-8FC70718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4210050"/>
            <a:ext cx="2095500" cy="4095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96846"/>
          </a:solidFill>
          <a:ln xmlns:a="http://schemas.openxmlformats.org/drawingml/2006/main" w="0">
            <a:solidFill>
              <a:srgbClr val="D96846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56D193D-71A4-4C81-AFCF-A0109185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4276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Schema-valid replans  16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0187CBAF-AD98-47CB-8126-ABBFC4B5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8" y="4810125"/>
            <a:ext cx="1066800" cy="4095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68474"/>
          </a:solidFill>
          <a:ln xmlns:a="http://schemas.openxmlformats.org/drawingml/2006/main" w="0">
            <a:solidFill>
              <a:srgbClr val="168474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18D48AB-A17F-489A-8FF1-BEB04A1C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8" y="48768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078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Repair successes  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7EB74E1-622B-48E8-BC1A-4F3380D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284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94C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B94C45"/>
                </a:solidFill>
                <a:latin typeface="Noto Sans SC"/>
                <a:ea typeface="Noto Sans SC"/>
                <a:cs typeface="Noto Sans SC"/>
              </a:rPr>
              <a:t>61 upstream runs had no candidate and remained outside the repair path.</a:t>
            </a:r>
          </a:p>
        </p:txBody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E96D02F4-3A80-426C-A576-3DB955D9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93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D84474-7070-4AA9-8215-106B96DE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288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0649A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70649A"/>
                </a:solidFill>
                <a:latin typeface="Noto Sans SC"/>
                <a:ea typeface="Noto Sans SC"/>
                <a:cs typeface="Noto Sans SC"/>
              </a:rPr>
              <a:t>MEASURED EFFECT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A53DEC8-1140-4E19-BA04-7A948336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19350"/>
            <a:ext cx="223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16.11% → 16.11%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9B8FD4E-704F-4B54-9BA5-D37152F3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19400"/>
            <a:ext cx="2238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FINAL PASS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5E8E1BD-C6F0-4FFC-9103-27145D07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5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No net gain over C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AF8893C-13C4-4027-B415-AA0E941B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86150"/>
            <a:ext cx="223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rPr>
              <a:t>+1.263M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50AA98A-D69C-4F49-84DE-7B2B9925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2238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ADDITIONAL TOKENS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C887802-3F1E-468A-B4F8-72043071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5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11.34M total tokens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EAD54FC-5DAD-48D5-AC3A-8EEFF89A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52950"/>
            <a:ext cx="223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94C45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B94C45"/>
                </a:solidFill>
                <a:latin typeface="Noto Serif SC"/>
                <a:ea typeface="Noto Serif SC"/>
                <a:cs typeface="Noto Serif SC"/>
              </a:rPr>
              <a:t>17 ↑   17 ↓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A72EC5C-6BB4-4F24-8F55-F02F444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53000"/>
            <a:ext cx="2238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PAIRED TRANSITIONS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077E738-BF73-47DD-A942-507A33C9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625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5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McNemar p = 1.0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111EB3F-006F-4A80-BCB3-EF86B842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479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Interpretation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BCF5DC9-CCE3-4D44-AA94-966F994B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33675"/>
            <a:ext cx="1952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A final-stage LLM verifier cannot reliably reconstruct missing evidence or recover runs that never produced a candidate.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2313B96-4AC1-4BDD-BAC4-6E14717A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71487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5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C and D independently rerun the upstream chain, so paired changes include model and API non-determinism.</a:t>
            </a:r>
          </a:p>
        </p:txBody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0E5D92D2-C7B3-484D-AFCE-A2BF46C5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FB2A118-1FBF-47D6-88BC-5FB0272B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Source: frozen TravelPlanner validation results and verifier audit (n=180); results_master.json.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6A1FFEB-0C62-42EF-91D1-D4B2F172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157825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74FBA63C-06BD-4A82-91D0-B2A38037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A042AA4-DBD5-41EA-8721-8C7B6E28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CHINATRAVEL · 12-QUERY PAIRED PILOT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CD36C44-2026-4731-A380-4F53ADA5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11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4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Structured planning increased final responses but not valid deliveries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1F40CD9-1C95-4933-BA2E-A8F79697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CT-B and CT-C use the same Chinese queries, tools, evaluator, and tool budget.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8F5DBDCC-075E-4A5C-95F8-7C9C2AAE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1423A53-D830-4DAD-98BB-0546D1EF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EXPERIMENT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D98C5B2D-50EB-4FA8-9D6D-6860A80B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90775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E2D8"/>
          </a:solidFill>
          <a:ln xmlns:a="http://schemas.openxmlformats.org/drawingml/2006/main" w="11430">
            <a:solidFill>
              <a:srgbClr val="D9684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2426F10-D00A-434F-9F23-38AA55B3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CT-B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Query-only ReAct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B8EF029D-0CE6-4E6B-8A09-C47F0A8D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622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8474"/>
            </a:solidFill>
            <a:prstDash val="solid"/>
          </a:ln>
        </p:spPr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1FDBAA81-3B62-4628-9654-198E4ECB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1462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8474"/>
            </a:solidFill>
            <a:prstDash val="solid"/>
          </a:ln>
        </p:spPr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664344B1-1CD6-4E15-AE5E-98D52BB5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6225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8474"/>
            </a:solidFill>
            <a:prstDash val="solid"/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3997CD2-A2EC-421B-A60F-2B82DE78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90775"/>
            <a:ext cx="2524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ECE7"/>
          </a:solidFill>
          <a:ln xmlns:a="http://schemas.openxmlformats.org/drawingml/2006/main" w="11430">
            <a:solidFill>
              <a:srgbClr val="16847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F5E58CE-BA00-4851-BF1D-DF8D0820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574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CT-C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Structured Planner + ReAct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B3CC395-09C9-474D-BEEF-237E1E20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538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Only CT-C adds one no-tool Planner call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4856D85-308F-4F55-A8FB-A030D446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924BD4F-01A5-45D4-B08F-4510BAB5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EASY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611637B-FA8B-4598-8B4A-3436ABA1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8385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B8A2B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BB8A2B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00F0394-D82F-43AB-BA34-41F3291D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905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MEDIUM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294EE78-D071-4B27-8041-288EE85E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385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70649A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2ACE57D-8C87-4EE4-B017-07215308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HUMAN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37ECB5A-7CB1-4DF5-AB69-B17C11E4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Role in this study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6022DA7-75FD-4914-A16C-CF5F8669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14900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A small cross-benchmark mechanism check, not a second full benchmark campaign.</a:t>
            </a: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BF994466-1AB2-4725-A5C4-66E84A4E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9775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3041BF4-1B30-44F4-8392-463E063A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097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DELIVERY LADDER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7989CAA-260D-4721-B0F6-7B9362AE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33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Final response</a:t>
            </a:r>
          </a:p>
        </p:txBody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420D0BEF-B535-4347-8271-6A7212C5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57475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680F22C-ADF8-4346-85CE-261EC46F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571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7AE6ABDB-9424-42A1-BA1D-A848BDAC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71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9525">
            <a:solidFill>
              <a:srgbClr val="168474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32EE180-D403-47F5-A874-3DB6CA10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EDB3731-4A0F-406C-9D94-E76DB6C5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2759AB7-1079-4DE8-BD24-0FECB377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718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Strict schema</a:t>
            </a:r>
          </a:p>
        </p:txBody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0582EB0E-3B2C-4A47-98A4-AB884CCB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9565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31E694A9-2F04-46BD-AFC2-8C69655B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34" name="椭圆 33">
            <a:extLst xmlns:a="http://schemas.openxmlformats.org/drawingml/2006/main">
              <a:ext uri="{FF2B5EF4-FFF2-40B4-BE49-F238E27FC236}">
                <a16:creationId xmlns:a16="http://schemas.microsoft.com/office/drawing/2014/main" id="{24087978-B1BC-4600-944B-6186E7FD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9525">
            <a:solidFill>
              <a:srgbClr val="168474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E2DC87FA-9A4D-44C0-BE67-472CBC13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19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5CF5B5C-7A9B-40D6-AC1F-D6136FEB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00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0B66476-6CD4-4801-B1F1-61BC96E5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10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Evidence-backed</a:t>
            </a:r>
          </a:p>
        </p:txBody>
      </p:sp>
      <p:sp>
        <p:nvSpPr>
          <p:cNvPr id="38" name="直接连接符 37">
            <a:extLst xmlns:a="http://schemas.openxmlformats.org/drawingml/2006/main">
              <a:ext uri="{FF2B5EF4-FFF2-40B4-BE49-F238E27FC236}">
                <a16:creationId xmlns:a16="http://schemas.microsoft.com/office/drawing/2014/main" id="{07569525-CA47-4082-A996-EA2A427B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33825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73204D18-AFE0-4D3B-9CBD-DAF180D1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48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40" name="椭圆 39">
            <a:extLst xmlns:a="http://schemas.openxmlformats.org/drawingml/2006/main">
              <a:ext uri="{FF2B5EF4-FFF2-40B4-BE49-F238E27FC236}">
                <a16:creationId xmlns:a16="http://schemas.microsoft.com/office/drawing/2014/main" id="{433BDC26-E0E9-456A-B3DC-40344391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48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9525">
            <a:solidFill>
              <a:srgbClr val="168474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6CFB75F-D282-4BCE-BAC7-39F3594B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576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4053949-729F-4A59-8ECE-6427C5B4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1C859459-B739-4BA1-A7A5-F19A2905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48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Fully grounded</a:t>
            </a: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45467A98-6F16-4F14-9A37-6CB2C22E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45" name="椭圆 44">
            <a:extLst xmlns:a="http://schemas.openxmlformats.org/drawingml/2006/main">
              <a:ext uri="{FF2B5EF4-FFF2-40B4-BE49-F238E27FC236}">
                <a16:creationId xmlns:a16="http://schemas.microsoft.com/office/drawing/2014/main" id="{D83C09FE-902A-43FE-8B96-66077096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86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46" name="椭圆 45">
            <a:extLst xmlns:a="http://schemas.openxmlformats.org/drawingml/2006/main">
              <a:ext uri="{FF2B5EF4-FFF2-40B4-BE49-F238E27FC236}">
                <a16:creationId xmlns:a16="http://schemas.microsoft.com/office/drawing/2014/main" id="{D7AC2737-0A73-49E2-8AA7-7A652D11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86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9525">
            <a:solidFill>
              <a:srgbClr val="168474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FAA432B0-9D21-4915-ADB5-C6017014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957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E2D5A57D-A502-4F85-8F3B-6AFC96B7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767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F975749B-8A7C-45C7-80CC-D154EFBB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86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All Pass</a:t>
            </a:r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DD6DAFEB-13CF-4BC6-A508-BA3666D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0175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5"/>
            </a:solidFill>
            <a:prstDash val="solid"/>
          </a:ln>
        </p:spPr>
      </p:sp>
      <p:sp>
        <p:nvSpPr>
          <p:cNvPr id="51" name="椭圆 50">
            <a:extLst xmlns:a="http://schemas.openxmlformats.org/drawingml/2006/main">
              <a:ext uri="{FF2B5EF4-FFF2-40B4-BE49-F238E27FC236}">
                <a16:creationId xmlns:a16="http://schemas.microsoft.com/office/drawing/2014/main" id="{8C29D202-D6B0-42E2-B9E3-27579206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124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46"/>
          </a:solidFill>
          <a:ln xmlns:a="http://schemas.openxmlformats.org/drawingml/2006/main" w="9525">
            <a:solidFill>
              <a:srgbClr val="D96846"/>
            </a:solidFill>
            <a:prstDash val="solid"/>
          </a:ln>
        </p:spPr>
      </p:sp>
      <p:sp>
        <p:nvSpPr>
          <p:cNvPr id="52" name="椭圆 51">
            <a:extLst xmlns:a="http://schemas.openxmlformats.org/drawingml/2006/main">
              <a:ext uri="{FF2B5EF4-FFF2-40B4-BE49-F238E27FC236}">
                <a16:creationId xmlns:a16="http://schemas.microsoft.com/office/drawing/2014/main" id="{DA021802-B28D-4331-A091-C438C762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124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9525">
            <a:solidFill>
              <a:srgbClr val="168474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23A183F-5FB8-4542-A702-3C0BA564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339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0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71CAE15C-C525-4FA2-AA13-57F3E7D9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149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0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8A3AE0EF-07B1-4699-97BD-C6BCF7E6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435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CT-B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4C7B45AA-26FB-4856-98B5-7C1BDC83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7435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CT-C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0B73B3AC-D34D-4A58-81DF-BA30BEB2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293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94C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B94C45"/>
                </a:solidFill>
                <a:latin typeface="Noto Sans SC"/>
                <a:ea typeface="Noto Sans SC"/>
                <a:cs typeface="Noto Sans SC"/>
              </a:rPr>
              <a:t>Two CT-C runs stopped before any tool call.</a:t>
            </a:r>
          </a:p>
        </p:txBody>
      </p:sp>
      <p:sp>
        <p:nvSpPr>
          <p:cNvPr id="58" name="直接连接符 57">
            <a:extLst xmlns:a="http://schemas.openxmlformats.org/drawingml/2006/main">
              <a:ext uri="{FF2B5EF4-FFF2-40B4-BE49-F238E27FC236}">
                <a16:creationId xmlns:a16="http://schemas.microsoft.com/office/drawing/2014/main" id="{25B55D7C-3AD9-43EE-B32F-DB3FFDA2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2867B30-1421-4AA1-B5F8-E2002E80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Source: frozen ChinaTravel 12-query paired pilot; Shao et al. (2026).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8A537CF6-2912-4D20-BADD-3DBC2280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7377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264D02C8-BF1F-4945-967B-92A73D09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8197EC-89A8-43D4-B0A2-341C2E24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CHINATRAVEL · GROUNDING AUDIT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166127-6CCE-4700-9337-D78D22B6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Apparent efficiency came from shorter failure paths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242E301-8C50-40DE-85BB-4FE002FD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Entity-level audit separates retrieval, use, placeholders, and fabrication.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80A7843-268D-41EA-B3AD-9A0E733C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6CDB26-ED5E-4DCA-A1BE-D6B7432E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PRIMARY ACTIVITY ENTITIES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0355163-B8C1-495A-960D-93411942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CT-B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F615C8A-D382-4CED-9BDB-5DBB00EE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435064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0">
            <a:solidFill>
              <a:srgbClr val="168474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9A3692-EF04-4289-AD97-9A9B810D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43506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69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1628745-560D-4DBD-ACD2-FDD90466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394" y="2619375"/>
            <a:ext cx="12610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8A2B"/>
          </a:solidFill>
          <a:ln xmlns:a="http://schemas.openxmlformats.org/drawingml/2006/main" w="0">
            <a:solidFill>
              <a:srgbClr val="BB8A2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F4C0DB-1E03-4336-886B-8817D610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527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n=71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3C43770-C20E-40AA-ABE8-35A194DC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CT-C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A646379-DA2B-479A-8C1A-01A04AB5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254774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0">
            <a:solidFill>
              <a:srgbClr val="16847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81B0F5C-C111-438B-A1EA-8B4BE11B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25477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70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E725EA4-79FA-47D7-8323-96BD56C8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94" y="3571875"/>
            <a:ext cx="65513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8A2B"/>
          </a:solidFill>
          <a:ln xmlns:a="http://schemas.openxmlformats.org/drawingml/2006/main" w="0">
            <a:solidFill>
              <a:srgbClr val="BB8A2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CD3B0E1-4BCB-43BF-83BF-1F18140E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94" y="3695700"/>
            <a:ext cx="65513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D3322C-4862-46B3-B628-D6A497C6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628" y="3571875"/>
            <a:ext cx="4003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7"/>
          </a:solidFill>
          <a:ln xmlns:a="http://schemas.openxmlformats.org/drawingml/2006/main" w="0">
            <a:solidFill>
              <a:srgbClr val="245777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17EF4F-2E4E-4C52-A0FA-8D31C827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628" y="3695700"/>
            <a:ext cx="40036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385C611-7752-492F-8505-6DD7B982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988" y="3571875"/>
            <a:ext cx="72792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083"/>
          </a:solidFill>
          <a:ln xmlns:a="http://schemas.openxmlformats.org/drawingml/2006/main" w="0">
            <a:solidFill>
              <a:srgbClr val="637083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DE926C1-CCCF-4800-9F3D-8E8FBF52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988" y="3695700"/>
            <a:ext cx="72792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20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6BACA4C-5602-40EF-9483-ED471F1A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915" y="3571875"/>
            <a:ext cx="14558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C45"/>
          </a:solidFill>
          <a:ln xmlns:a="http://schemas.openxmlformats.org/drawingml/2006/main" w="0">
            <a:solidFill>
              <a:srgbClr val="B94C45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FAB3547-3456-43AD-9C1B-639817F5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052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n=123</a:t>
            </a:r>
          </a:p>
        </p:txBody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9BA1C3D6-E2EE-45E3-AAB4-3FAA7CAB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474"/>
          </a:solidFill>
          <a:ln xmlns:a="http://schemas.openxmlformats.org/drawingml/2006/main" w="9525">
            <a:solidFill>
              <a:srgbClr val="168474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2AD2D03-6424-4BF0-B6F4-E96DC957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Retrieved + consistent</a:t>
            </a:r>
          </a:p>
        </p:txBody>
      </p:sp>
      <p:sp>
        <p:nvSpPr>
          <p:cNvPr id="25" name="椭圆 24">
            <a:extLst xmlns:a="http://schemas.openxmlformats.org/drawingml/2006/main">
              <a:ext uri="{FF2B5EF4-FFF2-40B4-BE49-F238E27FC236}">
                <a16:creationId xmlns:a16="http://schemas.microsoft.com/office/drawing/2014/main" id="{0F595D5C-A5B1-41B5-992B-7E514784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38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8A2B"/>
          </a:solidFill>
          <a:ln xmlns:a="http://schemas.openxmlformats.org/drawingml/2006/main" w="9525">
            <a:solidFill>
              <a:srgbClr val="BB8A2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1532F32-B9CB-4F9E-8D20-CBB5BB8A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910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Retrieved + inconsistent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2F376899-D20F-4375-986B-79710C8A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77"/>
          </a:solidFill>
          <a:ln xmlns:a="http://schemas.openxmlformats.org/drawingml/2006/main" w="9525">
            <a:solidFill>
              <a:srgbClr val="245777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826C08D-27AB-47B9-826F-B51403F6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Sandbox-valid, unobserved</a:t>
            </a:r>
          </a:p>
        </p:txBody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959EEC7E-C1B8-4B58-BE8B-EB1D3940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72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083"/>
          </a:solidFill>
          <a:ln xmlns:a="http://schemas.openxmlformats.org/drawingml/2006/main" w="9525">
            <a:solidFill>
              <a:srgbClr val="637083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2367788-F185-4A08-9168-446E9A4F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244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Generic placeholder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CF0DC5CD-5276-4D47-A9BF-9168E9F2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C45"/>
          </a:solidFill>
          <a:ln xmlns:a="http://schemas.openxmlformats.org/drawingml/2006/main" w="9525">
            <a:solidFill>
              <a:srgbClr val="B94C45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B0B7388-8B09-41FB-8BE1-2B7B0CDB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Fabricated / invalid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2732C9F-7F51-4A3C-AD26-E3FC9080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Fully grounded plans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7F811CD-21DE-405A-B2C6-663C7DD7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505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94C45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B94C45"/>
                </a:solidFill>
                <a:latin typeface="Noto Serif SC"/>
                <a:ea typeface="Noto Serif SC"/>
                <a:cs typeface="Noto Serif SC"/>
              </a:rPr>
              <a:t>2 / 12  →  1 / 12</a:t>
            </a:r>
          </a:p>
        </p:txBody>
      </p:sp>
      <p:sp>
        <p:nvSpPr>
          <p:cNvPr id="35" name="直接连接符 34">
            <a:extLst xmlns:a="http://schemas.openxmlformats.org/drawingml/2006/main">
              <a:ext uri="{FF2B5EF4-FFF2-40B4-BE49-F238E27FC236}">
                <a16:creationId xmlns:a16="http://schemas.microsoft.com/office/drawing/2014/main" id="{6DF2AF4C-10F1-426A-BF58-32B9862B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9775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FA91448-A91F-4229-AC75-A0A7EA3C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097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CT-C RELATIVE TO CT-B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BC99A5A-DDFE-494C-A7BE-6515BD97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288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All 12 queries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6C1F847-7C47-4586-B353-4A613160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2887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59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Exclude 2 zero-tool stops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DDBAB9B-7DED-4AA1-8546-3FD170AB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861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Tokens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C8C0626-B645-48FC-9530-40F725DC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432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−14.2%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F261579-8509-4D02-A300-029D497A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43225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94C4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B94C45"/>
                </a:solidFill>
                <a:latin typeface="Noto Serif SC"/>
                <a:ea typeface="Noto Serif SC"/>
                <a:cs typeface="Noto Serif SC"/>
              </a:rPr>
              <a:t>+2.92%</a:t>
            </a:r>
          </a:p>
        </p:txBody>
      </p:sp>
      <p:sp>
        <p:nvSpPr>
          <p:cNvPr id="42" name="直接连接符 41">
            <a:extLst xmlns:a="http://schemas.openxmlformats.org/drawingml/2006/main">
              <a:ext uri="{FF2B5EF4-FFF2-40B4-BE49-F238E27FC236}">
                <a16:creationId xmlns:a16="http://schemas.microsoft.com/office/drawing/2014/main" id="{737A3AF9-9DF6-40BF-B3AA-2C70B291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42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D0174BC3-E789-4E5C-AF9E-D3F87748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00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Latency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DC501E1-4989-4F59-B39F-61300410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576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−6.9%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49EBD606-AB26-4503-97D2-473E16BB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57625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94C4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B94C45"/>
                </a:solidFill>
                <a:latin typeface="Noto Serif SC"/>
                <a:ea typeface="Noto Serif SC"/>
                <a:cs typeface="Noto Serif SC"/>
              </a:rPr>
              <a:t>+11.75%</a:t>
            </a:r>
          </a:p>
        </p:txBody>
      </p:sp>
      <p:sp>
        <p:nvSpPr>
          <p:cNvPr id="46" name="直接连接符 45">
            <a:extLst xmlns:a="http://schemas.openxmlformats.org/drawingml/2006/main">
              <a:ext uri="{FF2B5EF4-FFF2-40B4-BE49-F238E27FC236}">
                <a16:creationId xmlns:a16="http://schemas.microsoft.com/office/drawing/2014/main" id="{0757F6EE-76CC-43F9-94CA-50273CC6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9CEFF283-686A-4A25-A6C3-BEE1B3D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14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Tool calls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AC84639-7104-4371-909E-B166EF7A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720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−18.3%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F62EFD0-B50E-40E5-93C9-47D733E9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72025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−1.38%</a:t>
            </a:r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0D8D5C64-1A24-41F1-BF8B-844D8D78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530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ACD2C7E8-7120-4BA9-BE41-707BA712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054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4C45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B94C45"/>
                </a:solidFill>
                <a:latin typeface="Noto Serif SC"/>
                <a:ea typeface="Noto Serif SC"/>
                <a:cs typeface="Noto Serif SC"/>
              </a:rPr>
              <a:t>Planner changed stopping behavior without demonstrating general retrieval efficiency.</a:t>
            </a:r>
          </a:p>
        </p:txBody>
      </p:sp>
      <p:sp>
        <p:nvSpPr>
          <p:cNvPr id="52" name="直接连接符 51">
            <a:extLst xmlns:a="http://schemas.openxmlformats.org/drawingml/2006/main">
              <a:ext uri="{FF2B5EF4-FFF2-40B4-BE49-F238E27FC236}">
                <a16:creationId xmlns:a16="http://schemas.microsoft.com/office/drawing/2014/main" id="{D9637C89-8947-4616-82AD-35105670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753B8CF6-5D7A-431F-AD25-3BC5745E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Source: frozen ChinaTravel grounding audit and zero-query sensitivity analysis.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39747537-1E7E-461F-A826-270DF83C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9660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D3829FA-9B0F-4A45-9EF6-49DECED8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B8A61D-6EA8-4A2F-89F3-FEE6FB11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CROSS-BENCHMARK DIAGNOSIS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25DB24F-50B9-4A15-A409-EB815006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Failures accumulate before the evaluator sees the itinerary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84E0CF1-6F92-4B84-B990-1F779121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The taxonomy aligns concepts without pooling incompatible benchmark counts.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AD4DEC4C-A60D-4709-90AC-50E1DCD5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50D20BA-FA55-4164-A763-3321228D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34A669E-F5A2-4FDD-8B67-279C5845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Intent and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facts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34D76E8-0C75-440F-82FA-E439733E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777"/>
            </a:solidFill>
            <a:prstDash val="solid"/>
          </a:ln>
        </p:spPr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64AB0904-3AA8-4182-8FB7-7913C0A8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3370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55501F5C-2014-4A4C-B269-59579448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88607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778F155D-0C2A-4CE6-9E2A-8CD2BD34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9337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B11AB06-9167-49A4-A2D9-C7E78657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0764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D35917D-5B7D-4342-A40C-6CF75BDB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35267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Constraint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state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80C8DB67-476E-4475-82D3-AE9EF510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777"/>
            </a:solidFill>
            <a:prstDash val="solid"/>
          </a:ln>
        </p:spPr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C581BA71-39BF-42B4-9583-F3F1C47D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3370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29016399-1630-46E8-872C-414E9E91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8607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4BCA4E96-4AE4-42C8-A82F-E5CD6D13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337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D374C45-E620-4BC8-87A1-65F60AFF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3495067-B95F-4A6F-85C3-961CC151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5267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Information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acquisition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68A79F07-7EDA-4AEE-A8DC-D7262CBC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6846"/>
            </a:solidFill>
            <a:prstDash val="solid"/>
          </a:ln>
        </p:spPr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E67C4292-3FB1-4205-8506-20EBA636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3370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22" name="直接连接符 21">
            <a:extLst xmlns:a="http://schemas.openxmlformats.org/drawingml/2006/main">
              <a:ext uri="{FF2B5EF4-FFF2-40B4-BE49-F238E27FC236}">
                <a16:creationId xmlns:a16="http://schemas.microsoft.com/office/drawing/2014/main" id="{6BD0FB22-1C34-4C33-81AD-86EF622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8607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95039591-B621-479A-828A-98FF1C97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337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ADE3FC8-A1F6-4898-98D4-02D2A269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764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68F0012-6971-4E4F-BC22-42E6F2D1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5267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Control and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stopping</a:t>
            </a:r>
          </a:p>
        </p:txBody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D13E4F13-8649-4EE9-BBAF-8B58E90B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6846"/>
            </a:solidFill>
            <a:prstDash val="solid"/>
          </a:ln>
        </p:spPr>
      </p:sp>
      <p:sp>
        <p:nvSpPr>
          <p:cNvPr id="27" name="直接连接符 26">
            <a:extLst xmlns:a="http://schemas.openxmlformats.org/drawingml/2006/main">
              <a:ext uri="{FF2B5EF4-FFF2-40B4-BE49-F238E27FC236}">
                <a16:creationId xmlns:a16="http://schemas.microsoft.com/office/drawing/2014/main" id="{E6D33B42-92EE-4DFA-B512-8A869581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3370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C006CF8F-85A6-4C91-A664-53ED67E3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8607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B9502EB5-D928-41C5-8A1F-454CDFA5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337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4EACEC4-5428-4A2B-B134-2FC29EAE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3435B95-DAC3-4F48-AD6C-44AE1AF2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5267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Plan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adherence</a:t>
            </a:r>
          </a:p>
        </p:txBody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D26147E7-92D4-4BA9-AC45-8C8E9650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474"/>
            </a:solidFill>
            <a:prstDash val="solid"/>
          </a:ln>
        </p:spPr>
      </p:sp>
      <p:sp>
        <p:nvSpPr>
          <p:cNvPr id="33" name="直接连接符 32">
            <a:extLst xmlns:a="http://schemas.openxmlformats.org/drawingml/2006/main">
              <a:ext uri="{FF2B5EF4-FFF2-40B4-BE49-F238E27FC236}">
                <a16:creationId xmlns:a16="http://schemas.microsoft.com/office/drawing/2014/main" id="{BCC08C79-733D-4C39-A60E-D2545248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3370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34" name="直接连接符 33">
            <a:extLst xmlns:a="http://schemas.openxmlformats.org/drawingml/2006/main">
              <a:ext uri="{FF2B5EF4-FFF2-40B4-BE49-F238E27FC236}">
                <a16:creationId xmlns:a16="http://schemas.microsoft.com/office/drawing/2014/main" id="{9419E06A-6E25-42D1-872C-426BA4C8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8607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35" name="直接连接符 34">
            <a:extLst xmlns:a="http://schemas.openxmlformats.org/drawingml/2006/main">
              <a:ext uri="{FF2B5EF4-FFF2-40B4-BE49-F238E27FC236}">
                <a16:creationId xmlns:a16="http://schemas.microsoft.com/office/drawing/2014/main" id="{CEE6CC08-D453-4398-B277-5AC30E8E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337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6B3F3CE-705B-4C3E-8009-8BFBFBDE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764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2E87047-C78A-4BA1-A339-81FD4BDC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5267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Evidence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use</a:t>
            </a:r>
          </a:p>
        </p:txBody>
      </p:sp>
      <p:sp>
        <p:nvSpPr>
          <p:cNvPr id="38" name="直接连接符 37">
            <a:extLst xmlns:a="http://schemas.openxmlformats.org/drawingml/2006/main">
              <a:ext uri="{FF2B5EF4-FFF2-40B4-BE49-F238E27FC236}">
                <a16:creationId xmlns:a16="http://schemas.microsoft.com/office/drawing/2014/main" id="{699182C8-9CDE-4973-BFBA-ECC54E41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474"/>
            </a:solidFill>
            <a:prstDash val="solid"/>
          </a:ln>
        </p:spPr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EADFF4F1-8B78-4BB6-99BA-657E641F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3370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40" name="直接连接符 39">
            <a:extLst xmlns:a="http://schemas.openxmlformats.org/drawingml/2006/main">
              <a:ext uri="{FF2B5EF4-FFF2-40B4-BE49-F238E27FC236}">
                <a16:creationId xmlns:a16="http://schemas.microsoft.com/office/drawing/2014/main" id="{A4CE101E-4BED-4DBA-BA5E-2200B8CA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8607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08E67AAC-6EA9-4E5A-ABC7-AB9F844D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134430E7-6CDA-4251-9735-F796C324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0649A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70649A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552929E1-C305-4F4C-B88B-790F4587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5267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Output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contract</a:t>
            </a: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C57E7EFD-A14A-430F-BE3C-57C5D16B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0649A"/>
            </a:solidFill>
            <a:prstDash val="solid"/>
          </a:ln>
        </p:spPr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D647BBC4-A680-4031-9130-EFF3F436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3370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46" name="直接连接符 45">
            <a:extLst xmlns:a="http://schemas.openxmlformats.org/drawingml/2006/main">
              <a:ext uri="{FF2B5EF4-FFF2-40B4-BE49-F238E27FC236}">
                <a16:creationId xmlns:a16="http://schemas.microsoft.com/office/drawing/2014/main" id="{A964B291-ED93-41EA-8FE0-32319073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8607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95354FD0-26B7-46E7-BB1B-F3854E78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337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AC57413-6DA2-4323-9445-80BDD157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0764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94C45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B94C45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24F543DC-A6A8-4D67-8EF0-D00A801B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35267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Global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feasibility</a:t>
            </a:r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12706E8D-56A6-4854-B0A4-FCF14CE7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4C45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727D4800-8803-472F-B2EB-2387250E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OBSERVED FAILURE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69DE74E-2A0D-4680-B322-413C422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TP-B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D37D82EB-0DB7-4861-95A0-54F980A2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tool budget exhausted before a candidate</a:t>
            </a:r>
          </a:p>
        </p:txBody>
      </p:sp>
      <p:sp>
        <p:nvSpPr>
          <p:cNvPr id="54" name="直接连接符 53">
            <a:extLst xmlns:a="http://schemas.openxmlformats.org/drawingml/2006/main">
              <a:ext uri="{FF2B5EF4-FFF2-40B4-BE49-F238E27FC236}">
                <a16:creationId xmlns:a16="http://schemas.microsoft.com/office/drawing/2014/main" id="{E95C37C6-924E-47B8-89E8-0E1FFB4A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E42D7F8F-C25A-45B3-9422-D71D46EC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29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TP-C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23969819-F929-454F-880F-C905A842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82905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blueprint checklist did not bind execution</a:t>
            </a:r>
          </a:p>
        </p:txBody>
      </p:sp>
      <p:sp>
        <p:nvSpPr>
          <p:cNvPr id="57" name="直接连接符 56">
            <a:extLst xmlns:a="http://schemas.openxmlformats.org/drawingml/2006/main">
              <a:ext uri="{FF2B5EF4-FFF2-40B4-BE49-F238E27FC236}">
                <a16:creationId xmlns:a16="http://schemas.microsoft.com/office/drawing/2014/main" id="{64735FDC-C67F-4C1C-8202-5E6FA5F8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3243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13B6EBCD-4B96-41F5-831F-034A1A62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94C45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B94C45"/>
                </a:solidFill>
                <a:latin typeface="Noto Sans SC"/>
                <a:ea typeface="Noto Sans SC"/>
                <a:cs typeface="Noto Sans SC"/>
              </a:rPr>
              <a:t>CT-C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A4B04772-C812-4A34-ABD4-D2993DA2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01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zero-tool answer fabricated unsupported fields</a:t>
            </a:r>
          </a:p>
        </p:txBody>
      </p:sp>
      <p:sp>
        <p:nvSpPr>
          <p:cNvPr id="60" name="直接连接符 59">
            <a:extLst xmlns:a="http://schemas.openxmlformats.org/drawingml/2006/main">
              <a:ext uri="{FF2B5EF4-FFF2-40B4-BE49-F238E27FC236}">
                <a16:creationId xmlns:a16="http://schemas.microsoft.com/office/drawing/2014/main" id="{698C8332-3510-432A-A9B7-F7DB4100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054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B8B5C6B0-0FB7-4258-92F5-01D13B29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610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B8A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BB8A2B"/>
                </a:solidFill>
                <a:latin typeface="Noto Sans SC"/>
                <a:ea typeface="Noto Sans SC"/>
                <a:cs typeface="Noto Sans SC"/>
              </a:rPr>
              <a:t>CT-C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4CFECCCE-915E-4E26-B756-56B4D072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6101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retrieved entity used with inconsistent fields</a:t>
            </a:r>
          </a:p>
        </p:txBody>
      </p:sp>
      <p:sp>
        <p:nvSpPr>
          <p:cNvPr id="63" name="直接连接符 62">
            <a:extLst xmlns:a="http://schemas.openxmlformats.org/drawingml/2006/main">
              <a:ext uri="{FF2B5EF4-FFF2-40B4-BE49-F238E27FC236}">
                <a16:creationId xmlns:a16="http://schemas.microsoft.com/office/drawing/2014/main" id="{1A341D38-09AB-417E-986E-580929EE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1054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BA4FD0DE-C16C-45A1-A7F2-5B898863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0429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14288">
            <a:solidFill>
              <a:srgbClr val="168474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A1DBEF42-E971-41A6-B65B-7D0D2117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10048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Acquiring information solves only the first half of the problem. The Agent must preserve provenance and use evidence consistently.</a:t>
            </a:r>
          </a:p>
        </p:txBody>
      </p:sp>
      <p:sp>
        <p:nvSpPr>
          <p:cNvPr id="66" name="直接连接符 65">
            <a:extLst xmlns:a="http://schemas.openxmlformats.org/drawingml/2006/main">
              <a:ext uri="{FF2B5EF4-FFF2-40B4-BE49-F238E27FC236}">
                <a16:creationId xmlns:a16="http://schemas.microsoft.com/office/drawing/2014/main" id="{D178E267-A221-4A1E-913D-BE747025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8F691F48-5386-4003-8EB8-454A4391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Source: frozen cross-benchmark failure audits; unified_failure_taxonomy.json.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EAF90CB6-C86D-40E9-A630-D219B963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010338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0CFBBE6-8F20-4745-BD84-5D184881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D04BCDE-592E-4BF5-A46F-CE61CF9D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RESEARCH SYNTHESIS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9EB0F1B-10B2-4813-AAA7-27C10ACB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12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Explicit planning altered control more reliably than correctness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AF09508-FD6E-45BD-880A-99BDD989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TravelPlanner provides the controlled study. ChinaTravel provides a small mechanism check.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EC74BD50-E957-4662-9354-D03A4C1D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C64185A-D1D5-4506-9D8F-A0CBC273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FROZEN CLAIM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0F195DA-B7A4-4EAC-B633-130A57E8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TRAVELPLANNER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12C8B74-C09D-4ED2-BD27-99A7D2C6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19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CHINATRAVEL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CF12C61-99F7-48A5-B3CC-AA6396A5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622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Autonomous acquisition shifts failure toward control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DDD234D-E297-40CD-80C9-1D5C0E38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117 B-stage control failures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9BF1A71-952A-401E-A28F-88C10925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622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8/12 CT-B runs lacked a final response</a:t>
            </a:r>
          </a:p>
        </p:txBody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5F15690-99F0-4B2D-B3F8-33E1FAEC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591F39-574B-4C22-9FA0-430794BF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861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Planner changes stopping more than correctness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E04BAFB-E762-4357-8533-1BE6A7BC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Delivery +5 pp; Final Pass +0.56 pp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451DA12-E186-4EE9-B678-06DE48E3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861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Final response +25 pp; schema unchanged</a:t>
            </a:r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2E2FF4BA-8656-484C-8F35-D73F22A8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C7939FE-53EB-4CEE-815E-CBEB05DF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100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Valid blueprints do not guarantee faithful execution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D062FFD-C058-4434-A1F3-9770D924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C retained route and entity failures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4D61577-9FC0-462F-B4B5-E0EA92E7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6/12 blueprints had audit issues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76D8BE6B-85A1-4CB6-8E84-C569F999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D2E01D-7686-4FD2-A903-02821D55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33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Post-hoc repair cannot recover many upstream failures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2B5396A-B5CF-4248-8180-C0B76858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339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No net Final Pass gain; +1.26M tokens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B6D53D2-5EE9-4B04-94D9-9B178CB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339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No verifier condition tested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D96FBBB7-0CDB-4EAB-95B9-B12E9A1B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606815B-42AB-4B19-AFFE-AF676E7E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387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NEXT RESEARCH QUESTIONS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9648ECC-98BB-41A1-B937-06EC690F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RQ1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136B882-D59F-482B-8FCA-EBC3346F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Evidence sufficiency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7CDC75C-4DBF-4E76-A96E-F0C38F6D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753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RQ2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EC7F4E7-9A06-49E6-9FE8-E954C5F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6769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Executable commitments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210F440-E59A-42F2-A062-40A304B8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753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RQ3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076559D-FCEB-4B8D-9927-6CC6A664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6769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Evidence binding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961D072-7A68-4E3D-9B1F-CACE6A67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753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0649A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70649A"/>
                </a:solidFill>
                <a:latin typeface="Noto Sans SC"/>
                <a:ea typeface="Noto Sans SC"/>
                <a:cs typeface="Noto Sans SC"/>
              </a:rPr>
              <a:t>RQ4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2F81E317-B746-48F0-BC5E-A17C83B8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6769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Hybrid verification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751038A-151D-4412-9F68-E0BB131F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53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B94C45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B94C45"/>
                </a:solidFill>
                <a:latin typeface="Noto Sans SC"/>
                <a:ea typeface="Noto Sans SC"/>
                <a:cs typeface="Noto Sans SC"/>
              </a:rPr>
              <a:t>RQ5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7BFD87C-D224-4756-B19C-32BB1946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6769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Targeted repair during execution</a:t>
            </a:r>
          </a:p>
        </p:txBody>
      </p:sp>
      <p:sp>
        <p:nvSpPr>
          <p:cNvPr id="36" name="直接连接符 35">
            <a:extLst xmlns:a="http://schemas.openxmlformats.org/drawingml/2006/main">
              <a:ext uri="{FF2B5EF4-FFF2-40B4-BE49-F238E27FC236}">
                <a16:creationId xmlns:a16="http://schemas.microsoft.com/office/drawing/2014/main" id="{DD17D329-F3B1-491E-B855-125C7A73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EABD4E6-A612-4A0B-906E-82183238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Sources: frozen_claims.md and challenge_to_rq.md; full bibliography in references.bib.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99181BA3-05E1-4007-92DC-E9680015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3592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FE996745-26FC-4BE3-B776-B2470259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1E4F7D7-BE0D-4BCB-B5F8-1F1ACAED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APPENDIX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C80538B-FE1D-4F7D-8602-E7F1BE40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TravelPlanner metrics and protocol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772567A-05FB-45AD-AF5B-724BFFAD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All stages use the same 180 validation indices and evaluator contract.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FECABBB4-9267-4796-A7A7-67FB52A4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3CAE62-9A7C-4F95-83E3-EAF854A8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15202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8C95B9A-B30B-492E-866A-71C8E864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Stage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2D83F04-D218-46FB-8ABA-AF2D7F15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2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8E27C8A-F1E8-4DAB-BDBF-F5E80538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24075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Evidence and agent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88ADE2F-3D13-41FD-B755-449E4B35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2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20D67B2-DA7B-4506-A7A6-D97883F2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2407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Delivery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6ACA4F4-1E5E-4CFD-B180-26E7AB8B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109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2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99A701D-146F-4654-BA61-FCBEA01E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24075"/>
            <a:ext cx="1019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Common micro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E249356-2A72-4279-BA42-7EA9DA76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383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2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8766FC8-AE55-4216-B8BF-2F4CBFD4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124075"/>
            <a:ext cx="92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Hard micro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B756AC9-2ED8-4827-970E-FFBC1C64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2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30309A0-3AC4-4149-B8A9-4AA1F26D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24075"/>
            <a:ext cx="92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Final Pass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945B04-52DE-48E9-93B2-0588C407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3835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2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D22A855-DF33-4F25-B3CE-A55A26E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24075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Tokens / query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2CFC54D-5E37-40A7-B15D-2315C2CB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383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2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341B92A-83B2-47EC-978F-053C95AC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2407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Tools / query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EF566EF-CF08-427B-AFDC-0030C3DA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1B18895-C868-4077-BAE4-55E557E6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527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TP-A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F5769DF-B80A-45F7-87AC-08D88DCA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17BF91E-42FD-43C3-BF39-E8C1A01A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52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384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Query + complete reference; one planning call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C2B06C0-1A5F-40EA-9ADA-AEBD2D65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369A6A2-3D46-4770-BB9C-DE8E9AD3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52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95.0%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D1D8F75-952A-4BFE-A96E-08A7D031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3DA7D68-1DFC-474B-842D-BAD2193C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5270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79.7%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4CFA56D-329D-4C5F-AEF9-1DCE100C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574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6FBFB1A-9ECD-46FC-903B-9F9B967D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69.5%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14F6A2F-BD1D-4B29-A216-1673D37D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57F2136-B621-4756-81A1-1CE4BC19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527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13.9%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A993E48B-EE3F-4BFC-A1C1-9CAAE728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57450"/>
            <a:ext cx="1285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44C0AB9-479B-4521-8CEB-CC960472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10,894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E73D780-3B06-409B-A9F5-680F1932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5745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778EE20-BCB8-49E7-8BB0-040DFD41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527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0.0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0593DF6C-6611-4184-A8F0-96382CB0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8C8797B-CD26-4A62-8CFF-AB2E9C80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05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TP-B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B3D1112C-52F3-453B-B618-D119968B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E4D9707-2F0D-4669-8D36-C42767A9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Query only; ReAct + official tools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8BC5D73-E199-4BF3-8DB8-8081AED5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990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BDE368D-6B3D-48B0-A0F9-AF3B51C8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051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35.0%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B8D32FD-6607-475C-AF02-BB4086F1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6220487E-746A-42D7-B6BA-991B3493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051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32.2%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131EE0D-05E1-4082-B60C-732F391F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99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F860530-218E-4BAB-B098-461BC681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24.8%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17396F1-60C6-4F70-9AEF-EFD96905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4BECE26C-0275-463B-9B86-E44D1C55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051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15.6%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A25747E-3906-4433-A86C-1267D5CB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09900"/>
            <a:ext cx="1285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EE322C65-3D60-4549-AAB3-37A20DC9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57,642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82610259-830F-4D05-879F-A497047F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990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EF31675F-E368-46F5-B17F-08200569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051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19.4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824EC3FD-9F05-4183-9E01-E4257CC0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373C0091-59F5-4D68-A1BB-4CB7F516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TP-C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7E640A4E-0316-4E8B-AF56-A887FE4E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4A02F91A-3674-423C-A81D-6AE3D678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576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B condition + one explicit Planner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77247A2-ABF7-4BA1-89DC-E1AE531F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565148A-428F-43E5-B80A-880B4FB6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576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40.0%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5403795-7D8C-4110-96D2-2EB5CEAF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62350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74A20144-BFB9-416D-96F4-4FBFED46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5760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36.9%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2112629A-5D0B-41D6-A9E1-8380EB12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623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1FC4E6F-29FE-4652-B871-38829118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31.7%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D3995C6-C325-44DF-A179-90A10754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52C681BE-C1E2-42CD-8717-94242FE7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576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16.1%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07176B81-34AC-4145-AACB-75325BDE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62350"/>
            <a:ext cx="1285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E001CD4E-C9FF-4F71-A169-307130B3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5760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55,975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C139CF5-3715-4822-BF2F-02D34771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235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7A718FD6-C3DF-460C-9387-9F152B31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57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17.8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DC9B8C87-2C64-4A0C-B066-CB53C932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3A244D17-9C08-447C-AC23-96638F34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10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0649A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70649A"/>
                </a:solidFill>
                <a:latin typeface="Noto Sans SC"/>
                <a:ea typeface="Noto Sans SC"/>
                <a:cs typeface="Noto Sans SC"/>
              </a:rPr>
              <a:t>TP-D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B95845F1-4F47-4189-8F80-C94A7E7C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F88C4D46-2EC1-4AAB-98A3-DA5A7CEA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100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91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Independent C-chain + verifier and replan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A572A0A2-F5BD-441D-83FD-75EB0C17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80540E84-37AF-4DAC-AC40-C60EB8FE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0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41.7%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05EC1787-B34D-4340-8D5A-AD191449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14800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B0810CAA-9ED8-403A-83A8-3FDE6B3C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2100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37.9%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4083EF40-1104-4542-A992-22BBD9DC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148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D83DC1F4-8172-40A2-828D-24347CEA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32.6%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73F7261E-D42D-4DFD-AD48-512A6FA6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714A7013-A4B0-440A-8322-C3A801E3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100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16.1%</a:t>
            </a: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E6529A16-2ACD-403B-BD79-F4199BAE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14800"/>
            <a:ext cx="1285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47C84E79-5167-415A-ADF2-3EE183BE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62,994</a:t>
            </a: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93BEA5B0-BEEC-400F-A992-9319D7F1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1480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D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AC502B43-0856-4B45-B982-BF9087E1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2100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17.6</a:t>
            </a: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A5AC1CAB-1B61-4B01-AF3B-09DC5C2B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PROTOCOL READING</a:t>
            </a: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1117A1B2-5B57-40FD-9CBB-39F8F774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01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6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A to B is a system gap. B to C targets the Planner under the same information condition. D reruns the upstream C-chain before verification.</a:t>
            </a: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434E3236-826B-42A7-AC7B-95237FC5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977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Macro metrics require every check in a family to pass for the query. Final Pass requires delivery, commonsense, and hard constraints.</a:t>
            </a:r>
          </a:p>
        </p:txBody>
      </p:sp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77DB3E41-7BD9-4C51-B536-47E6EB6E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6D0AA1B5-9C14-4DF2-AD86-91B4F61C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Source: frozen TravelPlanner validation results; results_master.json.</a:t>
            </a:r>
          </a:p>
        </p:txBody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4A3041C2-6AE1-4F1D-8811-B001958D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659240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152B51B0-A020-4EB6-AFA5-54864FD8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AB2616E-FAF6-4C48-8B40-A55BD22D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APPENDIX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9D1C4C6-58F0-43AA-A010-532D8E4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>
                <a:solidFill>
                  <a:srgbClr val="15202B"/>
                </a:solidFill>
                <a:latin typeface="Noto Serif SC"/>
                <a:ea typeface="Noto Serif SC"/>
                <a:cs typeface="Noto Serif SC"/>
              </a:rPr>
              <a:t>Representative cases and validity boundaries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045F60-16D6-45FC-BCA4-90A6E974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Cases explain mechanisms. They do not replace frequency statistics.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FDC95894-161A-41FD-8DEA-304D96D1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DB557ED-822A-43BF-8302-3AC6EC25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CASE INDEX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3F3B950-2B46-4E0F-8263-52C140EC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9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rPr>
              <a:t>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E6647E1-3FDE-4284-993F-2C9B8C9A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TravelPlanner · B · validation:41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2628E2-EFCD-42DE-A569-4CD1C31A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Seven-day, three-city Virginia trip from Philadelphia under a $1,800 budget.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EA2E7D-0624-456C-8532-6694F39A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9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rPr>
              <a:t>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A1432D-7DAC-418D-B0A8-6929A6B6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TravelPlanner · C · validation:1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96A08D8-E9F5-44EA-B4C4-A2D002C7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Three-day Washington-to-Myrtle-Beach trip under a $1,400 budget.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79F9607-CA5E-41BE-BE24-A6080F0B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9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rPr>
              <a:t>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DFC5443-10CB-4CA0-92E4-9E560246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TravelPlanner · C · validation:80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DC74650-75B8-479C-ABEE-F0D1FA5C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Three-day Atlanta-to-Chicago trip for two, requiring an entire room, under $1,900.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7A0A6E7-56BE-416A-8F89-C9B8E8E2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9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45777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F6CE03C-4241-4AE7-A665-E59ACC5B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5777"/>
                </a:solidFill>
                <a:latin typeface="Noto Sans SC"/>
                <a:ea typeface="Noto Sans SC"/>
                <a:cs typeface="Noto Sans SC"/>
              </a:rPr>
              <a:t>TravelPlanner · D · validation:4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A2D7132-2068-4A62-B3CD-4DCCBE23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Three-day solo Ontario-to-Honolulu trip under a $3,200 budget.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34782E6-7747-4766-8F90-05674FC4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81250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9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5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1768DF1-C633-4C80-83DA-375FDB43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81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ChinaTravel · CT-C · medium:e20241028161334777418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A0D0917-34A7-423E-A4DE-DA4F4510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90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Two-day solo Shanghai-to-Wuhan train trip under ¥2,500, single-bed room, historical sites such as Yellow Crane Tower.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9FA9333-7FE9-4FBC-851F-18C6869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162300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9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6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34056D1-C2CB-41BE-BEEB-D2641FA7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62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ChinaTravel · CT-C · easy:m20241028164815894420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DC71E24-A855-4896-9497-C5645038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718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Three-day Hangzhou-to-Chengdu trip for two, requiring a twin room and a hotel gym.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D74D57D-0294-4FE2-9175-71374F28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943350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9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7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5999DD5-0E32-4517-A504-03D77E07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43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ChinaTravel · CT-C · human:h20241029143736524841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18E0AE5-8E67-471E-843E-6104B138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529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Four-day Nanjing-to-Chengdu family trip for five, high-speed train round trip, pandas and nearby attractions, under ¥20,000.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1F99C012-3484-4672-BF8F-362F81C0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724400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9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168474"/>
                </a:solidFill>
                <a:latin typeface="Noto Serif SC"/>
                <a:ea typeface="Noto Serif SC"/>
                <a:cs typeface="Noto Serif SC"/>
              </a:rPr>
              <a:t>8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E6C3ABF-8EB4-4500-B1EA-4A704AAE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724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68474"/>
                </a:solidFill>
                <a:latin typeface="Noto Sans SC"/>
                <a:ea typeface="Noto Sans SC"/>
                <a:cs typeface="Noto Sans SC"/>
              </a:rPr>
              <a:t>ChinaTravel · CT-C · human:h20241029143832205713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75BBACC-077C-42C9-AFDF-F7A556C5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9339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5202B"/>
                </a:solidFill>
                <a:latin typeface="Noto Sans SC"/>
                <a:ea typeface="Noto Sans SC"/>
                <a:cs typeface="Noto Sans SC"/>
              </a:rPr>
              <a:t>Five-day Mid-Autumn Festival family flight from Hangzhou to Guangzhou, with aquarium and zoo preferences.</a:t>
            </a: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6908C2CB-2A12-41F8-BD4D-B40CA435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B999316-DE07-46F0-A952-E72A3E3A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96846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1">
                <a:solidFill>
                  <a:srgbClr val="D96846"/>
                </a:solidFill>
                <a:latin typeface="Noto Sans SC"/>
                <a:ea typeface="Noto Sans SC"/>
                <a:cs typeface="Noto Sans SC"/>
              </a:rPr>
              <a:t>VALIDITY BOUNDARIES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0792A33-E7AB-4FE9-9CE6-99183FF2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TP-A receives official reference information. C/D contain independent upstream reruns. ChinaTravel has 12 paired pilot queries. The benchmarks use different schemas, evaluators, and time-separated server model versions.</a:t>
            </a:r>
          </a:p>
        </p:txBody>
      </p:sp>
      <p:sp>
        <p:nvSpPr>
          <p:cNvPr id="34" name="直接连接符 33">
            <a:extLst xmlns:a="http://schemas.openxmlformats.org/drawingml/2006/main">
              <a:ext uri="{FF2B5EF4-FFF2-40B4-BE49-F238E27FC236}">
                <a16:creationId xmlns:a16="http://schemas.microsoft.com/office/drawing/2014/main" id="{9636F3B4-249D-496D-B136-DAEF2DB1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1C7980B-8E28-453C-87A9-EC605988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2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Sources: representative_cases.json and validity_boundaries.md.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1F19BD2B-2D96-4FB7-A70C-A29E5589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37083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16204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2026-09-11T01:05:16.6220000Z</dcterms:created>
  <dcterms:modified xsi:type="dcterms:W3CDTF">2026-09-11T01:05:16.6220000Z</dcterms:modified>
</coreProperties>
</file>