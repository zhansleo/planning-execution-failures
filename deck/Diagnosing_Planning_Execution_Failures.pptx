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51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AllTravelPlanner and ChinaTravel results are frozen. The presentation does not rerun models, tools, or evaluators.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frame: research_narrative.md and unified_failure_taxonomy.md.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results_master.json. TP-A gets complete official reference information, not an oracle itinerary. TP-B gets query and official tool schemas.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results_master.json, TravelPlanner main_metrics A/B/C/D. All values use 180 validation queries per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results_master.json and TravelPlanner analysis/figures/05_horizon_difficulty_heatmap.csv.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results_master.json stage_d_funnel and C_to_D transition. D independently reran the upstream C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results_master.json ChinaTravel CT-B/CT-C four-layer metrics. Pilot includes easy, medium, and human splits with four queries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results_master.json grounding counts and zero-tool sensitivity. CT-C entity counts: 70 consistent, 18 inconsistent, 11 unobserved, 20 placeholders, 4 invalid.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unified_failure_taxonomy.json and representative_cases.json.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frozen_claims.md, challenge_to_rq.md, and results_master.json. ChinaTravel evidence is a 12-query paired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results_master.json. Protocol details: research/validity_boundaries.md and stage manifests.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representative_cases.json and validity_boundaries.md. Full bibliography: references/references.bib.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29EFA54A-0ABD-4EE8-A7F4-49A57F2D9F34}"/>
              </a:ext>
            </a:extLst>
          </p:cNvPr>
          <p:cNvSpPr>
            <a:spLocks noGrp="1"/>
          </p:cNvSpPr>
          <p:nvPr/>
        </p:nvSpPr>
        <p:spPr>
          <a:xfrm>
            <a:off x="723900" y="457200"/>
            <a:ext cx="4000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RESEARCH STUDY · 2026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D26DE6-289F-4D1A-A399-FDB487A955A0}"/>
              </a:ext>
            </a:extLst>
          </p:cNvPr>
          <p:cNvSpPr>
            <a:spLocks noGrp="1"/>
          </p:cNvSpPr>
          <p:nvPr/>
        </p:nvSpPr>
        <p:spPr>
          <a:xfrm>
            <a:off x="723900" y="1066800"/>
            <a:ext cx="10382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4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Diagnosing Planning–Execution Failures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3224C-F03C-46EB-BDAE-7984A281EA48}"/>
              </a:ext>
            </a:extLst>
          </p:cNvPr>
          <p:cNvSpPr>
            <a:spLocks noGrp="1"/>
          </p:cNvSpPr>
          <p:nvPr/>
        </p:nvSpPr>
        <p:spPr>
          <a:xfrm>
            <a:off x="723900" y="1752600"/>
            <a:ext cx="8953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3225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3225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in Tool-Augmented LLM Agents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618392-C4FC-4336-9C37-E924C7FBEE12}"/>
              </a:ext>
            </a:extLst>
          </p:cNvPr>
          <p:cNvSpPr>
            <a:spLocks noGrp="1"/>
          </p:cNvSpPr>
          <p:nvPr/>
        </p:nvSpPr>
        <p:spPr>
          <a:xfrm>
            <a:off x="752475" y="2609850"/>
            <a:ext cx="7048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825"/>
          </a:bodyPr>
          <a:lstStyle/>
          <a:p>
            <a:pPr algn="l">
              <a:buNone/>
              <a:defRPr sz="15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6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Evidence from TravelPlanner and ChinaTravel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CB10DC1C-3098-4751-993F-291249E47455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107442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CBD26C6-B734-49ED-8CCC-501BEBFA3A2E}"/>
              </a:ext>
            </a:extLst>
          </p:cNvPr>
          <p:cNvSpPr>
            <a:spLocks noGrp="1"/>
          </p:cNvSpPr>
          <p:nvPr/>
        </p:nvSpPr>
        <p:spPr>
          <a:xfrm>
            <a:off x="781050" y="3829050"/>
            <a:ext cx="22669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CONSTRAINT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FA22C37-2898-4EF8-8695-22095271EE47}"/>
              </a:ext>
            </a:extLst>
          </p:cNvPr>
          <p:cNvSpPr>
            <a:spLocks noGrp="1"/>
          </p:cNvSpPr>
          <p:nvPr/>
        </p:nvSpPr>
        <p:spPr>
          <a:xfrm>
            <a:off x="781050" y="4171950"/>
            <a:ext cx="2266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6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What must hold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91779CB2-76E9-4904-9E30-E8D5BBB83B25}"/>
              </a:ext>
            </a:extLst>
          </p:cNvPr>
          <p:cNvSpPr>
            <a:spLocks noGrp="1"/>
          </p:cNvSpPr>
          <p:nvPr/>
        </p:nvSpPr>
        <p:spPr>
          <a:xfrm>
            <a:off x="781050" y="4695825"/>
            <a:ext cx="2076450" cy="0"/>
          </a:xfrm>
          <a:prstGeom prst="line">
            <a:avLst/>
          </a:prstGeom>
          <a:noFill/>
          <a:ln w="38100">
            <a:solidFill>
              <a:srgbClr val="245777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6F53AD42-99BF-4C04-B3AC-E78BA10A86DC}"/>
              </a:ext>
            </a:extLst>
          </p:cNvPr>
          <p:cNvSpPr>
            <a:spLocks noGrp="1"/>
          </p:cNvSpPr>
          <p:nvPr/>
        </p:nvSpPr>
        <p:spPr>
          <a:xfrm>
            <a:off x="2895600" y="4695825"/>
            <a:ext cx="428625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40BBB52D-A48C-4B59-92D9-5EF70F29C7AA}"/>
              </a:ext>
            </a:extLst>
          </p:cNvPr>
          <p:cNvSpPr>
            <a:spLocks noGrp="1"/>
          </p:cNvSpPr>
          <p:nvPr/>
        </p:nvSpPr>
        <p:spPr>
          <a:xfrm>
            <a:off x="3238500" y="4648200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44AB32FB-D675-4426-96F1-727CF26B631A}"/>
              </a:ext>
            </a:extLst>
          </p:cNvPr>
          <p:cNvSpPr>
            <a:spLocks noGrp="1"/>
          </p:cNvSpPr>
          <p:nvPr/>
        </p:nvSpPr>
        <p:spPr>
          <a:xfrm flipV="1">
            <a:off x="3238500" y="4695825"/>
            <a:ext cx="85725" cy="47623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9C7EDA-BCEE-4448-A5E7-648CDF0F419E}"/>
              </a:ext>
            </a:extLst>
          </p:cNvPr>
          <p:cNvSpPr>
            <a:spLocks noGrp="1"/>
          </p:cNvSpPr>
          <p:nvPr/>
        </p:nvSpPr>
        <p:spPr>
          <a:xfrm>
            <a:off x="3476625" y="3829050"/>
            <a:ext cx="22669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0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EVIDENCE</a:t>
            </a:r>
            <a:endParaRPr sz="900" b="1">
              <a:solidFill>
                <a:srgbClr val="D96846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D0B37F-EAA1-4528-B684-6979D08C8337}"/>
              </a:ext>
            </a:extLst>
          </p:cNvPr>
          <p:cNvSpPr>
            <a:spLocks noGrp="1"/>
          </p:cNvSpPr>
          <p:nvPr/>
        </p:nvSpPr>
        <p:spPr>
          <a:xfrm>
            <a:off x="3476625" y="4171950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What the Agent knows</a:t>
            </a:r>
          </a:p>
        </p:txBody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3F998718-96FD-4156-84C5-FCDF1294A348}"/>
              </a:ext>
            </a:extLst>
          </p:cNvPr>
          <p:cNvSpPr>
            <a:spLocks noGrp="1"/>
          </p:cNvSpPr>
          <p:nvPr/>
        </p:nvSpPr>
        <p:spPr>
          <a:xfrm>
            <a:off x="3476625" y="4695825"/>
            <a:ext cx="2076450" cy="0"/>
          </a:xfrm>
          <a:prstGeom prst="line">
            <a:avLst/>
          </a:prstGeom>
          <a:noFill/>
          <a:ln w="38100">
            <a:solidFill>
              <a:srgbClr val="D96846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F4529781-BA05-4E1D-8D83-9E84E30A71FF}"/>
              </a:ext>
            </a:extLst>
          </p:cNvPr>
          <p:cNvSpPr>
            <a:spLocks noGrp="1"/>
          </p:cNvSpPr>
          <p:nvPr/>
        </p:nvSpPr>
        <p:spPr>
          <a:xfrm>
            <a:off x="5591175" y="4695825"/>
            <a:ext cx="428625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8335817E-D26D-4E8B-8776-3193980D6354}"/>
              </a:ext>
            </a:extLst>
          </p:cNvPr>
          <p:cNvSpPr>
            <a:spLocks noGrp="1"/>
          </p:cNvSpPr>
          <p:nvPr/>
        </p:nvSpPr>
        <p:spPr>
          <a:xfrm>
            <a:off x="5934075" y="4648200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154A4776-6AB2-493A-9F52-667B419FBE63}"/>
              </a:ext>
            </a:extLst>
          </p:cNvPr>
          <p:cNvSpPr>
            <a:spLocks noGrp="1"/>
          </p:cNvSpPr>
          <p:nvPr/>
        </p:nvSpPr>
        <p:spPr>
          <a:xfrm flipV="1">
            <a:off x="5934075" y="4695823"/>
            <a:ext cx="75009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4C490C-525E-4021-B4B4-D1AE2C862198}"/>
              </a:ext>
            </a:extLst>
          </p:cNvPr>
          <p:cNvSpPr>
            <a:spLocks noGrp="1"/>
          </p:cNvSpPr>
          <p:nvPr/>
        </p:nvSpPr>
        <p:spPr>
          <a:xfrm>
            <a:off x="6172200" y="3829050"/>
            <a:ext cx="22669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 lnSpcReduction="10000"/>
          </a:bodyPr>
          <a:lstStyle/>
          <a:p>
            <a:pPr algn="l">
              <a:buNone/>
              <a:defRPr sz="9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1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EXECUTION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0CA5412-062F-4198-84D0-28FB2064B031}"/>
              </a:ext>
            </a:extLst>
          </p:cNvPr>
          <p:cNvSpPr>
            <a:spLocks noGrp="1"/>
          </p:cNvSpPr>
          <p:nvPr/>
        </p:nvSpPr>
        <p:spPr>
          <a:xfrm>
            <a:off x="6172200" y="4171950"/>
            <a:ext cx="22669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6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What the Agent does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CD69123E-43BB-4611-A067-FAFD0F7175FC}"/>
              </a:ext>
            </a:extLst>
          </p:cNvPr>
          <p:cNvSpPr>
            <a:spLocks noGrp="1"/>
          </p:cNvSpPr>
          <p:nvPr/>
        </p:nvSpPr>
        <p:spPr>
          <a:xfrm>
            <a:off x="6172200" y="4695825"/>
            <a:ext cx="2076450" cy="0"/>
          </a:xfrm>
          <a:prstGeom prst="line">
            <a:avLst/>
          </a:prstGeom>
          <a:noFill/>
          <a:ln w="38100">
            <a:solidFill>
              <a:srgbClr val="168474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FDCEED15-47F2-43DB-BBD3-3CD5B26B9B0D}"/>
              </a:ext>
            </a:extLst>
          </p:cNvPr>
          <p:cNvSpPr>
            <a:spLocks noGrp="1"/>
          </p:cNvSpPr>
          <p:nvPr/>
        </p:nvSpPr>
        <p:spPr>
          <a:xfrm>
            <a:off x="8286750" y="4695825"/>
            <a:ext cx="428625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5064D85B-3699-498C-9231-844F91163A40}"/>
              </a:ext>
            </a:extLst>
          </p:cNvPr>
          <p:cNvSpPr>
            <a:spLocks noGrp="1"/>
          </p:cNvSpPr>
          <p:nvPr/>
        </p:nvSpPr>
        <p:spPr>
          <a:xfrm>
            <a:off x="8629650" y="4648200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170208EC-3CAB-4B21-9A91-07C5E89F7D1F}"/>
              </a:ext>
            </a:extLst>
          </p:cNvPr>
          <p:cNvSpPr>
            <a:spLocks noGrp="1"/>
          </p:cNvSpPr>
          <p:nvPr/>
        </p:nvSpPr>
        <p:spPr>
          <a:xfrm flipV="1">
            <a:off x="8629650" y="4695822"/>
            <a:ext cx="75009" cy="57149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3BE480B-A13F-47EE-BCA9-384EC805E072}"/>
              </a:ext>
            </a:extLst>
          </p:cNvPr>
          <p:cNvSpPr>
            <a:spLocks noGrp="1"/>
          </p:cNvSpPr>
          <p:nvPr/>
        </p:nvSpPr>
        <p:spPr>
          <a:xfrm>
            <a:off x="8867775" y="3829050"/>
            <a:ext cx="22669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00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OUTPUT</a:t>
            </a:r>
            <a:endParaRPr sz="900" b="1">
              <a:solidFill>
                <a:srgbClr val="70649A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97249CA-1C96-40BC-ADF5-3E516618BCCB}"/>
              </a:ext>
            </a:extLst>
          </p:cNvPr>
          <p:cNvSpPr>
            <a:spLocks noGrp="1"/>
          </p:cNvSpPr>
          <p:nvPr/>
        </p:nvSpPr>
        <p:spPr>
          <a:xfrm>
            <a:off x="8867774" y="4171950"/>
            <a:ext cx="25431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What the evaluator sees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14B38DB4-731D-484D-9AAE-4F10EA55E505}"/>
              </a:ext>
            </a:extLst>
          </p:cNvPr>
          <p:cNvSpPr>
            <a:spLocks noGrp="1"/>
          </p:cNvSpPr>
          <p:nvPr/>
        </p:nvSpPr>
        <p:spPr>
          <a:xfrm>
            <a:off x="8867775" y="4695825"/>
            <a:ext cx="2076450" cy="0"/>
          </a:xfrm>
          <a:prstGeom prst="line">
            <a:avLst/>
          </a:prstGeom>
          <a:noFill/>
          <a:ln w="38100">
            <a:solidFill>
              <a:srgbClr val="70649A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160B560-3A6D-41DC-85BC-EB8C3032BA52}"/>
              </a:ext>
            </a:extLst>
          </p:cNvPr>
          <p:cNvSpPr>
            <a:spLocks noGrp="1"/>
          </p:cNvSpPr>
          <p:nvPr/>
        </p:nvSpPr>
        <p:spPr>
          <a:xfrm>
            <a:off x="742950" y="5695950"/>
            <a:ext cx="8858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A controlled mechanism study with field-level grounding analysis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57AC773-2731-4C99-B82B-B486B9E181DB}"/>
              </a:ext>
            </a:extLst>
          </p:cNvPr>
          <p:cNvSpPr>
            <a:spLocks noGrp="1"/>
          </p:cNvSpPr>
          <p:nvPr/>
        </p:nvSpPr>
        <p:spPr>
          <a:xfrm>
            <a:off x="752475" y="6076950"/>
            <a:ext cx="90487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292" lnSpcReduction="10000"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TravelPlanner: 180 queries per stage · ChinaTravel: 12 paired pilot queries</a:t>
            </a:r>
          </a:p>
        </p:txBody>
      </p:sp>
    </p:spTree>
    <p:extLst>
      <p:ext uri="{BB962C8B-B14F-4D97-AF65-F5344CB8AC3E}">
        <p14:creationId xmlns:p14="http://schemas.microsoft.com/office/powerpoint/2010/main" val="1476829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>
            <a:extLst>
              <a:ext uri="{FF2B5EF4-FFF2-40B4-BE49-F238E27FC236}">
                <a16:creationId xmlns:a16="http://schemas.microsoft.com/office/drawing/2014/main" id="{044D3329-0CBC-4E33-8157-528A602915C3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FE8340-1EC6-42F9-9C6B-5D4461D26C9C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RESEARCH FRAME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2614B3-C909-48BB-8E7F-9C11FBCC95F3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Planning quality depends on an entire execution chain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5B0961A-CA35-44E4-97D4-CCD992B01DAD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 plausible local choice can still produce an infeasible global itinerary.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792948E-B86B-43B7-9B71-2C106E805E2F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920BD9E-3AE7-46E3-B923-60A3974CE9CD}"/>
              </a:ext>
            </a:extLst>
          </p:cNvPr>
          <p:cNvSpPr>
            <a:spLocks noGrp="1"/>
          </p:cNvSpPr>
          <p:nvPr/>
        </p:nvSpPr>
        <p:spPr>
          <a:xfrm>
            <a:off x="685800" y="2124075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73" lnSpcReduction="10000"/>
          </a:bodyPr>
          <a:lstStyle/>
          <a:p>
            <a:pPr algn="l">
              <a:buNone/>
              <a:def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B51541D-0071-481B-8DA4-0F0A861D1738}"/>
              </a:ext>
            </a:extLst>
          </p:cNvPr>
          <p:cNvSpPr>
            <a:spLocks noGrp="1"/>
          </p:cNvSpPr>
          <p:nvPr/>
        </p:nvSpPr>
        <p:spPr>
          <a:xfrm>
            <a:off x="685800" y="2543175"/>
            <a:ext cx="1524000" cy="4714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944"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Interpret constraints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983E8A7F-189D-4D3F-BB45-E968C5E495D5}"/>
              </a:ext>
            </a:extLst>
          </p:cNvPr>
          <p:cNvSpPr>
            <a:spLocks noGrp="1"/>
          </p:cNvSpPr>
          <p:nvPr/>
        </p:nvSpPr>
        <p:spPr>
          <a:xfrm>
            <a:off x="685800" y="3095625"/>
            <a:ext cx="1428750" cy="0"/>
          </a:xfrm>
          <a:prstGeom prst="line">
            <a:avLst/>
          </a:prstGeom>
          <a:noFill/>
          <a:ln w="28575">
            <a:solidFill>
              <a:srgbClr val="245777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04E84C-8842-4D63-B6B0-1F6E039E30C7}"/>
              </a:ext>
            </a:extLst>
          </p:cNvPr>
          <p:cNvSpPr>
            <a:spLocks noGrp="1"/>
          </p:cNvSpPr>
          <p:nvPr/>
        </p:nvSpPr>
        <p:spPr>
          <a:xfrm>
            <a:off x="685800" y="3219450"/>
            <a:ext cx="1524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misread or omit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BA96FADE-FCBC-490C-98B5-9D9BFA8DBBC7}"/>
              </a:ext>
            </a:extLst>
          </p:cNvPr>
          <p:cNvSpPr>
            <a:spLocks noGrp="1"/>
          </p:cNvSpPr>
          <p:nvPr/>
        </p:nvSpPr>
        <p:spPr>
          <a:xfrm>
            <a:off x="2143125" y="3105150"/>
            <a:ext cx="257175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35A725D1-9444-4F36-BD99-8BF0EEAC2605}"/>
              </a:ext>
            </a:extLst>
          </p:cNvPr>
          <p:cNvSpPr>
            <a:spLocks noGrp="1"/>
          </p:cNvSpPr>
          <p:nvPr/>
        </p:nvSpPr>
        <p:spPr>
          <a:xfrm>
            <a:off x="2314575" y="30575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D9D28FE1-5297-4222-BF91-164B6FF0E88A}"/>
              </a:ext>
            </a:extLst>
          </p:cNvPr>
          <p:cNvSpPr>
            <a:spLocks noGrp="1"/>
          </p:cNvSpPr>
          <p:nvPr/>
        </p:nvSpPr>
        <p:spPr>
          <a:xfrm flipV="1">
            <a:off x="2314575" y="3105151"/>
            <a:ext cx="85725" cy="57146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088A23D-D101-4FA6-A53C-C1B369C78A69}"/>
              </a:ext>
            </a:extLst>
          </p:cNvPr>
          <p:cNvSpPr>
            <a:spLocks noGrp="1"/>
          </p:cNvSpPr>
          <p:nvPr/>
        </p:nvSpPr>
        <p:spPr>
          <a:xfrm>
            <a:off x="2495549" y="2124075"/>
            <a:ext cx="490841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buNone/>
              <a:def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rPr>
              <a:t>02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075F08-6D58-4440-A309-91B6E3BFBE83}"/>
              </a:ext>
            </a:extLst>
          </p:cNvPr>
          <p:cNvSpPr>
            <a:spLocks noGrp="1"/>
          </p:cNvSpPr>
          <p:nvPr/>
        </p:nvSpPr>
        <p:spPr>
          <a:xfrm>
            <a:off x="2495550" y="2543175"/>
            <a:ext cx="1524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Acquire</a:t>
            </a:r>
            <a:r>
              <a:rPr sz="14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 </a:t>
            </a: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evidence</a:t>
            </a:r>
            <a:endParaRPr sz="1400" b="1">
              <a:solidFill>
                <a:srgbClr val="15202B"/>
              </a:solidFill>
              <a:latin typeface="Noto Serif SC"/>
              <a:ea typeface="Noto Serif SC"/>
              <a:cs typeface="Noto Serif SC"/>
            </a:endParaRP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2D21E6C7-28BD-4DC3-A89C-7DA2CAFADEE5}"/>
              </a:ext>
            </a:extLst>
          </p:cNvPr>
          <p:cNvSpPr>
            <a:spLocks noGrp="1"/>
          </p:cNvSpPr>
          <p:nvPr/>
        </p:nvSpPr>
        <p:spPr>
          <a:xfrm>
            <a:off x="2495550" y="3095625"/>
            <a:ext cx="1428750" cy="0"/>
          </a:xfrm>
          <a:prstGeom prst="line">
            <a:avLst/>
          </a:prstGeom>
          <a:noFill/>
          <a:ln w="28575">
            <a:solidFill>
              <a:srgbClr val="D96846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0056C2F-2898-4B0F-ACE9-23FF886F1806}"/>
              </a:ext>
            </a:extLst>
          </p:cNvPr>
          <p:cNvSpPr>
            <a:spLocks noGrp="1"/>
          </p:cNvSpPr>
          <p:nvPr/>
        </p:nvSpPr>
        <p:spPr>
          <a:xfrm>
            <a:off x="2495550" y="3219450"/>
            <a:ext cx="1524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missing evidence</a:t>
            </a:r>
          </a:p>
        </p:txBody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5B24C8EF-7074-4563-94E8-99387A4A7599}"/>
              </a:ext>
            </a:extLst>
          </p:cNvPr>
          <p:cNvSpPr>
            <a:spLocks noGrp="1"/>
          </p:cNvSpPr>
          <p:nvPr/>
        </p:nvSpPr>
        <p:spPr>
          <a:xfrm>
            <a:off x="3952875" y="3105150"/>
            <a:ext cx="257175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D94963D7-6DF9-4FB5-A22D-BEE5EAAED9DF}"/>
              </a:ext>
            </a:extLst>
          </p:cNvPr>
          <p:cNvSpPr>
            <a:spLocks noGrp="1"/>
          </p:cNvSpPr>
          <p:nvPr/>
        </p:nvSpPr>
        <p:spPr>
          <a:xfrm>
            <a:off x="4124325" y="30575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8DF5E8BB-D717-467C-A54C-623D94111384}"/>
              </a:ext>
            </a:extLst>
          </p:cNvPr>
          <p:cNvSpPr>
            <a:spLocks noGrp="1"/>
          </p:cNvSpPr>
          <p:nvPr/>
        </p:nvSpPr>
        <p:spPr>
          <a:xfrm flipV="1">
            <a:off x="4124325" y="3105150"/>
            <a:ext cx="85725" cy="57141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28FD727-DC64-4E26-A1D3-8B1A388A1419}"/>
              </a:ext>
            </a:extLst>
          </p:cNvPr>
          <p:cNvSpPr>
            <a:spLocks noGrp="1"/>
          </p:cNvSpPr>
          <p:nvPr/>
        </p:nvSpPr>
        <p:spPr>
          <a:xfrm>
            <a:off x="4305300" y="2124075"/>
            <a:ext cx="548802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buNone/>
              <a:defRPr sz="1650" b="1">
                <a:solidFill>
                  <a:srgbClr val="BB8A2B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BB8A2B"/>
                </a:solidFill>
                <a:latin typeface="Noto Serif SC"/>
                <a:ea typeface="Noto Serif SC"/>
                <a:cs typeface="Noto Serif SC"/>
              </a:rPr>
              <a:t>03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DCADC0F-5DA1-43AC-9E69-A90B3B9E2B41}"/>
              </a:ext>
            </a:extLst>
          </p:cNvPr>
          <p:cNvSpPr>
            <a:spLocks noGrp="1"/>
          </p:cNvSpPr>
          <p:nvPr/>
        </p:nvSpPr>
        <p:spPr>
          <a:xfrm>
            <a:off x="4305300" y="2543175"/>
            <a:ext cx="1524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419"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Judge sufficiency</a:t>
            </a:r>
          </a:p>
        </p:txBody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0F20F616-95F8-4C5A-B1CF-9FFEC7D94AE2}"/>
              </a:ext>
            </a:extLst>
          </p:cNvPr>
          <p:cNvSpPr>
            <a:spLocks noGrp="1"/>
          </p:cNvSpPr>
          <p:nvPr/>
        </p:nvSpPr>
        <p:spPr>
          <a:xfrm>
            <a:off x="4305300" y="3095625"/>
            <a:ext cx="1428750" cy="0"/>
          </a:xfrm>
          <a:prstGeom prst="line">
            <a:avLst/>
          </a:prstGeom>
          <a:noFill/>
          <a:ln w="28575">
            <a:solidFill>
              <a:srgbClr val="BB8A2B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C6046A7-ED10-4B75-8E20-1034A9C78F6B}"/>
              </a:ext>
            </a:extLst>
          </p:cNvPr>
          <p:cNvSpPr>
            <a:spLocks noGrp="1"/>
          </p:cNvSpPr>
          <p:nvPr/>
        </p:nvSpPr>
        <p:spPr>
          <a:xfrm>
            <a:off x="4305300" y="3219450"/>
            <a:ext cx="1524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stop too early or late</a:t>
            </a: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646F5AFC-FC67-4239-A717-B725E37020C4}"/>
              </a:ext>
            </a:extLst>
          </p:cNvPr>
          <p:cNvSpPr>
            <a:spLocks noGrp="1"/>
          </p:cNvSpPr>
          <p:nvPr/>
        </p:nvSpPr>
        <p:spPr>
          <a:xfrm>
            <a:off x="5762625" y="3105150"/>
            <a:ext cx="257175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0483E829-B0DF-424F-99DB-525BC98CB9DA}"/>
              </a:ext>
            </a:extLst>
          </p:cNvPr>
          <p:cNvSpPr>
            <a:spLocks noGrp="1"/>
          </p:cNvSpPr>
          <p:nvPr/>
        </p:nvSpPr>
        <p:spPr>
          <a:xfrm>
            <a:off x="5934075" y="30575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7A88D23E-00B8-4967-8C80-C3CACAD41015}"/>
              </a:ext>
            </a:extLst>
          </p:cNvPr>
          <p:cNvSpPr>
            <a:spLocks noGrp="1"/>
          </p:cNvSpPr>
          <p:nvPr/>
        </p:nvSpPr>
        <p:spPr>
          <a:xfrm flipV="1">
            <a:off x="5934075" y="3105151"/>
            <a:ext cx="85725" cy="5714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C1A9BD7-9CC6-4108-9DC0-3BA82BCCA4D8}"/>
              </a:ext>
            </a:extLst>
          </p:cNvPr>
          <p:cNvSpPr>
            <a:spLocks noGrp="1"/>
          </p:cNvSpPr>
          <p:nvPr/>
        </p:nvSpPr>
        <p:spPr>
          <a:xfrm>
            <a:off x="6115049" y="2124075"/>
            <a:ext cx="611627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buNone/>
              <a:def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04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B8DEA68-E1DB-497A-83B2-F70C68A77D33}"/>
              </a:ext>
            </a:extLst>
          </p:cNvPr>
          <p:cNvSpPr>
            <a:spLocks noGrp="1"/>
          </p:cNvSpPr>
          <p:nvPr/>
        </p:nvSpPr>
        <p:spPr>
          <a:xfrm>
            <a:off x="6115050" y="2543175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944"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Execute commitments</a:t>
            </a:r>
          </a:p>
        </p:txBody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2C962752-2DFE-4456-AD9E-17241B1D40AC}"/>
              </a:ext>
            </a:extLst>
          </p:cNvPr>
          <p:cNvSpPr>
            <a:spLocks noGrp="1"/>
          </p:cNvSpPr>
          <p:nvPr/>
        </p:nvSpPr>
        <p:spPr>
          <a:xfrm>
            <a:off x="6115050" y="3095625"/>
            <a:ext cx="1428750" cy="0"/>
          </a:xfrm>
          <a:prstGeom prst="line">
            <a:avLst/>
          </a:prstGeom>
          <a:noFill/>
          <a:ln w="28575">
            <a:solidFill>
              <a:srgbClr val="168474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A77A9F5-83BC-48CF-A0F0-FD0438EC13BF}"/>
              </a:ext>
            </a:extLst>
          </p:cNvPr>
          <p:cNvSpPr>
            <a:spLocks noGrp="1"/>
          </p:cNvSpPr>
          <p:nvPr/>
        </p:nvSpPr>
        <p:spPr>
          <a:xfrm>
            <a:off x="6115050" y="3219450"/>
            <a:ext cx="1524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500"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deviate from blueprint</a:t>
            </a:r>
          </a:p>
        </p:txBody>
      </p:sp>
      <p:sp>
        <p:nvSpPr>
          <p:cNvPr id="31" name="直接连接符 30">
            <a:extLst>
              <a:ext uri="{FF2B5EF4-FFF2-40B4-BE49-F238E27FC236}">
                <a16:creationId xmlns:a16="http://schemas.microsoft.com/office/drawing/2014/main" id="{461037CC-4FB3-435E-8C7E-A621252AA4D7}"/>
              </a:ext>
            </a:extLst>
          </p:cNvPr>
          <p:cNvSpPr>
            <a:spLocks noGrp="1"/>
          </p:cNvSpPr>
          <p:nvPr/>
        </p:nvSpPr>
        <p:spPr>
          <a:xfrm>
            <a:off x="7572375" y="3105150"/>
            <a:ext cx="257175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32" name="直接连接符 31">
            <a:extLst>
              <a:ext uri="{FF2B5EF4-FFF2-40B4-BE49-F238E27FC236}">
                <a16:creationId xmlns:a16="http://schemas.microsoft.com/office/drawing/2014/main" id="{A9521FDC-99A7-4AC8-8B52-E2AE063B3BF7}"/>
              </a:ext>
            </a:extLst>
          </p:cNvPr>
          <p:cNvSpPr>
            <a:spLocks noGrp="1"/>
          </p:cNvSpPr>
          <p:nvPr/>
        </p:nvSpPr>
        <p:spPr>
          <a:xfrm>
            <a:off x="7743825" y="30575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33" name="直接连接符 32">
            <a:extLst>
              <a:ext uri="{FF2B5EF4-FFF2-40B4-BE49-F238E27FC236}">
                <a16:creationId xmlns:a16="http://schemas.microsoft.com/office/drawing/2014/main" id="{96DA6E0B-EA3B-4E89-928C-F0BD8686DA6E}"/>
              </a:ext>
            </a:extLst>
          </p:cNvPr>
          <p:cNvSpPr>
            <a:spLocks noGrp="1"/>
          </p:cNvSpPr>
          <p:nvPr/>
        </p:nvSpPr>
        <p:spPr>
          <a:xfrm flipV="1">
            <a:off x="7743825" y="3105150"/>
            <a:ext cx="75009" cy="5713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CA357A2-FFA7-4F28-A1E5-C767BEF68957}"/>
              </a:ext>
            </a:extLst>
          </p:cNvPr>
          <p:cNvSpPr>
            <a:spLocks noGrp="1"/>
          </p:cNvSpPr>
          <p:nvPr/>
        </p:nvSpPr>
        <p:spPr>
          <a:xfrm>
            <a:off x="7924799" y="2124075"/>
            <a:ext cx="49935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buNone/>
              <a:def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rPr>
              <a:t>05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B20BD80-5298-4BA4-BFAA-A3585C9A782A}"/>
              </a:ext>
            </a:extLst>
          </p:cNvPr>
          <p:cNvSpPr>
            <a:spLocks noGrp="1"/>
          </p:cNvSpPr>
          <p:nvPr/>
        </p:nvSpPr>
        <p:spPr>
          <a:xfrm>
            <a:off x="7924800" y="2543175"/>
            <a:ext cx="1524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Ground output</a:t>
            </a:r>
          </a:p>
        </p:txBody>
      </p:sp>
      <p:sp>
        <p:nvSpPr>
          <p:cNvPr id="36" name="直接连接符 35">
            <a:extLst>
              <a:ext uri="{FF2B5EF4-FFF2-40B4-BE49-F238E27FC236}">
                <a16:creationId xmlns:a16="http://schemas.microsoft.com/office/drawing/2014/main" id="{91F72340-6FEE-4F2C-BB95-EA7CB4BA3BF9}"/>
              </a:ext>
            </a:extLst>
          </p:cNvPr>
          <p:cNvSpPr>
            <a:spLocks noGrp="1"/>
          </p:cNvSpPr>
          <p:nvPr/>
        </p:nvSpPr>
        <p:spPr>
          <a:xfrm>
            <a:off x="7924800" y="3095625"/>
            <a:ext cx="1428750" cy="0"/>
          </a:xfrm>
          <a:prstGeom prst="line">
            <a:avLst/>
          </a:prstGeom>
          <a:noFill/>
          <a:ln w="28575">
            <a:solidFill>
              <a:srgbClr val="70649A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67E55980-0175-4609-B50D-0DB1D8D0C977}"/>
              </a:ext>
            </a:extLst>
          </p:cNvPr>
          <p:cNvSpPr>
            <a:spLocks noGrp="1"/>
          </p:cNvSpPr>
          <p:nvPr/>
        </p:nvSpPr>
        <p:spPr>
          <a:xfrm>
            <a:off x="7924800" y="3219450"/>
            <a:ext cx="1524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misuse or fabricate</a:t>
            </a:r>
          </a:p>
        </p:txBody>
      </p:sp>
      <p:sp>
        <p:nvSpPr>
          <p:cNvPr id="38" name="直接连接符 37">
            <a:extLst>
              <a:ext uri="{FF2B5EF4-FFF2-40B4-BE49-F238E27FC236}">
                <a16:creationId xmlns:a16="http://schemas.microsoft.com/office/drawing/2014/main" id="{A9C402BD-4806-41E0-99D1-BF3477A021A0}"/>
              </a:ext>
            </a:extLst>
          </p:cNvPr>
          <p:cNvSpPr>
            <a:spLocks noGrp="1"/>
          </p:cNvSpPr>
          <p:nvPr/>
        </p:nvSpPr>
        <p:spPr>
          <a:xfrm>
            <a:off x="9382125" y="3105150"/>
            <a:ext cx="257175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F4F022C0-6880-462C-9DBE-0C2479E26CE9}"/>
              </a:ext>
            </a:extLst>
          </p:cNvPr>
          <p:cNvSpPr>
            <a:spLocks noGrp="1"/>
          </p:cNvSpPr>
          <p:nvPr/>
        </p:nvSpPr>
        <p:spPr>
          <a:xfrm>
            <a:off x="9553575" y="30575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40" name="直接连接符 39">
            <a:extLst>
              <a:ext uri="{FF2B5EF4-FFF2-40B4-BE49-F238E27FC236}">
                <a16:creationId xmlns:a16="http://schemas.microsoft.com/office/drawing/2014/main" id="{9B722A82-3096-4386-A0C8-9E5E57B27B0C}"/>
              </a:ext>
            </a:extLst>
          </p:cNvPr>
          <p:cNvSpPr>
            <a:spLocks noGrp="1"/>
          </p:cNvSpPr>
          <p:nvPr/>
        </p:nvSpPr>
        <p:spPr>
          <a:xfrm flipV="1">
            <a:off x="9564291" y="3105151"/>
            <a:ext cx="75009" cy="57134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1F0A09C9-35C3-4679-AA3F-63F20F61F8D7}"/>
              </a:ext>
            </a:extLst>
          </p:cNvPr>
          <p:cNvSpPr>
            <a:spLocks noGrp="1"/>
          </p:cNvSpPr>
          <p:nvPr/>
        </p:nvSpPr>
        <p:spPr>
          <a:xfrm>
            <a:off x="9734550" y="2124075"/>
            <a:ext cx="430854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buNone/>
              <a:defRPr sz="165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rPr>
              <a:t>06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E1C12EF-4D33-4D9A-B0CC-9657D7D24A02}"/>
              </a:ext>
            </a:extLst>
          </p:cNvPr>
          <p:cNvSpPr>
            <a:spLocks noGrp="1"/>
          </p:cNvSpPr>
          <p:nvPr/>
        </p:nvSpPr>
        <p:spPr>
          <a:xfrm>
            <a:off x="9734550" y="2543175"/>
            <a:ext cx="16764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103"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Satisfy constraints</a:t>
            </a:r>
          </a:p>
        </p:txBody>
      </p:sp>
      <p:sp>
        <p:nvSpPr>
          <p:cNvPr id="43" name="直接连接符 42">
            <a:extLst>
              <a:ext uri="{FF2B5EF4-FFF2-40B4-BE49-F238E27FC236}">
                <a16:creationId xmlns:a16="http://schemas.microsoft.com/office/drawing/2014/main" id="{C7710221-EBDB-42F2-B219-9298E0D0043B}"/>
              </a:ext>
            </a:extLst>
          </p:cNvPr>
          <p:cNvSpPr>
            <a:spLocks noGrp="1"/>
          </p:cNvSpPr>
          <p:nvPr/>
        </p:nvSpPr>
        <p:spPr>
          <a:xfrm>
            <a:off x="9734550" y="3095625"/>
            <a:ext cx="1428750" cy="0"/>
          </a:xfrm>
          <a:prstGeom prst="line">
            <a:avLst/>
          </a:prstGeom>
          <a:noFill/>
          <a:ln w="28575">
            <a:solidFill>
              <a:srgbClr val="B94C45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2916844-8A40-4975-9087-3C827EB32635}"/>
              </a:ext>
            </a:extLst>
          </p:cNvPr>
          <p:cNvSpPr>
            <a:spLocks noGrp="1"/>
          </p:cNvSpPr>
          <p:nvPr/>
        </p:nvSpPr>
        <p:spPr>
          <a:xfrm>
            <a:off x="9734550" y="3219450"/>
            <a:ext cx="1524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globally infeasible</a:t>
            </a:r>
          </a:p>
        </p:txBody>
      </p:sp>
      <p:sp>
        <p:nvSpPr>
          <p:cNvPr id="45" name="直接连接符 44">
            <a:extLst>
              <a:ext uri="{FF2B5EF4-FFF2-40B4-BE49-F238E27FC236}">
                <a16:creationId xmlns:a16="http://schemas.microsoft.com/office/drawing/2014/main" id="{601B07B5-43DC-4F5C-90D4-850ACFAD4384}"/>
              </a:ext>
            </a:extLst>
          </p:cNvPr>
          <p:cNvSpPr>
            <a:spLocks noGrp="1"/>
          </p:cNvSpPr>
          <p:nvPr/>
        </p:nvSpPr>
        <p:spPr>
          <a:xfrm>
            <a:off x="666750" y="3776765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EC2045B6-1D20-40AF-B5FC-FA8F9F76C794}"/>
              </a:ext>
            </a:extLst>
          </p:cNvPr>
          <p:cNvSpPr>
            <a:spLocks noGrp="1"/>
          </p:cNvSpPr>
          <p:nvPr/>
        </p:nvSpPr>
        <p:spPr>
          <a:xfrm>
            <a:off x="685800" y="405299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90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DIAGNOSTIC QUESTION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57B4EA9-8C58-4AC3-8121-0C808ABACEC5}"/>
              </a:ext>
            </a:extLst>
          </p:cNvPr>
          <p:cNvSpPr>
            <a:spLocks noGrp="1"/>
          </p:cNvSpPr>
          <p:nvPr/>
        </p:nvSpPr>
        <p:spPr>
          <a:xfrm>
            <a:off x="685800" y="4367315"/>
            <a:ext cx="10287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680"/>
          </a:bodyPr>
          <a:lstStyle/>
          <a:p>
            <a:pPr algn="l">
              <a:buNone/>
              <a:defRPr sz="21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1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Where does the system lose the information needed to produce a valid plan?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EC5C9F9-A0D7-41B4-8CBC-C870EC76F69C}"/>
              </a:ext>
            </a:extLst>
          </p:cNvPr>
          <p:cNvSpPr>
            <a:spLocks noGrp="1"/>
          </p:cNvSpPr>
          <p:nvPr/>
        </p:nvSpPr>
        <p:spPr>
          <a:xfrm>
            <a:off x="685800" y="5262665"/>
            <a:ext cx="31432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125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Controlled interventions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1BA720E-B66D-4801-8017-B06FCBAF82EE}"/>
              </a:ext>
            </a:extLst>
          </p:cNvPr>
          <p:cNvSpPr>
            <a:spLocks noGrp="1"/>
          </p:cNvSpPr>
          <p:nvPr/>
        </p:nvSpPr>
        <p:spPr>
          <a:xfrm>
            <a:off x="685800" y="5548415"/>
            <a:ext cx="323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875" lnSpcReduction="10000"/>
          </a:bodyPr>
          <a:lstStyle/>
          <a:p>
            <a:pPr algn="l">
              <a:buNone/>
              <a:defRPr sz="9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A/B/C/D separate information conditions, planning, and repair.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4228D11-F19F-4AF5-9F1A-C464A93FAAC9}"/>
              </a:ext>
            </a:extLst>
          </p:cNvPr>
          <p:cNvSpPr>
            <a:spLocks noGrp="1"/>
          </p:cNvSpPr>
          <p:nvPr/>
        </p:nvSpPr>
        <p:spPr>
          <a:xfrm>
            <a:off x="4324350" y="5262665"/>
            <a:ext cx="31432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1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Failure-oriented analysis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AA738EF-1853-470C-ABE7-3BF810C770B8}"/>
              </a:ext>
            </a:extLst>
          </p:cNvPr>
          <p:cNvSpPr>
            <a:spLocks noGrp="1"/>
          </p:cNvSpPr>
          <p:nvPr/>
        </p:nvSpPr>
        <p:spPr>
          <a:xfrm>
            <a:off x="4324350" y="5548415"/>
            <a:ext cx="323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875" lnSpcReduction="10000"/>
          </a:bodyPr>
          <a:lstStyle/>
          <a:p>
            <a:pPr algn="l">
              <a:buNone/>
              <a:defRPr sz="9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Delivery, evidence, contract, and final correctness remain distinct.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715A6E2-B16A-4FF4-BE9E-3D56BC8600BD}"/>
              </a:ext>
            </a:extLst>
          </p:cNvPr>
          <p:cNvSpPr>
            <a:spLocks noGrp="1"/>
          </p:cNvSpPr>
          <p:nvPr/>
        </p:nvSpPr>
        <p:spPr>
          <a:xfrm>
            <a:off x="7962900" y="5262665"/>
            <a:ext cx="31432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125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Cross-benchmark check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EB4515F-020B-4DC4-8340-FEEDD3B24FB3}"/>
              </a:ext>
            </a:extLst>
          </p:cNvPr>
          <p:cNvSpPr>
            <a:spLocks noGrp="1"/>
          </p:cNvSpPr>
          <p:nvPr/>
        </p:nvSpPr>
        <p:spPr>
          <a:xfrm>
            <a:off x="7962900" y="5548415"/>
            <a:ext cx="323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875" lnSpcReduction="10000"/>
          </a:bodyPr>
          <a:lstStyle/>
          <a:p>
            <a:pPr algn="l">
              <a:buNone/>
              <a:defRPr sz="9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ChinaTravel tests whether the same failure pattern survives open Chinese requests.</a:t>
            </a:r>
          </a:p>
        </p:txBody>
      </p:sp>
      <p:sp>
        <p:nvSpPr>
          <p:cNvPr id="54" name="直接连接符 53">
            <a:extLst>
              <a:ext uri="{FF2B5EF4-FFF2-40B4-BE49-F238E27FC236}">
                <a16:creationId xmlns:a16="http://schemas.microsoft.com/office/drawing/2014/main" id="{DDA3769B-28A0-42A4-9775-840E5CBA61D6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921F83A4-7C5F-4635-A33A-59E964A4D579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9722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Sources: ReAct (Yao et al., 2023); TravelPlanner (Xie et al., 2024); ChinaTravel (Shao et al., 2026).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820B2D6-C941-49E4-87D4-EE421F43717E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15990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矩形 55">
            <a:extLst>
              <a:ext uri="{FF2B5EF4-FFF2-40B4-BE49-F238E27FC236}">
                <a16:creationId xmlns:a16="http://schemas.microsoft.com/office/drawing/2014/main" id="{AC4045C6-AF15-4881-B86D-32C71A597ED2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96CB799-8D67-4781-9AD0-09462080F05C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STUDY DESIGN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C53BF0-0C9A-4099-954A-2F58071D4E41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TP-A and TP-B assign different information responsibilities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EF1410-1962-44B6-8AD3-874A77585861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The A/B comparison changes the task boundary, not only the interface.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00D6971-9ABB-4631-A4B1-FC51A64804F8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9DA7079-3280-40E4-8D40-C18654B69E41}"/>
              </a:ext>
            </a:extLst>
          </p:cNvPr>
          <p:cNvSpPr>
            <a:spLocks noGrp="1"/>
          </p:cNvSpPr>
          <p:nvPr/>
        </p:nvSpPr>
        <p:spPr>
          <a:xfrm>
            <a:off x="742950" y="2105025"/>
            <a:ext cx="6477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782" lnSpcReduction="10000"/>
          </a:bodyPr>
          <a:lstStyle/>
          <a:p>
            <a:pPr algn="l">
              <a:buNone/>
              <a:defRPr sz="4350" b="0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4350" b="0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A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7972338-15B4-428E-B9CE-F6FB682AA49A}"/>
              </a:ext>
            </a:extLst>
          </p:cNvPr>
          <p:cNvSpPr>
            <a:spLocks noGrp="1"/>
          </p:cNvSpPr>
          <p:nvPr/>
        </p:nvSpPr>
        <p:spPr>
          <a:xfrm>
            <a:off x="1504950" y="2085975"/>
            <a:ext cx="409575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975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SUPPLIED-EVIDENCE SOLE-PLANNING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2DB7CA-652F-4371-B274-246D5F8B62C0}"/>
              </a:ext>
            </a:extLst>
          </p:cNvPr>
          <p:cNvSpPr>
            <a:spLocks noGrp="1"/>
          </p:cNvSpPr>
          <p:nvPr/>
        </p:nvSpPr>
        <p:spPr>
          <a:xfrm>
            <a:off x="1504950" y="2390775"/>
            <a:ext cx="385762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042"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Can the model compose a valid itinerary when benchmark evidence is already available?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7EFF0D-4EDA-4617-A411-FA8344DB5002}"/>
              </a:ext>
            </a:extLst>
          </p:cNvPr>
          <p:cNvSpPr>
            <a:spLocks noGrp="1"/>
          </p:cNvSpPr>
          <p:nvPr/>
        </p:nvSpPr>
        <p:spPr>
          <a:xfrm>
            <a:off x="1390650" y="3124199"/>
            <a:ext cx="66675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6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INPUT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F1C6A80-5228-43C9-8919-052F54926C06}"/>
              </a:ext>
            </a:extLst>
          </p:cNvPr>
          <p:cNvSpPr>
            <a:spLocks noGrp="1"/>
          </p:cNvSpPr>
          <p:nvPr/>
        </p:nvSpPr>
        <p:spPr>
          <a:xfrm>
            <a:off x="1504950" y="3343275"/>
            <a:ext cx="38576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Query + complete official reference information</a:t>
            </a: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32A67239-C437-4EAE-82B2-710E76ABA384}"/>
              </a:ext>
            </a:extLst>
          </p:cNvPr>
          <p:cNvSpPr>
            <a:spLocks noGrp="1"/>
          </p:cNvSpPr>
          <p:nvPr/>
        </p:nvSpPr>
        <p:spPr>
          <a:xfrm>
            <a:off x="1428750" y="3905250"/>
            <a:ext cx="4000500" cy="0"/>
          </a:xfrm>
          <a:prstGeom prst="line">
            <a:avLst/>
          </a:prstGeom>
          <a:noFill/>
          <a:ln w="28575">
            <a:solidFill>
              <a:srgbClr val="24577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7200C30-BA12-4790-8786-FE4A07466D06}"/>
              </a:ext>
            </a:extLst>
          </p:cNvPr>
          <p:cNvSpPr>
            <a:spLocks noGrp="1"/>
          </p:cNvSpPr>
          <p:nvPr/>
        </p:nvSpPr>
        <p:spPr>
          <a:xfrm>
            <a:off x="1390650" y="4081467"/>
            <a:ext cx="2308291" cy="3524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6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MODEL RESPONSIBILITY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399B23-16BD-4407-8C02-3D1032D584F5}"/>
              </a:ext>
            </a:extLst>
          </p:cNvPr>
          <p:cNvSpPr>
            <a:spLocks noGrp="1"/>
          </p:cNvSpPr>
          <p:nvPr/>
        </p:nvSpPr>
        <p:spPr>
          <a:xfrm>
            <a:off x="1491774" y="4324350"/>
            <a:ext cx="4642931" cy="55244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05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Select and compose supplied evidence into one itinerary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9FE9ED-4E34-45FC-A1B1-41B570B4EE5B}"/>
              </a:ext>
            </a:extLst>
          </p:cNvPr>
          <p:cNvSpPr>
            <a:spLocks noGrp="1"/>
          </p:cNvSpPr>
          <p:nvPr/>
        </p:nvSpPr>
        <p:spPr>
          <a:xfrm>
            <a:off x="1514476" y="4881560"/>
            <a:ext cx="30480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9120" lnSpcReduction="20000"/>
          </a:bodyPr>
          <a:lstStyle/>
          <a:p>
            <a:pPr algn="l">
              <a:buNone/>
              <a:defRPr sz="975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No tools · one planning call</a:t>
            </a: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AB91C835-40E0-44AB-ACA4-398A4DCDA6ED}"/>
              </a:ext>
            </a:extLst>
          </p:cNvPr>
          <p:cNvSpPr>
            <a:spLocks noGrp="1"/>
          </p:cNvSpPr>
          <p:nvPr/>
        </p:nvSpPr>
        <p:spPr>
          <a:xfrm>
            <a:off x="6000750" y="2047875"/>
            <a:ext cx="0" cy="333375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F7F2117-F722-41CD-B932-CD31914FC96D}"/>
              </a:ext>
            </a:extLst>
          </p:cNvPr>
          <p:cNvSpPr>
            <a:spLocks noGrp="1"/>
          </p:cNvSpPr>
          <p:nvPr/>
        </p:nvSpPr>
        <p:spPr>
          <a:xfrm>
            <a:off x="6477000" y="2105025"/>
            <a:ext cx="6477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782" lnSpcReduction="10000"/>
          </a:bodyPr>
          <a:lstStyle/>
          <a:p>
            <a:pPr algn="l">
              <a:buNone/>
              <a:defRPr sz="4350" b="0">
                <a:solidFill>
                  <a:srgbClr val="D96846"/>
                </a:solidFill>
                <a:latin typeface="Noto Serif SC"/>
                <a:ea typeface="Noto Serif SC"/>
                <a:cs typeface="Noto Serif SC"/>
              </a:defRPr>
            </a:pPr>
            <a:r>
              <a:rPr sz="4350" b="0">
                <a:solidFill>
                  <a:srgbClr val="D96846"/>
                </a:solidFill>
                <a:latin typeface="Noto Serif SC"/>
                <a:ea typeface="Noto Serif SC"/>
                <a:cs typeface="Noto Serif SC"/>
              </a:rPr>
              <a:t>B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D11CC57-C452-46F8-8490-58BD2B662AB3}"/>
              </a:ext>
            </a:extLst>
          </p:cNvPr>
          <p:cNvSpPr>
            <a:spLocks noGrp="1"/>
          </p:cNvSpPr>
          <p:nvPr/>
        </p:nvSpPr>
        <p:spPr>
          <a:xfrm>
            <a:off x="7239000" y="2085975"/>
            <a:ext cx="4000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QUERY-ONLY AUTONOMOUS ACQUISITION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1772EC0-DFAA-4887-9451-66926FFE3A92}"/>
              </a:ext>
            </a:extLst>
          </p:cNvPr>
          <p:cNvSpPr>
            <a:spLocks noGrp="1"/>
          </p:cNvSpPr>
          <p:nvPr/>
        </p:nvSpPr>
        <p:spPr>
          <a:xfrm>
            <a:off x="7239000" y="2390775"/>
            <a:ext cx="40005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714"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Can the Agent acquire enough evidence, stop correctly, and then produce a valid plan?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A57ED98F-3991-47DC-AC52-7B6BE230172A}"/>
              </a:ext>
            </a:extLst>
          </p:cNvPr>
          <p:cNvSpPr>
            <a:spLocks noGrp="1"/>
          </p:cNvSpPr>
          <p:nvPr/>
        </p:nvSpPr>
        <p:spPr>
          <a:xfrm>
            <a:off x="7229475" y="3419475"/>
            <a:ext cx="285750" cy="2857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F3783BD-3E49-43C1-9910-E42959A6DA73}"/>
              </a:ext>
            </a:extLst>
          </p:cNvPr>
          <p:cNvSpPr>
            <a:spLocks noGrp="1"/>
          </p:cNvSpPr>
          <p:nvPr/>
        </p:nvSpPr>
        <p:spPr>
          <a:xfrm>
            <a:off x="7258050" y="3448050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45" lnSpcReduction="10000"/>
          </a:bodyPr>
          <a:lstStyle/>
          <a:p>
            <a:pPr algn="ctr">
              <a:buNone/>
              <a:defRPr sz="7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21EF7D6-7D9D-4463-B2CB-14352A907F9A}"/>
              </a:ext>
            </a:extLst>
          </p:cNvPr>
          <p:cNvSpPr>
            <a:spLocks noGrp="1"/>
          </p:cNvSpPr>
          <p:nvPr/>
        </p:nvSpPr>
        <p:spPr>
          <a:xfrm>
            <a:off x="6996112" y="3812421"/>
            <a:ext cx="7810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Find gap</a:t>
            </a:r>
          </a:p>
        </p:txBody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C78EFA4A-B40F-4B0F-8096-A7517E0546F8}"/>
              </a:ext>
            </a:extLst>
          </p:cNvPr>
          <p:cNvSpPr>
            <a:spLocks noGrp="1"/>
          </p:cNvSpPr>
          <p:nvPr/>
        </p:nvSpPr>
        <p:spPr>
          <a:xfrm>
            <a:off x="7543800" y="3562350"/>
            <a:ext cx="381000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C00EA403-7686-425F-AE45-AFAA1A2321CF}"/>
              </a:ext>
            </a:extLst>
          </p:cNvPr>
          <p:cNvSpPr>
            <a:spLocks noGrp="1"/>
          </p:cNvSpPr>
          <p:nvPr/>
        </p:nvSpPr>
        <p:spPr>
          <a:xfrm>
            <a:off x="7839075" y="35147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A438891F-A302-4151-A929-4E5324B59545}"/>
              </a:ext>
            </a:extLst>
          </p:cNvPr>
          <p:cNvSpPr>
            <a:spLocks noGrp="1"/>
          </p:cNvSpPr>
          <p:nvPr/>
        </p:nvSpPr>
        <p:spPr>
          <a:xfrm flipV="1">
            <a:off x="7847409" y="3562350"/>
            <a:ext cx="77391" cy="47623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4670457C-AD75-4511-AADF-4C4255279E6E}"/>
              </a:ext>
            </a:extLst>
          </p:cNvPr>
          <p:cNvSpPr>
            <a:spLocks noGrp="1"/>
          </p:cNvSpPr>
          <p:nvPr/>
        </p:nvSpPr>
        <p:spPr>
          <a:xfrm>
            <a:off x="8096250" y="3419475"/>
            <a:ext cx="285750" cy="2857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66900CA-CA34-4833-857E-DE0AC17DFD01}"/>
              </a:ext>
            </a:extLst>
          </p:cNvPr>
          <p:cNvSpPr>
            <a:spLocks noGrp="1"/>
          </p:cNvSpPr>
          <p:nvPr/>
        </p:nvSpPr>
        <p:spPr>
          <a:xfrm>
            <a:off x="8124825" y="3448050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45" lnSpcReduction="10000"/>
          </a:bodyPr>
          <a:lstStyle/>
          <a:p>
            <a:pPr algn="ctr">
              <a:buNone/>
              <a:defRPr sz="7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</a:t>
            </a:r>
            <a:endParaRPr sz="750" b="1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D63408-6592-42F5-A40E-DBE670B16420}"/>
              </a:ext>
            </a:extLst>
          </p:cNvPr>
          <p:cNvSpPr>
            <a:spLocks noGrp="1"/>
          </p:cNvSpPr>
          <p:nvPr/>
        </p:nvSpPr>
        <p:spPr>
          <a:xfrm>
            <a:off x="7882533" y="3820638"/>
            <a:ext cx="713184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Call tool</a:t>
            </a:r>
          </a:p>
        </p:txBody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0D6D3953-9C93-4566-817A-1674F11CC278}"/>
              </a:ext>
            </a:extLst>
          </p:cNvPr>
          <p:cNvSpPr>
            <a:spLocks noGrp="1"/>
          </p:cNvSpPr>
          <p:nvPr/>
        </p:nvSpPr>
        <p:spPr>
          <a:xfrm>
            <a:off x="8410575" y="3562350"/>
            <a:ext cx="381000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2403595B-4D8E-4BEA-96E2-1E090C976697}"/>
              </a:ext>
            </a:extLst>
          </p:cNvPr>
          <p:cNvSpPr>
            <a:spLocks noGrp="1"/>
          </p:cNvSpPr>
          <p:nvPr/>
        </p:nvSpPr>
        <p:spPr>
          <a:xfrm>
            <a:off x="8705850" y="35147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30" name="直接连接符 29">
            <a:extLst>
              <a:ext uri="{FF2B5EF4-FFF2-40B4-BE49-F238E27FC236}">
                <a16:creationId xmlns:a16="http://schemas.microsoft.com/office/drawing/2014/main" id="{B3C673C0-F5D3-4531-8616-550400D75CA6}"/>
              </a:ext>
            </a:extLst>
          </p:cNvPr>
          <p:cNvSpPr>
            <a:spLocks noGrp="1"/>
          </p:cNvSpPr>
          <p:nvPr/>
        </p:nvSpPr>
        <p:spPr>
          <a:xfrm flipV="1">
            <a:off x="8705850" y="3562350"/>
            <a:ext cx="77391" cy="47617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DFDA78B4-16D2-4395-A06A-AFAC5A9E1399}"/>
              </a:ext>
            </a:extLst>
          </p:cNvPr>
          <p:cNvSpPr>
            <a:spLocks noGrp="1"/>
          </p:cNvSpPr>
          <p:nvPr/>
        </p:nvSpPr>
        <p:spPr>
          <a:xfrm>
            <a:off x="8963025" y="3419475"/>
            <a:ext cx="285750" cy="2857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F5249D1-6480-4799-B608-8CC64199FE24}"/>
              </a:ext>
            </a:extLst>
          </p:cNvPr>
          <p:cNvSpPr>
            <a:spLocks noGrp="1"/>
          </p:cNvSpPr>
          <p:nvPr/>
        </p:nvSpPr>
        <p:spPr>
          <a:xfrm>
            <a:off x="8991600" y="3448050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425" lnSpcReduction="10000"/>
          </a:bodyPr>
          <a:lstStyle/>
          <a:p>
            <a:pPr algn="ctr">
              <a:buNone/>
              <a:defRPr sz="7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10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3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A07F2D2-D914-41A6-AED3-AD6835857EF1}"/>
              </a:ext>
            </a:extLst>
          </p:cNvPr>
          <p:cNvSpPr>
            <a:spLocks noGrp="1"/>
          </p:cNvSpPr>
          <p:nvPr/>
        </p:nvSpPr>
        <p:spPr>
          <a:xfrm>
            <a:off x="8616983" y="3824490"/>
            <a:ext cx="977833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Read result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49CFDB33-7D84-44E1-95C3-93C13A861F9C}"/>
              </a:ext>
            </a:extLst>
          </p:cNvPr>
          <p:cNvSpPr>
            <a:spLocks noGrp="1"/>
          </p:cNvSpPr>
          <p:nvPr/>
        </p:nvSpPr>
        <p:spPr>
          <a:xfrm>
            <a:off x="9277350" y="3562350"/>
            <a:ext cx="381000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35" name="直接连接符 34">
            <a:extLst>
              <a:ext uri="{FF2B5EF4-FFF2-40B4-BE49-F238E27FC236}">
                <a16:creationId xmlns:a16="http://schemas.microsoft.com/office/drawing/2014/main" id="{778D16E2-EEC4-4114-B00D-65D4CDBDB62D}"/>
              </a:ext>
            </a:extLst>
          </p:cNvPr>
          <p:cNvSpPr>
            <a:spLocks noGrp="1"/>
          </p:cNvSpPr>
          <p:nvPr/>
        </p:nvSpPr>
        <p:spPr>
          <a:xfrm>
            <a:off x="9572625" y="35147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36" name="直接连接符 35">
            <a:extLst>
              <a:ext uri="{FF2B5EF4-FFF2-40B4-BE49-F238E27FC236}">
                <a16:creationId xmlns:a16="http://schemas.microsoft.com/office/drawing/2014/main" id="{7FBD1A33-AB58-4C5E-B0C6-BC759B993EC8}"/>
              </a:ext>
            </a:extLst>
          </p:cNvPr>
          <p:cNvSpPr>
            <a:spLocks noGrp="1"/>
          </p:cNvSpPr>
          <p:nvPr/>
        </p:nvSpPr>
        <p:spPr>
          <a:xfrm flipV="1">
            <a:off x="9579768" y="3562356"/>
            <a:ext cx="71437" cy="57143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7EAD1938-5ECE-4D1D-9B30-24822180F2AC}"/>
              </a:ext>
            </a:extLst>
          </p:cNvPr>
          <p:cNvSpPr>
            <a:spLocks noGrp="1"/>
          </p:cNvSpPr>
          <p:nvPr/>
        </p:nvSpPr>
        <p:spPr>
          <a:xfrm>
            <a:off x="9829800" y="3419475"/>
            <a:ext cx="285750" cy="2857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3135715-8EC0-422E-9801-A87D237E6960}"/>
              </a:ext>
            </a:extLst>
          </p:cNvPr>
          <p:cNvSpPr>
            <a:spLocks noGrp="1"/>
          </p:cNvSpPr>
          <p:nvPr/>
        </p:nvSpPr>
        <p:spPr>
          <a:xfrm>
            <a:off x="9858375" y="3448050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45" lnSpcReduction="10000"/>
          </a:bodyPr>
          <a:lstStyle/>
          <a:p>
            <a:pPr algn="ctr">
              <a:buNone/>
              <a:defRPr sz="7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4</a:t>
            </a:r>
            <a:endParaRPr sz="750" b="1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84A7F41-987B-4AA9-84E8-4A1A984B8118}"/>
              </a:ext>
            </a:extLst>
          </p:cNvPr>
          <p:cNvSpPr>
            <a:spLocks noGrp="1"/>
          </p:cNvSpPr>
          <p:nvPr/>
        </p:nvSpPr>
        <p:spPr>
          <a:xfrm>
            <a:off x="9658350" y="3824389"/>
            <a:ext cx="654539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Assess</a:t>
            </a:r>
          </a:p>
        </p:txBody>
      </p:sp>
      <p:sp>
        <p:nvSpPr>
          <p:cNvPr id="40" name="直接连接符 39">
            <a:extLst>
              <a:ext uri="{FF2B5EF4-FFF2-40B4-BE49-F238E27FC236}">
                <a16:creationId xmlns:a16="http://schemas.microsoft.com/office/drawing/2014/main" id="{85DCFE21-42E4-4F50-8E62-C59504B8CDAE}"/>
              </a:ext>
            </a:extLst>
          </p:cNvPr>
          <p:cNvSpPr>
            <a:spLocks noGrp="1"/>
          </p:cNvSpPr>
          <p:nvPr/>
        </p:nvSpPr>
        <p:spPr>
          <a:xfrm>
            <a:off x="10144125" y="3562350"/>
            <a:ext cx="381000" cy="0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ACD82898-4A9E-40BE-B9DE-78B430E8971D}"/>
              </a:ext>
            </a:extLst>
          </p:cNvPr>
          <p:cNvSpPr>
            <a:spLocks noGrp="1"/>
          </p:cNvSpPr>
          <p:nvPr/>
        </p:nvSpPr>
        <p:spPr>
          <a:xfrm>
            <a:off x="10439400" y="3514725"/>
            <a:ext cx="85725" cy="47625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42" name="直接连接符 41">
            <a:extLst>
              <a:ext uri="{FF2B5EF4-FFF2-40B4-BE49-F238E27FC236}">
                <a16:creationId xmlns:a16="http://schemas.microsoft.com/office/drawing/2014/main" id="{486A161E-C7AE-4A42-8E05-5094F283EEBB}"/>
              </a:ext>
            </a:extLst>
          </p:cNvPr>
          <p:cNvSpPr>
            <a:spLocks noGrp="1"/>
          </p:cNvSpPr>
          <p:nvPr/>
        </p:nvSpPr>
        <p:spPr>
          <a:xfrm flipV="1">
            <a:off x="10439400" y="3562350"/>
            <a:ext cx="85725" cy="57147"/>
          </a:xfrm>
          <a:prstGeom prst="line">
            <a:avLst/>
          </a:prstGeom>
          <a:noFill/>
          <a:ln w="14288">
            <a:solidFill>
              <a:srgbClr val="D8D1C5"/>
            </a:solidFill>
            <a:prstDash val="solid"/>
          </a:ln>
        </p:spPr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725B7D82-E8AF-41D4-853D-750D8071F2FC}"/>
              </a:ext>
            </a:extLst>
          </p:cNvPr>
          <p:cNvSpPr>
            <a:spLocks noGrp="1"/>
          </p:cNvSpPr>
          <p:nvPr/>
        </p:nvSpPr>
        <p:spPr>
          <a:xfrm>
            <a:off x="10696575" y="3419475"/>
            <a:ext cx="285750" cy="2857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3CBFB07-F2D6-45C0-BB43-5E54285147DC}"/>
              </a:ext>
            </a:extLst>
          </p:cNvPr>
          <p:cNvSpPr>
            <a:spLocks noGrp="1"/>
          </p:cNvSpPr>
          <p:nvPr/>
        </p:nvSpPr>
        <p:spPr>
          <a:xfrm>
            <a:off x="10725150" y="3448050"/>
            <a:ext cx="2286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45" lnSpcReduction="10000"/>
          </a:bodyPr>
          <a:lstStyle/>
          <a:p>
            <a:pPr algn="ctr">
              <a:buNone/>
              <a:defRPr sz="7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5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3AC9EC8-AB01-4891-B6F2-245EE0EE1859}"/>
              </a:ext>
            </a:extLst>
          </p:cNvPr>
          <p:cNvSpPr>
            <a:spLocks noGrp="1"/>
          </p:cNvSpPr>
          <p:nvPr/>
        </p:nvSpPr>
        <p:spPr>
          <a:xfrm>
            <a:off x="10393394" y="3833812"/>
            <a:ext cx="9239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Write plan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E626E4D3-A6AC-4C70-8C50-70C4D7B28A65}"/>
              </a:ext>
            </a:extLst>
          </p:cNvPr>
          <p:cNvSpPr>
            <a:spLocks noGrp="1"/>
          </p:cNvSpPr>
          <p:nvPr/>
        </p:nvSpPr>
        <p:spPr>
          <a:xfrm>
            <a:off x="6887875" y="4374297"/>
            <a:ext cx="2513401" cy="21441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6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AGENT RESPONSIBILITY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3070BD2-8EBB-4A66-A961-BB3668787F59}"/>
              </a:ext>
            </a:extLst>
          </p:cNvPr>
          <p:cNvSpPr>
            <a:spLocks noGrp="1"/>
          </p:cNvSpPr>
          <p:nvPr/>
        </p:nvSpPr>
        <p:spPr>
          <a:xfrm>
            <a:off x="7013946" y="4618518"/>
            <a:ext cx="4774661" cy="483327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05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Acquire, ground, stop, and synthesize across multiple rounds</a:t>
            </a:r>
          </a:p>
        </p:txBody>
      </p:sp>
      <p:sp>
        <p:nvSpPr>
          <p:cNvPr id="48" name="直接连接符 47">
            <a:extLst>
              <a:ext uri="{FF2B5EF4-FFF2-40B4-BE49-F238E27FC236}">
                <a16:creationId xmlns:a16="http://schemas.microsoft.com/office/drawing/2014/main" id="{212E1B7F-DCF5-4828-AA78-44ACCFEE9A3D}"/>
              </a:ext>
            </a:extLst>
          </p:cNvPr>
          <p:cNvSpPr>
            <a:spLocks noGrp="1"/>
          </p:cNvSpPr>
          <p:nvPr/>
        </p:nvSpPr>
        <p:spPr>
          <a:xfrm>
            <a:off x="666750" y="5572125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8753C78-9831-4B3B-AE8E-FA2EDE5C446A}"/>
              </a:ext>
            </a:extLst>
          </p:cNvPr>
          <p:cNvSpPr>
            <a:spLocks noGrp="1"/>
          </p:cNvSpPr>
          <p:nvPr/>
        </p:nvSpPr>
        <p:spPr>
          <a:xfrm>
            <a:off x="742950" y="5762625"/>
            <a:ext cx="1000125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75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SYSTEM GAP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6C282FE-9527-4A7C-BED4-5E1C9C46510E}"/>
              </a:ext>
            </a:extLst>
          </p:cNvPr>
          <p:cNvSpPr>
            <a:spLocks noGrp="1"/>
          </p:cNvSpPr>
          <p:nvPr/>
        </p:nvSpPr>
        <p:spPr>
          <a:xfrm>
            <a:off x="1876425" y="5695950"/>
            <a:ext cx="69151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buNone/>
              <a:defRPr sz="127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Evidence access, interaction form, and system responsibility all change.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6946E1F-A674-4814-B6B7-6111404F14B8}"/>
              </a:ext>
            </a:extLst>
          </p:cNvPr>
          <p:cNvSpPr>
            <a:spLocks noGrp="1"/>
          </p:cNvSpPr>
          <p:nvPr/>
        </p:nvSpPr>
        <p:spPr>
          <a:xfrm>
            <a:off x="8448675" y="5791200"/>
            <a:ext cx="276225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buNone/>
              <a:defRPr sz="120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30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Delivery 95% → 35%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F652E71-A11C-4C0E-B5C5-41A1B99AB81F}"/>
              </a:ext>
            </a:extLst>
          </p:cNvPr>
          <p:cNvSpPr>
            <a:spLocks noGrp="1"/>
          </p:cNvSpPr>
          <p:nvPr/>
        </p:nvSpPr>
        <p:spPr>
          <a:xfrm>
            <a:off x="8543722" y="6105323"/>
            <a:ext cx="2762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Final Pass 13.9% → 15.6%</a:t>
            </a:r>
          </a:p>
        </p:txBody>
      </p:sp>
      <p:sp>
        <p:nvSpPr>
          <p:cNvPr id="53" name="直接连接符 52">
            <a:extLst>
              <a:ext uri="{FF2B5EF4-FFF2-40B4-BE49-F238E27FC236}">
                <a16:creationId xmlns:a16="http://schemas.microsoft.com/office/drawing/2014/main" id="{A1938DA4-FD3E-45BE-B30A-166C1ECE1BC2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DC0BAA8-26BC-47AC-BA04-CA1A97642676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9722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Source: TravelPlanner protocol and frozen experiment manifests; Xie et al. (2024).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7CEAA3D-0CC5-48A6-B096-FF59EDC565A9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72466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 71">
            <a:extLst>
              <a:ext uri="{FF2B5EF4-FFF2-40B4-BE49-F238E27FC236}">
                <a16:creationId xmlns:a16="http://schemas.microsoft.com/office/drawing/2014/main" id="{7FD50B6D-8025-4D8B-9EED-C24FD20F847A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8FFE7B5-D8F3-4B91-9895-34A741BFC10C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TRAVELPLANNER · 180 QUERIES PER STAGE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DDAB88-DE27-4E15-9EAA-42B4F0C9E964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Added mechanisms changed delivery more than correctness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7C799F-B2DD-45E3-B1D1-093BADED6164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Planner reduced some control failures. Verification increased cost without a net Final Pass gain.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720BAB84-F674-471B-B950-96D33A8F7CD9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60E8702-F7A2-4464-9F5E-5384FD5DC819}"/>
              </a:ext>
            </a:extLst>
          </p:cNvPr>
          <p:cNvSpPr>
            <a:spLocks noGrp="1"/>
          </p:cNvSpPr>
          <p:nvPr/>
        </p:nvSpPr>
        <p:spPr>
          <a:xfrm>
            <a:off x="876300" y="2047875"/>
            <a:ext cx="4191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150" lnSpcReduction="10000"/>
          </a:bodyPr>
          <a:lstStyle/>
          <a:p>
            <a:pPr algn="l">
              <a:buNone/>
              <a:defRPr sz="2775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2775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A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E4717E-A449-4D44-8655-4CF1D5428648}"/>
              </a:ext>
            </a:extLst>
          </p:cNvPr>
          <p:cNvSpPr>
            <a:spLocks noGrp="1"/>
          </p:cNvSpPr>
          <p:nvPr/>
        </p:nvSpPr>
        <p:spPr>
          <a:xfrm>
            <a:off x="1390650" y="2057400"/>
            <a:ext cx="18097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75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SUPPLIED EVIDENCE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20933DD-19D1-4E21-9CFA-EED7D13C543E}"/>
              </a:ext>
            </a:extLst>
          </p:cNvPr>
          <p:cNvSpPr>
            <a:spLocks noGrp="1"/>
          </p:cNvSpPr>
          <p:nvPr/>
        </p:nvSpPr>
        <p:spPr>
          <a:xfrm>
            <a:off x="1390650" y="228600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sole-planning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E534673-F4B7-4591-9721-E66D78AB28ED}"/>
              </a:ext>
            </a:extLst>
          </p:cNvPr>
          <p:cNvSpPr>
            <a:spLocks noGrp="1"/>
          </p:cNvSpPr>
          <p:nvPr/>
        </p:nvSpPr>
        <p:spPr>
          <a:xfrm>
            <a:off x="3590925" y="2047875"/>
            <a:ext cx="4191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593"/>
          </a:bodyPr>
          <a:lstStyle/>
          <a:p>
            <a:pPr algn="l">
              <a:buNone/>
              <a:defRPr sz="2775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defRPr>
            </a:pPr>
            <a:r>
              <a:rPr sz="2775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rPr>
              <a:t>B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B300A61-C4A9-4906-82AC-620B91E5A2B0}"/>
              </a:ext>
            </a:extLst>
          </p:cNvPr>
          <p:cNvSpPr>
            <a:spLocks noGrp="1"/>
          </p:cNvSpPr>
          <p:nvPr/>
        </p:nvSpPr>
        <p:spPr>
          <a:xfrm>
            <a:off x="4105275" y="2057400"/>
            <a:ext cx="18097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75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QUERY ONLY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C54E8A-8C0A-44FD-B399-28BE570B335B}"/>
              </a:ext>
            </a:extLst>
          </p:cNvPr>
          <p:cNvSpPr>
            <a:spLocks noGrp="1"/>
          </p:cNvSpPr>
          <p:nvPr/>
        </p:nvSpPr>
        <p:spPr>
          <a:xfrm>
            <a:off x="4105275" y="228600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ReAct + tools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0EFE08F-AB01-413C-85FA-760809D2CCE3}"/>
              </a:ext>
            </a:extLst>
          </p:cNvPr>
          <p:cNvSpPr>
            <a:spLocks noGrp="1"/>
          </p:cNvSpPr>
          <p:nvPr/>
        </p:nvSpPr>
        <p:spPr>
          <a:xfrm>
            <a:off x="6305550" y="2047875"/>
            <a:ext cx="4191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269"/>
          </a:bodyPr>
          <a:lstStyle/>
          <a:p>
            <a:pPr algn="l">
              <a:buNone/>
              <a:defRPr sz="2775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2775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C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C863102-DFB1-4F7C-9918-E7EC28E3850D}"/>
              </a:ext>
            </a:extLst>
          </p:cNvPr>
          <p:cNvSpPr>
            <a:spLocks noGrp="1"/>
          </p:cNvSpPr>
          <p:nvPr/>
        </p:nvSpPr>
        <p:spPr>
          <a:xfrm>
            <a:off x="6819900" y="2057400"/>
            <a:ext cx="18097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7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EXPLICIT PLANNER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46935D0-F5DF-4793-BE5C-6CA208766158}"/>
              </a:ext>
            </a:extLst>
          </p:cNvPr>
          <p:cNvSpPr>
            <a:spLocks noGrp="1"/>
          </p:cNvSpPr>
          <p:nvPr/>
        </p:nvSpPr>
        <p:spPr>
          <a:xfrm>
            <a:off x="6819900" y="228600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Planner + ReAct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5FEFF28-E3AD-481A-8948-C58FE8FABA7F}"/>
              </a:ext>
            </a:extLst>
          </p:cNvPr>
          <p:cNvSpPr>
            <a:spLocks noGrp="1"/>
          </p:cNvSpPr>
          <p:nvPr/>
        </p:nvSpPr>
        <p:spPr>
          <a:xfrm>
            <a:off x="9020175" y="2047875"/>
            <a:ext cx="4191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764" lnSpcReduction="10000"/>
          </a:bodyPr>
          <a:lstStyle/>
          <a:p>
            <a:pPr algn="l">
              <a:buNone/>
              <a:defRPr sz="2775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defRPr>
            </a:pPr>
            <a:r>
              <a:rPr sz="2775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rPr>
              <a:t>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7FA9CB3-6354-4FF6-AFA2-9C3A9BECC34D}"/>
              </a:ext>
            </a:extLst>
          </p:cNvPr>
          <p:cNvSpPr>
            <a:spLocks noGrp="1"/>
          </p:cNvSpPr>
          <p:nvPr/>
        </p:nvSpPr>
        <p:spPr>
          <a:xfrm>
            <a:off x="9534525" y="2057400"/>
            <a:ext cx="18097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750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POST-HOC REPAIR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4DA5BED-1F19-415E-B709-C2C2D3BD4519}"/>
              </a:ext>
            </a:extLst>
          </p:cNvPr>
          <p:cNvSpPr>
            <a:spLocks noGrp="1"/>
          </p:cNvSpPr>
          <p:nvPr/>
        </p:nvSpPr>
        <p:spPr>
          <a:xfrm>
            <a:off x="9534525" y="228600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833" lnSpcReduction="20000"/>
          </a:bodyPr>
          <a:lstStyle/>
          <a:p>
            <a:pPr algn="l">
              <a:buNone/>
              <a:defRPr sz="97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Verifier + single replan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F3EAF2A-DCC2-4AD2-9805-7A4DF2C24724}"/>
              </a:ext>
            </a:extLst>
          </p:cNvPr>
          <p:cNvSpPr>
            <a:spLocks noGrp="1"/>
          </p:cNvSpPr>
          <p:nvPr/>
        </p:nvSpPr>
        <p:spPr>
          <a:xfrm>
            <a:off x="704850" y="2952750"/>
            <a:ext cx="1809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Delivery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194F30F3-66EA-4684-9093-F6A33BBEE645}"/>
              </a:ext>
            </a:extLst>
          </p:cNvPr>
          <p:cNvSpPr>
            <a:spLocks noGrp="1"/>
          </p:cNvSpPr>
          <p:nvPr/>
        </p:nvSpPr>
        <p:spPr>
          <a:xfrm>
            <a:off x="2571750" y="3105150"/>
            <a:ext cx="8239125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7BE2071-EA2F-4BB6-860D-99FB5DC08D72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95.0%</a:t>
            </a:r>
          </a:p>
        </p:txBody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40FCD2DB-11E6-496D-A5BB-66B92611B9B1}"/>
              </a:ext>
            </a:extLst>
          </p:cNvPr>
          <p:cNvSpPr>
            <a:spLocks noGrp="1"/>
          </p:cNvSpPr>
          <p:nvPr/>
        </p:nvSpPr>
        <p:spPr>
          <a:xfrm>
            <a:off x="2857500" y="3267075"/>
            <a:ext cx="1067753" cy="0"/>
          </a:xfrm>
          <a:prstGeom prst="line">
            <a:avLst/>
          </a:prstGeom>
          <a:noFill/>
          <a:ln w="38100">
            <a:solidFill>
              <a:srgbClr val="245777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07874C8-7739-47AF-B934-1C51094F3835}"/>
              </a:ext>
            </a:extLst>
          </p:cNvPr>
          <p:cNvSpPr>
            <a:spLocks noGrp="1"/>
          </p:cNvSpPr>
          <p:nvPr/>
        </p:nvSpPr>
        <p:spPr>
          <a:xfrm>
            <a:off x="5572125" y="285750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rPr>
              <a:t>35.0%</a:t>
            </a: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36480479-1D18-4DE7-9538-4B05A3230B6C}"/>
              </a:ext>
            </a:extLst>
          </p:cNvPr>
          <p:cNvSpPr>
            <a:spLocks noGrp="1"/>
          </p:cNvSpPr>
          <p:nvPr/>
        </p:nvSpPr>
        <p:spPr>
          <a:xfrm>
            <a:off x="5572125" y="3267075"/>
            <a:ext cx="393383" cy="0"/>
          </a:xfrm>
          <a:prstGeom prst="line">
            <a:avLst/>
          </a:prstGeom>
          <a:noFill/>
          <a:ln w="38100">
            <a:solidFill>
              <a:srgbClr val="D96846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6493DB9-3AC2-47EF-955F-EBB711051F62}"/>
              </a:ext>
            </a:extLst>
          </p:cNvPr>
          <p:cNvSpPr>
            <a:spLocks noGrp="1"/>
          </p:cNvSpPr>
          <p:nvPr/>
        </p:nvSpPr>
        <p:spPr>
          <a:xfrm>
            <a:off x="8286750" y="285750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40.0%</a:t>
            </a:r>
          </a:p>
        </p:txBody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EB61EA30-0A07-4087-AF39-053D0F8C46C6}"/>
              </a:ext>
            </a:extLst>
          </p:cNvPr>
          <p:cNvSpPr>
            <a:spLocks noGrp="1"/>
          </p:cNvSpPr>
          <p:nvPr/>
        </p:nvSpPr>
        <p:spPr>
          <a:xfrm>
            <a:off x="8286750" y="3267075"/>
            <a:ext cx="449580" cy="0"/>
          </a:xfrm>
          <a:prstGeom prst="line">
            <a:avLst/>
          </a:prstGeom>
          <a:noFill/>
          <a:ln w="38100">
            <a:solidFill>
              <a:srgbClr val="168474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3D18AAA-111F-4E0E-860B-9EE6C78FFED7}"/>
              </a:ext>
            </a:extLst>
          </p:cNvPr>
          <p:cNvSpPr>
            <a:spLocks noGrp="1"/>
          </p:cNvSpPr>
          <p:nvPr/>
        </p:nvSpPr>
        <p:spPr>
          <a:xfrm>
            <a:off x="11001375" y="285750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rPr>
              <a:t>41.7%</a:t>
            </a:r>
          </a:p>
        </p:txBody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C6B3A56A-C236-451A-9C81-0149E0A10CF2}"/>
              </a:ext>
            </a:extLst>
          </p:cNvPr>
          <p:cNvSpPr>
            <a:spLocks noGrp="1"/>
          </p:cNvSpPr>
          <p:nvPr/>
        </p:nvSpPr>
        <p:spPr>
          <a:xfrm>
            <a:off x="11001375" y="3267075"/>
            <a:ext cx="468313" cy="0"/>
          </a:xfrm>
          <a:prstGeom prst="line">
            <a:avLst/>
          </a:prstGeom>
          <a:noFill/>
          <a:ln w="38100">
            <a:solidFill>
              <a:srgbClr val="70649A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A4AA938-87ED-477C-94A6-DF9CF87CE3AC}"/>
              </a:ext>
            </a:extLst>
          </p:cNvPr>
          <p:cNvSpPr>
            <a:spLocks noGrp="1"/>
          </p:cNvSpPr>
          <p:nvPr/>
        </p:nvSpPr>
        <p:spPr>
          <a:xfrm>
            <a:off x="704850" y="3581400"/>
            <a:ext cx="1809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Commonsense micro</a:t>
            </a:r>
          </a:p>
        </p:txBody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D72A0D3D-FA5C-4928-8EC5-F6264F1E725E}"/>
              </a:ext>
            </a:extLst>
          </p:cNvPr>
          <p:cNvSpPr>
            <a:spLocks noGrp="1"/>
          </p:cNvSpPr>
          <p:nvPr/>
        </p:nvSpPr>
        <p:spPr>
          <a:xfrm>
            <a:off x="2571750" y="3733800"/>
            <a:ext cx="8239125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88ECDA0-C7EA-42C9-928F-DADED27DA320}"/>
              </a:ext>
            </a:extLst>
          </p:cNvPr>
          <p:cNvSpPr>
            <a:spLocks noGrp="1"/>
          </p:cNvSpPr>
          <p:nvPr/>
        </p:nvSpPr>
        <p:spPr>
          <a:xfrm>
            <a:off x="2857500" y="348615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79.7%</a:t>
            </a:r>
          </a:p>
        </p:txBody>
      </p:sp>
      <p:sp>
        <p:nvSpPr>
          <p:cNvPr id="31" name="直接连接符 30">
            <a:extLst>
              <a:ext uri="{FF2B5EF4-FFF2-40B4-BE49-F238E27FC236}">
                <a16:creationId xmlns:a16="http://schemas.microsoft.com/office/drawing/2014/main" id="{FF58D73E-1A5E-4DD2-881F-E52E3E7530ED}"/>
              </a:ext>
            </a:extLst>
          </p:cNvPr>
          <p:cNvSpPr>
            <a:spLocks noGrp="1"/>
          </p:cNvSpPr>
          <p:nvPr/>
        </p:nvSpPr>
        <p:spPr>
          <a:xfrm>
            <a:off x="2857500" y="3895725"/>
            <a:ext cx="896038" cy="0"/>
          </a:xfrm>
          <a:prstGeom prst="line">
            <a:avLst/>
          </a:prstGeom>
          <a:noFill/>
          <a:ln w="38100">
            <a:solidFill>
              <a:srgbClr val="245777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C9237EA-D1A5-41A4-9153-B5F0572DC020}"/>
              </a:ext>
            </a:extLst>
          </p:cNvPr>
          <p:cNvSpPr>
            <a:spLocks noGrp="1"/>
          </p:cNvSpPr>
          <p:nvPr/>
        </p:nvSpPr>
        <p:spPr>
          <a:xfrm>
            <a:off x="5572125" y="348615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rPr>
              <a:t>32.2%</a:t>
            </a:r>
          </a:p>
        </p:txBody>
      </p:sp>
      <p:sp>
        <p:nvSpPr>
          <p:cNvPr id="33" name="直接连接符 32">
            <a:extLst>
              <a:ext uri="{FF2B5EF4-FFF2-40B4-BE49-F238E27FC236}">
                <a16:creationId xmlns:a16="http://schemas.microsoft.com/office/drawing/2014/main" id="{7C867F77-3974-4F99-AF41-AC86A44939F9}"/>
              </a:ext>
            </a:extLst>
          </p:cNvPr>
          <p:cNvSpPr>
            <a:spLocks noGrp="1"/>
          </p:cNvSpPr>
          <p:nvPr/>
        </p:nvSpPr>
        <p:spPr>
          <a:xfrm>
            <a:off x="5572125" y="3895725"/>
            <a:ext cx="361381" cy="0"/>
          </a:xfrm>
          <a:prstGeom prst="line">
            <a:avLst/>
          </a:prstGeom>
          <a:noFill/>
          <a:ln w="38100">
            <a:solidFill>
              <a:srgbClr val="D96846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27B1475-B9C1-469F-8337-872405D3E02D}"/>
              </a:ext>
            </a:extLst>
          </p:cNvPr>
          <p:cNvSpPr>
            <a:spLocks noGrp="1"/>
          </p:cNvSpPr>
          <p:nvPr/>
        </p:nvSpPr>
        <p:spPr>
          <a:xfrm>
            <a:off x="8286750" y="348615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36.9%</a:t>
            </a:r>
          </a:p>
        </p:txBody>
      </p:sp>
      <p:sp>
        <p:nvSpPr>
          <p:cNvPr id="35" name="直接连接符 34">
            <a:extLst>
              <a:ext uri="{FF2B5EF4-FFF2-40B4-BE49-F238E27FC236}">
                <a16:creationId xmlns:a16="http://schemas.microsoft.com/office/drawing/2014/main" id="{14F6662A-4553-49D1-993B-6415DD796771}"/>
              </a:ext>
            </a:extLst>
          </p:cNvPr>
          <p:cNvSpPr>
            <a:spLocks noGrp="1"/>
          </p:cNvSpPr>
          <p:nvPr/>
        </p:nvSpPr>
        <p:spPr>
          <a:xfrm>
            <a:off x="8286750" y="3895725"/>
            <a:ext cx="414457" cy="0"/>
          </a:xfrm>
          <a:prstGeom prst="line">
            <a:avLst/>
          </a:prstGeom>
          <a:noFill/>
          <a:ln w="38100">
            <a:solidFill>
              <a:srgbClr val="168474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BBF18FF-3124-4DFA-BA78-167B886D0E97}"/>
              </a:ext>
            </a:extLst>
          </p:cNvPr>
          <p:cNvSpPr>
            <a:spLocks noGrp="1"/>
          </p:cNvSpPr>
          <p:nvPr/>
        </p:nvSpPr>
        <p:spPr>
          <a:xfrm>
            <a:off x="11001375" y="348615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rPr>
              <a:t>37.9%</a:t>
            </a:r>
          </a:p>
        </p:txBody>
      </p:sp>
      <p:sp>
        <p:nvSpPr>
          <p:cNvPr id="37" name="直接连接符 36">
            <a:extLst>
              <a:ext uri="{FF2B5EF4-FFF2-40B4-BE49-F238E27FC236}">
                <a16:creationId xmlns:a16="http://schemas.microsoft.com/office/drawing/2014/main" id="{4AFFA554-5FF5-407B-AE2F-485CE1161C78}"/>
              </a:ext>
            </a:extLst>
          </p:cNvPr>
          <p:cNvSpPr>
            <a:spLocks noGrp="1"/>
          </p:cNvSpPr>
          <p:nvPr/>
        </p:nvSpPr>
        <p:spPr>
          <a:xfrm>
            <a:off x="11001375" y="3895725"/>
            <a:ext cx="426164" cy="0"/>
          </a:xfrm>
          <a:prstGeom prst="line">
            <a:avLst/>
          </a:prstGeom>
          <a:noFill/>
          <a:ln w="38100">
            <a:solidFill>
              <a:srgbClr val="70649A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8F36C99-4719-4865-B633-560ACA869AAF}"/>
              </a:ext>
            </a:extLst>
          </p:cNvPr>
          <p:cNvSpPr>
            <a:spLocks noGrp="1"/>
          </p:cNvSpPr>
          <p:nvPr/>
        </p:nvSpPr>
        <p:spPr>
          <a:xfrm>
            <a:off x="704850" y="4210050"/>
            <a:ext cx="1809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Hard micro</a:t>
            </a:r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D5B0FE3A-A16E-4B18-99C9-ED744CC10CAE}"/>
              </a:ext>
            </a:extLst>
          </p:cNvPr>
          <p:cNvSpPr>
            <a:spLocks noGrp="1"/>
          </p:cNvSpPr>
          <p:nvPr/>
        </p:nvSpPr>
        <p:spPr>
          <a:xfrm>
            <a:off x="2571750" y="4362450"/>
            <a:ext cx="8239125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6E52136-89D4-4473-A392-89A9C3C4DDBE}"/>
              </a:ext>
            </a:extLst>
          </p:cNvPr>
          <p:cNvSpPr>
            <a:spLocks noGrp="1"/>
          </p:cNvSpPr>
          <p:nvPr/>
        </p:nvSpPr>
        <p:spPr>
          <a:xfrm>
            <a:off x="2857500" y="411480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69.5%</a:t>
            </a:r>
          </a:p>
        </p:txBody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4EA5432B-B273-4910-96DF-5819F774D300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781413" cy="0"/>
          </a:xfrm>
          <a:prstGeom prst="line">
            <a:avLst/>
          </a:prstGeom>
          <a:noFill/>
          <a:ln w="38100">
            <a:solidFill>
              <a:srgbClr val="245777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62F041A-FA37-4752-ACEC-984CAFD12FB7}"/>
              </a:ext>
            </a:extLst>
          </p:cNvPr>
          <p:cNvSpPr>
            <a:spLocks noGrp="1"/>
          </p:cNvSpPr>
          <p:nvPr/>
        </p:nvSpPr>
        <p:spPr>
          <a:xfrm>
            <a:off x="5572125" y="411480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rPr>
              <a:t>24.8%</a:t>
            </a:r>
          </a:p>
        </p:txBody>
      </p:sp>
      <p:sp>
        <p:nvSpPr>
          <p:cNvPr id="43" name="直接连接符 42">
            <a:extLst>
              <a:ext uri="{FF2B5EF4-FFF2-40B4-BE49-F238E27FC236}">
                <a16:creationId xmlns:a16="http://schemas.microsoft.com/office/drawing/2014/main" id="{21463EC0-C563-4AA5-B6E7-89733004FC7E}"/>
              </a:ext>
            </a:extLst>
          </p:cNvPr>
          <p:cNvSpPr>
            <a:spLocks noGrp="1"/>
          </p:cNvSpPr>
          <p:nvPr/>
        </p:nvSpPr>
        <p:spPr>
          <a:xfrm>
            <a:off x="5572125" y="4524375"/>
            <a:ext cx="278311" cy="0"/>
          </a:xfrm>
          <a:prstGeom prst="line">
            <a:avLst/>
          </a:prstGeom>
          <a:noFill/>
          <a:ln w="38100">
            <a:solidFill>
              <a:srgbClr val="D96846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BB34ED5-215D-4B7A-8AA7-AA95660122BF}"/>
              </a:ext>
            </a:extLst>
          </p:cNvPr>
          <p:cNvSpPr>
            <a:spLocks noGrp="1"/>
          </p:cNvSpPr>
          <p:nvPr/>
        </p:nvSpPr>
        <p:spPr>
          <a:xfrm>
            <a:off x="8286750" y="411480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31.7%</a:t>
            </a:r>
          </a:p>
        </p:txBody>
      </p:sp>
      <p:sp>
        <p:nvSpPr>
          <p:cNvPr id="45" name="直接连接符 44">
            <a:extLst>
              <a:ext uri="{FF2B5EF4-FFF2-40B4-BE49-F238E27FC236}">
                <a16:creationId xmlns:a16="http://schemas.microsoft.com/office/drawing/2014/main" id="{15867A9F-FE28-4E29-BF9E-475EE438C32D}"/>
              </a:ext>
            </a:extLst>
          </p:cNvPr>
          <p:cNvSpPr>
            <a:spLocks noGrp="1"/>
          </p:cNvSpPr>
          <p:nvPr/>
        </p:nvSpPr>
        <p:spPr>
          <a:xfrm>
            <a:off x="8286750" y="4524375"/>
            <a:ext cx="355918" cy="0"/>
          </a:xfrm>
          <a:prstGeom prst="line">
            <a:avLst/>
          </a:prstGeom>
          <a:noFill/>
          <a:ln w="38100">
            <a:solidFill>
              <a:srgbClr val="168474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56D64AC-E0AD-4AC3-B436-9915EC920FA6}"/>
              </a:ext>
            </a:extLst>
          </p:cNvPr>
          <p:cNvSpPr>
            <a:spLocks noGrp="1"/>
          </p:cNvSpPr>
          <p:nvPr/>
        </p:nvSpPr>
        <p:spPr>
          <a:xfrm>
            <a:off x="11001375" y="411480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rPr>
              <a:t>32.6%</a:t>
            </a:r>
          </a:p>
        </p:txBody>
      </p:sp>
      <p:sp>
        <p:nvSpPr>
          <p:cNvPr id="47" name="直接连接符 46">
            <a:extLst>
              <a:ext uri="{FF2B5EF4-FFF2-40B4-BE49-F238E27FC236}">
                <a16:creationId xmlns:a16="http://schemas.microsoft.com/office/drawing/2014/main" id="{1FC6F4C8-3019-4A27-96C3-A28FC094EA10}"/>
              </a:ext>
            </a:extLst>
          </p:cNvPr>
          <p:cNvSpPr>
            <a:spLocks noGrp="1"/>
          </p:cNvSpPr>
          <p:nvPr/>
        </p:nvSpPr>
        <p:spPr>
          <a:xfrm>
            <a:off x="11001375" y="4524375"/>
            <a:ext cx="366622" cy="0"/>
          </a:xfrm>
          <a:prstGeom prst="line">
            <a:avLst/>
          </a:prstGeom>
          <a:noFill/>
          <a:ln w="38100">
            <a:solidFill>
              <a:srgbClr val="70649A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928E002-6118-41D1-9A81-662B636B664A}"/>
              </a:ext>
            </a:extLst>
          </p:cNvPr>
          <p:cNvSpPr>
            <a:spLocks noGrp="1"/>
          </p:cNvSpPr>
          <p:nvPr/>
        </p:nvSpPr>
        <p:spPr>
          <a:xfrm>
            <a:off x="704850" y="4838700"/>
            <a:ext cx="1809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Final Pass</a:t>
            </a:r>
          </a:p>
        </p:txBody>
      </p:sp>
      <p:sp>
        <p:nvSpPr>
          <p:cNvPr id="49" name="直接连接符 48">
            <a:extLst>
              <a:ext uri="{FF2B5EF4-FFF2-40B4-BE49-F238E27FC236}">
                <a16:creationId xmlns:a16="http://schemas.microsoft.com/office/drawing/2014/main" id="{1A05B3FB-5BEC-479F-9E09-F750640415F0}"/>
              </a:ext>
            </a:extLst>
          </p:cNvPr>
          <p:cNvSpPr>
            <a:spLocks noGrp="1"/>
          </p:cNvSpPr>
          <p:nvPr/>
        </p:nvSpPr>
        <p:spPr>
          <a:xfrm>
            <a:off x="2571750" y="4991100"/>
            <a:ext cx="8239125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5B8D915-049C-4037-9C10-1468FE9186FD}"/>
              </a:ext>
            </a:extLst>
          </p:cNvPr>
          <p:cNvSpPr>
            <a:spLocks noGrp="1"/>
          </p:cNvSpPr>
          <p:nvPr/>
        </p:nvSpPr>
        <p:spPr>
          <a:xfrm>
            <a:off x="2857500" y="474345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13.9%</a:t>
            </a:r>
          </a:p>
        </p:txBody>
      </p:sp>
      <p:sp>
        <p:nvSpPr>
          <p:cNvPr id="51" name="直接连接符 50">
            <a:extLst>
              <a:ext uri="{FF2B5EF4-FFF2-40B4-BE49-F238E27FC236}">
                <a16:creationId xmlns:a16="http://schemas.microsoft.com/office/drawing/2014/main" id="{65D3959B-46CD-4FC3-B827-BD9AEF3D8CA5}"/>
              </a:ext>
            </a:extLst>
          </p:cNvPr>
          <p:cNvSpPr>
            <a:spLocks noGrp="1"/>
          </p:cNvSpPr>
          <p:nvPr/>
        </p:nvSpPr>
        <p:spPr>
          <a:xfrm>
            <a:off x="2857500" y="5153025"/>
            <a:ext cx="156104" cy="0"/>
          </a:xfrm>
          <a:prstGeom prst="line">
            <a:avLst/>
          </a:prstGeom>
          <a:noFill/>
          <a:ln w="38100">
            <a:solidFill>
              <a:srgbClr val="245777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1053098-5F75-436D-BFB7-EEC69418D8FD}"/>
              </a:ext>
            </a:extLst>
          </p:cNvPr>
          <p:cNvSpPr>
            <a:spLocks noGrp="1"/>
          </p:cNvSpPr>
          <p:nvPr/>
        </p:nvSpPr>
        <p:spPr>
          <a:xfrm>
            <a:off x="5572125" y="474345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D96846"/>
                </a:solidFill>
                <a:latin typeface="Noto Serif SC"/>
                <a:ea typeface="Noto Serif SC"/>
                <a:cs typeface="Noto Serif SC"/>
              </a:rPr>
              <a:t>15.6%</a:t>
            </a:r>
          </a:p>
        </p:txBody>
      </p:sp>
      <p:sp>
        <p:nvSpPr>
          <p:cNvPr id="53" name="直接连接符 52">
            <a:extLst>
              <a:ext uri="{FF2B5EF4-FFF2-40B4-BE49-F238E27FC236}">
                <a16:creationId xmlns:a16="http://schemas.microsoft.com/office/drawing/2014/main" id="{8F939BA9-5567-4E6C-B18D-AB2F1B3FE7B3}"/>
              </a:ext>
            </a:extLst>
          </p:cNvPr>
          <p:cNvSpPr>
            <a:spLocks noGrp="1"/>
          </p:cNvSpPr>
          <p:nvPr/>
        </p:nvSpPr>
        <p:spPr>
          <a:xfrm>
            <a:off x="5572125" y="5153025"/>
            <a:ext cx="174837" cy="0"/>
          </a:xfrm>
          <a:prstGeom prst="line">
            <a:avLst/>
          </a:prstGeom>
          <a:noFill/>
          <a:ln w="38100">
            <a:solidFill>
              <a:srgbClr val="D96846"/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05552DD-C52A-4F18-BD32-774CD240BBF4}"/>
              </a:ext>
            </a:extLst>
          </p:cNvPr>
          <p:cNvSpPr>
            <a:spLocks noGrp="1"/>
          </p:cNvSpPr>
          <p:nvPr/>
        </p:nvSpPr>
        <p:spPr>
          <a:xfrm>
            <a:off x="8286750" y="474345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16.1%</a:t>
            </a:r>
          </a:p>
        </p:txBody>
      </p:sp>
      <p:sp>
        <p:nvSpPr>
          <p:cNvPr id="55" name="直接连接符 54">
            <a:extLst>
              <a:ext uri="{FF2B5EF4-FFF2-40B4-BE49-F238E27FC236}">
                <a16:creationId xmlns:a16="http://schemas.microsoft.com/office/drawing/2014/main" id="{7C1E1F5A-E3FB-4661-843E-E1E5637A4FDB}"/>
              </a:ext>
            </a:extLst>
          </p:cNvPr>
          <p:cNvSpPr>
            <a:spLocks noGrp="1"/>
          </p:cNvSpPr>
          <p:nvPr/>
        </p:nvSpPr>
        <p:spPr>
          <a:xfrm>
            <a:off x="8286750" y="5153025"/>
            <a:ext cx="181081" cy="0"/>
          </a:xfrm>
          <a:prstGeom prst="line">
            <a:avLst/>
          </a:prstGeom>
          <a:noFill/>
          <a:ln w="38100">
            <a:solidFill>
              <a:srgbClr val="168474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87D2F44-EA90-49BD-B37E-962CB7B4DDD2}"/>
              </a:ext>
            </a:extLst>
          </p:cNvPr>
          <p:cNvSpPr>
            <a:spLocks noGrp="1"/>
          </p:cNvSpPr>
          <p:nvPr/>
        </p:nvSpPr>
        <p:spPr>
          <a:xfrm>
            <a:off x="11001375" y="4743450"/>
            <a:ext cx="10477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924" lnSpcReduction="10000"/>
          </a:bodyPr>
          <a:lstStyle/>
          <a:p>
            <a:pPr algn="l">
              <a:buNone/>
              <a:def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rPr>
              <a:t>16.1%</a:t>
            </a:r>
          </a:p>
        </p:txBody>
      </p:sp>
      <p:sp>
        <p:nvSpPr>
          <p:cNvPr id="57" name="直接连接符 56">
            <a:extLst>
              <a:ext uri="{FF2B5EF4-FFF2-40B4-BE49-F238E27FC236}">
                <a16:creationId xmlns:a16="http://schemas.microsoft.com/office/drawing/2014/main" id="{F5F67A31-1A59-4763-B0C5-D1C08ACC72A4}"/>
              </a:ext>
            </a:extLst>
          </p:cNvPr>
          <p:cNvSpPr>
            <a:spLocks noGrp="1"/>
          </p:cNvSpPr>
          <p:nvPr/>
        </p:nvSpPr>
        <p:spPr>
          <a:xfrm>
            <a:off x="11001375" y="5153025"/>
            <a:ext cx="181081" cy="0"/>
          </a:xfrm>
          <a:prstGeom prst="line">
            <a:avLst/>
          </a:prstGeom>
          <a:noFill/>
          <a:ln w="38100">
            <a:solidFill>
              <a:srgbClr val="70649A"/>
            </a:solidFill>
            <a:prstDash val="solid"/>
          </a:ln>
        </p:spPr>
      </p:sp>
      <p:sp>
        <p:nvSpPr>
          <p:cNvPr id="58" name="直接连接符 57">
            <a:extLst>
              <a:ext uri="{FF2B5EF4-FFF2-40B4-BE49-F238E27FC236}">
                <a16:creationId xmlns:a16="http://schemas.microsoft.com/office/drawing/2014/main" id="{4E99804B-7C03-48A0-B1BD-378C21C11E26}"/>
              </a:ext>
            </a:extLst>
          </p:cNvPr>
          <p:cNvSpPr>
            <a:spLocks noGrp="1"/>
          </p:cNvSpPr>
          <p:nvPr/>
        </p:nvSpPr>
        <p:spPr>
          <a:xfrm>
            <a:off x="666750" y="558165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41EC94E-0127-4FA2-BADA-50BE45DC2744}"/>
              </a:ext>
            </a:extLst>
          </p:cNvPr>
          <p:cNvSpPr>
            <a:spLocks noGrp="1"/>
          </p:cNvSpPr>
          <p:nvPr/>
        </p:nvSpPr>
        <p:spPr>
          <a:xfrm>
            <a:off x="704850" y="5781675"/>
            <a:ext cx="1619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75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COST PER QUERY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41EC4B5-9AEA-4EE9-B785-53F9B9767A0D}"/>
              </a:ext>
            </a:extLst>
          </p:cNvPr>
          <p:cNvSpPr>
            <a:spLocks noGrp="1"/>
          </p:cNvSpPr>
          <p:nvPr/>
        </p:nvSpPr>
        <p:spPr>
          <a:xfrm>
            <a:off x="2405062" y="5714392"/>
            <a:ext cx="5238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845" lnSpcReduction="10000"/>
          </a:bodyPr>
          <a:lstStyle/>
          <a:p>
            <a:pPr algn="l">
              <a:buNone/>
              <a:defRPr sz="9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100" b="1" dirty="0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TP-A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F08EE4FD-8D6C-416E-B516-9B997ED725A5}"/>
              </a:ext>
            </a:extLst>
          </p:cNvPr>
          <p:cNvSpPr>
            <a:spLocks noGrp="1"/>
          </p:cNvSpPr>
          <p:nvPr/>
        </p:nvSpPr>
        <p:spPr>
          <a:xfrm>
            <a:off x="2847975" y="5715000"/>
            <a:ext cx="1785938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5634" lnSpcReduction="20000"/>
          </a:bodyPr>
          <a:lstStyle/>
          <a:p>
            <a:pPr algn="l">
              <a:buNone/>
              <a:defRPr sz="8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10.9k tokens   0.0 tools   4.7s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31F1FCAE-CE7F-409A-869E-C73DBA655797}"/>
              </a:ext>
            </a:extLst>
          </p:cNvPr>
          <p:cNvSpPr>
            <a:spLocks noGrp="1"/>
          </p:cNvSpPr>
          <p:nvPr/>
        </p:nvSpPr>
        <p:spPr>
          <a:xfrm>
            <a:off x="4662488" y="5710236"/>
            <a:ext cx="5238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90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TP-B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A1F6553-20EA-42B5-BDC4-618E81A6DABA}"/>
              </a:ext>
            </a:extLst>
          </p:cNvPr>
          <p:cNvSpPr>
            <a:spLocks noGrp="1"/>
          </p:cNvSpPr>
          <p:nvPr/>
        </p:nvSpPr>
        <p:spPr>
          <a:xfrm>
            <a:off x="5076826" y="5695949"/>
            <a:ext cx="1916552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634" lnSpcReduction="10000"/>
          </a:bodyPr>
          <a:lstStyle/>
          <a:p>
            <a:pPr algn="l">
              <a:buNone/>
              <a:defRPr sz="8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57.6k tokens   19.4 tools   38.6s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C3AA64-0FC7-4CCB-9876-F8F7FF4B9183}"/>
              </a:ext>
            </a:extLst>
          </p:cNvPr>
          <p:cNvSpPr>
            <a:spLocks noGrp="1"/>
          </p:cNvSpPr>
          <p:nvPr/>
        </p:nvSpPr>
        <p:spPr>
          <a:xfrm>
            <a:off x="6912416" y="5695949"/>
            <a:ext cx="5238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9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TP-C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D4301B2-BF28-42A0-901F-A46C262AC739}"/>
              </a:ext>
            </a:extLst>
          </p:cNvPr>
          <p:cNvSpPr>
            <a:spLocks noGrp="1"/>
          </p:cNvSpPr>
          <p:nvPr/>
        </p:nvSpPr>
        <p:spPr>
          <a:xfrm>
            <a:off x="7338306" y="5691185"/>
            <a:ext cx="193357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634" lnSpcReduction="10000"/>
          </a:bodyPr>
          <a:lstStyle/>
          <a:p>
            <a:pPr algn="l">
              <a:buNone/>
              <a:defRPr sz="8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56.0k tokens   17.8 tools   39.5s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618AC2E3-8573-4092-A1A3-44D491B87D4D}"/>
              </a:ext>
            </a:extLst>
          </p:cNvPr>
          <p:cNvSpPr>
            <a:spLocks noGrp="1"/>
          </p:cNvSpPr>
          <p:nvPr/>
        </p:nvSpPr>
        <p:spPr>
          <a:xfrm>
            <a:off x="9329440" y="5714392"/>
            <a:ext cx="5238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900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TP-D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8D84CC-592F-47E6-B341-934C6DE6C008}"/>
              </a:ext>
            </a:extLst>
          </p:cNvPr>
          <p:cNvSpPr>
            <a:spLocks noGrp="1"/>
          </p:cNvSpPr>
          <p:nvPr/>
        </p:nvSpPr>
        <p:spPr>
          <a:xfrm>
            <a:off x="9786938" y="5724527"/>
            <a:ext cx="2139072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134" lnSpcReduction="10000"/>
          </a:bodyPr>
          <a:lstStyle/>
          <a:p>
            <a:pPr algn="l">
              <a:buNone/>
              <a:defRPr sz="8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63.0k tokens   17.6 tools   44.3s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2CE86F60-E124-409C-827B-9D4A12BCB91A}"/>
              </a:ext>
            </a:extLst>
          </p:cNvPr>
          <p:cNvSpPr>
            <a:spLocks noGrp="1"/>
          </p:cNvSpPr>
          <p:nvPr/>
        </p:nvSpPr>
        <p:spPr>
          <a:xfrm>
            <a:off x="1666875" y="6015340"/>
            <a:ext cx="8772525" cy="4137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620"/>
          </a:bodyPr>
          <a:lstStyle/>
          <a:p>
            <a:pPr algn="l">
              <a:buNone/>
              <a:defRPr sz="1050" b="1">
                <a:solidFill>
                  <a:srgbClr val="B94C45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B94C45"/>
                </a:solidFill>
                <a:latin typeface="Noto Sans SC"/>
                <a:ea typeface="Noto Sans SC"/>
                <a:cs typeface="Noto Sans SC"/>
              </a:rPr>
              <a:t>Only one additional Final Pass separates B from C. D adds 1.26M tokens over C.</a:t>
            </a:r>
          </a:p>
        </p:txBody>
      </p:sp>
      <p:sp>
        <p:nvSpPr>
          <p:cNvPr id="69" name="直接连接符 68">
            <a:extLst>
              <a:ext uri="{FF2B5EF4-FFF2-40B4-BE49-F238E27FC236}">
                <a16:creationId xmlns:a16="http://schemas.microsoft.com/office/drawing/2014/main" id="{F6EFE6AA-1009-4E7A-A19B-D6AEF7229E74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0C6E462-1397-4BED-B6E2-3BE7968C0DC7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Source: frozen TravelPlanner validation results (n=180 per stage); results_master.json.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A27FF08-2C1F-44E0-AF14-0ABF729C9A80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7150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 73">
            <a:extLst>
              <a:ext uri="{FF2B5EF4-FFF2-40B4-BE49-F238E27FC236}">
                <a16:creationId xmlns:a16="http://schemas.microsoft.com/office/drawing/2014/main" id="{27CB7EEE-4F7F-4D42-AD3E-C3CE24F9ED25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7C95206-79F9-4EFC-B264-0E076F0FE5F6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TRAVELPLANNER · B TO C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7F4621-24DB-42E5-AC72-C79FA7471D54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2711" lnSpcReduction="10000"/>
          </a:bodyPr>
          <a:lstStyle/>
          <a:p>
            <a:pPr algn="l">
              <a:buNone/>
              <a:defRPr sz="24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The Planner recovered delivery but left long-horizon correctness unresolved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8298F9B-812C-4C66-95BA-167AD45CAB8E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B/C holds the query-only information condition, official tools, output contract, and 30-call budget constant.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9E1233E-F4CF-48D1-BF2A-F0A1C89354AF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5B6E45-FB8A-4830-9999-59FEFD4F526C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22860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MECHANISM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AB45832-AC9C-4F29-AB76-9F9CF359246C}"/>
              </a:ext>
            </a:extLst>
          </p:cNvPr>
          <p:cNvSpPr>
            <a:spLocks noGrp="1"/>
          </p:cNvSpPr>
          <p:nvPr/>
        </p:nvSpPr>
        <p:spPr>
          <a:xfrm>
            <a:off x="704850" y="2505075"/>
            <a:ext cx="14763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Delivery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292F4180-5F0B-4833-906C-D77EF245E6CA}"/>
              </a:ext>
            </a:extLst>
          </p:cNvPr>
          <p:cNvSpPr>
            <a:spLocks noGrp="1"/>
          </p:cNvSpPr>
          <p:nvPr/>
        </p:nvSpPr>
        <p:spPr>
          <a:xfrm>
            <a:off x="2190750" y="2638425"/>
            <a:ext cx="2381250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29C70652-E11A-406C-9DCD-54F48278568E}"/>
              </a:ext>
            </a:extLst>
          </p:cNvPr>
          <p:cNvSpPr>
            <a:spLocks noGrp="1"/>
          </p:cNvSpPr>
          <p:nvPr/>
        </p:nvSpPr>
        <p:spPr>
          <a:xfrm>
            <a:off x="2438400" y="2552700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EAB3633E-5308-497C-A29F-5927F2C14FE7}"/>
              </a:ext>
            </a:extLst>
          </p:cNvPr>
          <p:cNvSpPr>
            <a:spLocks noGrp="1"/>
          </p:cNvSpPr>
          <p:nvPr/>
        </p:nvSpPr>
        <p:spPr>
          <a:xfrm>
            <a:off x="4057650" y="2552700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69C35C7-1F35-421D-9F84-86F8506A776A}"/>
              </a:ext>
            </a:extLst>
          </p:cNvPr>
          <p:cNvSpPr>
            <a:spLocks noGrp="1"/>
          </p:cNvSpPr>
          <p:nvPr/>
        </p:nvSpPr>
        <p:spPr>
          <a:xfrm>
            <a:off x="2190750" y="231457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35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B6B865B-266B-42B9-8F7F-E5D5A7046F1C}"/>
              </a:ext>
            </a:extLst>
          </p:cNvPr>
          <p:cNvSpPr>
            <a:spLocks noGrp="1"/>
          </p:cNvSpPr>
          <p:nvPr/>
        </p:nvSpPr>
        <p:spPr>
          <a:xfrm>
            <a:off x="3810000" y="275272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40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86DEA3-872F-4C93-8625-6BA0C886E362}"/>
              </a:ext>
            </a:extLst>
          </p:cNvPr>
          <p:cNvSpPr>
            <a:spLocks noGrp="1"/>
          </p:cNvSpPr>
          <p:nvPr/>
        </p:nvSpPr>
        <p:spPr>
          <a:xfrm>
            <a:off x="4762500" y="2505075"/>
            <a:ext cx="10001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 lnSpcReduction="10000"/>
          </a:bodyPr>
          <a:lstStyle/>
          <a:p>
            <a:pPr algn="r">
              <a:buNone/>
              <a:defRPr sz="10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+5.0 pp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6141B2-3FC6-4878-89D0-6CB9CBCAD8F2}"/>
              </a:ext>
            </a:extLst>
          </p:cNvPr>
          <p:cNvSpPr>
            <a:spLocks noGrp="1"/>
          </p:cNvSpPr>
          <p:nvPr/>
        </p:nvSpPr>
        <p:spPr>
          <a:xfrm>
            <a:off x="704850" y="3190875"/>
            <a:ext cx="14763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Final Pass</a:t>
            </a: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AB3B370C-2CE9-48F9-98AC-F2DF84B4D8F4}"/>
              </a:ext>
            </a:extLst>
          </p:cNvPr>
          <p:cNvSpPr>
            <a:spLocks noGrp="1"/>
          </p:cNvSpPr>
          <p:nvPr/>
        </p:nvSpPr>
        <p:spPr>
          <a:xfrm>
            <a:off x="2190750" y="3324225"/>
            <a:ext cx="2381250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E082AF46-941F-4D71-80CE-166535185699}"/>
              </a:ext>
            </a:extLst>
          </p:cNvPr>
          <p:cNvSpPr>
            <a:spLocks noGrp="1"/>
          </p:cNvSpPr>
          <p:nvPr/>
        </p:nvSpPr>
        <p:spPr>
          <a:xfrm>
            <a:off x="2438400" y="3238500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4A2D0F2-270B-4AD5-BD1C-3E3870442D81}"/>
              </a:ext>
            </a:extLst>
          </p:cNvPr>
          <p:cNvSpPr>
            <a:spLocks noGrp="1"/>
          </p:cNvSpPr>
          <p:nvPr/>
        </p:nvSpPr>
        <p:spPr>
          <a:xfrm>
            <a:off x="3328987" y="3238500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34C3C70-2F95-46C8-B472-9B3B50DB5B1C}"/>
              </a:ext>
            </a:extLst>
          </p:cNvPr>
          <p:cNvSpPr>
            <a:spLocks noGrp="1"/>
          </p:cNvSpPr>
          <p:nvPr/>
        </p:nvSpPr>
        <p:spPr>
          <a:xfrm>
            <a:off x="2190750" y="300037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15.56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2884D4F-93C3-4555-9FC7-9BA162EB5846}"/>
              </a:ext>
            </a:extLst>
          </p:cNvPr>
          <p:cNvSpPr>
            <a:spLocks noGrp="1"/>
          </p:cNvSpPr>
          <p:nvPr/>
        </p:nvSpPr>
        <p:spPr>
          <a:xfrm>
            <a:off x="3081337" y="343852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16.11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E95182D-CA38-4C21-9E48-84AE5BB094EB}"/>
              </a:ext>
            </a:extLst>
          </p:cNvPr>
          <p:cNvSpPr>
            <a:spLocks noGrp="1"/>
          </p:cNvSpPr>
          <p:nvPr/>
        </p:nvSpPr>
        <p:spPr>
          <a:xfrm>
            <a:off x="4762500" y="3190875"/>
            <a:ext cx="10001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 lnSpcReduction="10000"/>
          </a:bodyPr>
          <a:lstStyle/>
          <a:p>
            <a:pPr algn="r">
              <a:buNone/>
              <a:defRPr sz="10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+0.56 pp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319EF54-18EC-4732-ACCC-AABDE26129D3}"/>
              </a:ext>
            </a:extLst>
          </p:cNvPr>
          <p:cNvSpPr>
            <a:spLocks noGrp="1"/>
          </p:cNvSpPr>
          <p:nvPr/>
        </p:nvSpPr>
        <p:spPr>
          <a:xfrm>
            <a:off x="704850" y="3876675"/>
            <a:ext cx="14763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Tokens / query</a:t>
            </a:r>
          </a:p>
        </p:txBody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69EBC4B2-3091-4334-96F8-C67B8E66A517}"/>
              </a:ext>
            </a:extLst>
          </p:cNvPr>
          <p:cNvSpPr>
            <a:spLocks noGrp="1"/>
          </p:cNvSpPr>
          <p:nvPr/>
        </p:nvSpPr>
        <p:spPr>
          <a:xfrm>
            <a:off x="2190750" y="4010025"/>
            <a:ext cx="2381250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84590BFD-57B5-4F86-AE84-0783D37825B0}"/>
              </a:ext>
            </a:extLst>
          </p:cNvPr>
          <p:cNvSpPr>
            <a:spLocks noGrp="1"/>
          </p:cNvSpPr>
          <p:nvPr/>
        </p:nvSpPr>
        <p:spPr>
          <a:xfrm>
            <a:off x="4057650" y="3924300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92B2448F-9206-444C-AD48-F1703C847A52}"/>
              </a:ext>
            </a:extLst>
          </p:cNvPr>
          <p:cNvSpPr>
            <a:spLocks noGrp="1"/>
          </p:cNvSpPr>
          <p:nvPr/>
        </p:nvSpPr>
        <p:spPr>
          <a:xfrm>
            <a:off x="2438400" y="3924300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ED6150-0F8B-4C26-A322-898062BB76F2}"/>
              </a:ext>
            </a:extLst>
          </p:cNvPr>
          <p:cNvSpPr>
            <a:spLocks noGrp="1"/>
          </p:cNvSpPr>
          <p:nvPr/>
        </p:nvSpPr>
        <p:spPr>
          <a:xfrm>
            <a:off x="3810000" y="368617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57.64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467C98B-B2D1-40BA-A7AE-9E9E0771CF23}"/>
              </a:ext>
            </a:extLst>
          </p:cNvPr>
          <p:cNvSpPr>
            <a:spLocks noGrp="1"/>
          </p:cNvSpPr>
          <p:nvPr/>
        </p:nvSpPr>
        <p:spPr>
          <a:xfrm>
            <a:off x="2190750" y="412432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55.98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9EE2F7F-EA2C-487E-B9DB-C678B92AEFCF}"/>
              </a:ext>
            </a:extLst>
          </p:cNvPr>
          <p:cNvSpPr>
            <a:spLocks noGrp="1"/>
          </p:cNvSpPr>
          <p:nvPr/>
        </p:nvSpPr>
        <p:spPr>
          <a:xfrm>
            <a:off x="4762500" y="3876675"/>
            <a:ext cx="10001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 lnSpcReduction="10000"/>
          </a:bodyPr>
          <a:lstStyle/>
          <a:p>
            <a:pPr algn="r">
              <a:buNone/>
              <a:def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−2.9%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822BD08-1FD6-432D-8747-5A6E263DF078}"/>
              </a:ext>
            </a:extLst>
          </p:cNvPr>
          <p:cNvSpPr>
            <a:spLocks noGrp="1"/>
          </p:cNvSpPr>
          <p:nvPr/>
        </p:nvSpPr>
        <p:spPr>
          <a:xfrm>
            <a:off x="704850" y="4562475"/>
            <a:ext cx="14763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Tools / query</a:t>
            </a:r>
          </a:p>
        </p:txBody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F35EE971-0BBB-4A96-94FC-3CD7CADEA797}"/>
              </a:ext>
            </a:extLst>
          </p:cNvPr>
          <p:cNvSpPr>
            <a:spLocks noGrp="1"/>
          </p:cNvSpPr>
          <p:nvPr/>
        </p:nvSpPr>
        <p:spPr>
          <a:xfrm>
            <a:off x="2190750" y="4695825"/>
            <a:ext cx="2381250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6C82F169-4F7E-4D7D-AE2D-8B6648F83EC7}"/>
              </a:ext>
            </a:extLst>
          </p:cNvPr>
          <p:cNvSpPr>
            <a:spLocks noGrp="1"/>
          </p:cNvSpPr>
          <p:nvPr/>
        </p:nvSpPr>
        <p:spPr>
          <a:xfrm>
            <a:off x="4057650" y="4610100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A4088D3-213B-4672-9F84-811FE31747D6}"/>
              </a:ext>
            </a:extLst>
          </p:cNvPr>
          <p:cNvSpPr>
            <a:spLocks noGrp="1"/>
          </p:cNvSpPr>
          <p:nvPr/>
        </p:nvSpPr>
        <p:spPr>
          <a:xfrm>
            <a:off x="2438400" y="4610100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8E6BDEF-EE4D-42C5-BE91-D4941B27011B}"/>
              </a:ext>
            </a:extLst>
          </p:cNvPr>
          <p:cNvSpPr>
            <a:spLocks noGrp="1"/>
          </p:cNvSpPr>
          <p:nvPr/>
        </p:nvSpPr>
        <p:spPr>
          <a:xfrm>
            <a:off x="3810000" y="437197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19.43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C919778-A5E4-47FC-9CA2-69CDC97A3AAE}"/>
              </a:ext>
            </a:extLst>
          </p:cNvPr>
          <p:cNvSpPr>
            <a:spLocks noGrp="1"/>
          </p:cNvSpPr>
          <p:nvPr/>
        </p:nvSpPr>
        <p:spPr>
          <a:xfrm>
            <a:off x="2190750" y="4810125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17.83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A77CDEA-D620-4C5F-B122-1BC31BD79E7B}"/>
              </a:ext>
            </a:extLst>
          </p:cNvPr>
          <p:cNvSpPr>
            <a:spLocks noGrp="1"/>
          </p:cNvSpPr>
          <p:nvPr/>
        </p:nvSpPr>
        <p:spPr>
          <a:xfrm>
            <a:off x="4762500" y="4562475"/>
            <a:ext cx="10001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667" lnSpcReduction="10000"/>
          </a:bodyPr>
          <a:lstStyle/>
          <a:p>
            <a:pPr algn="r">
              <a:buNone/>
              <a:def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−8.2%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6B6F548-813F-40CE-84F3-A5BF354D57B6}"/>
              </a:ext>
            </a:extLst>
          </p:cNvPr>
          <p:cNvSpPr>
            <a:spLocks noGrp="1"/>
          </p:cNvSpPr>
          <p:nvPr/>
        </p:nvSpPr>
        <p:spPr>
          <a:xfrm>
            <a:off x="704850" y="5286375"/>
            <a:ext cx="2519869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259"/>
          </a:bodyPr>
          <a:lstStyle/>
          <a:p>
            <a:pPr algn="l">
              <a:buNone/>
              <a:defRPr sz="9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Primary agent-control failures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32EF3A2-2F71-4BC1-A0FC-1E407320F9D2}"/>
              </a:ext>
            </a:extLst>
          </p:cNvPr>
          <p:cNvSpPr>
            <a:spLocks noGrp="1"/>
          </p:cNvSpPr>
          <p:nvPr/>
        </p:nvSpPr>
        <p:spPr>
          <a:xfrm>
            <a:off x="3328987" y="5243513"/>
            <a:ext cx="180975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000" lnSpcReduction="10000"/>
          </a:bodyPr>
          <a:lstStyle/>
          <a:p>
            <a:pPr algn="l">
              <a:buNone/>
              <a:defRPr sz="1875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875" b="1" dirty="0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117 → 108</a:t>
            </a:r>
          </a:p>
        </p:txBody>
      </p:sp>
      <p:sp>
        <p:nvSpPr>
          <p:cNvPr id="37" name="直接连接符 36">
            <a:extLst>
              <a:ext uri="{FF2B5EF4-FFF2-40B4-BE49-F238E27FC236}">
                <a16:creationId xmlns:a16="http://schemas.microsoft.com/office/drawing/2014/main" id="{0144FFE7-C630-4A42-92AA-27FD6CDA05E1}"/>
              </a:ext>
            </a:extLst>
          </p:cNvPr>
          <p:cNvSpPr>
            <a:spLocks noGrp="1"/>
          </p:cNvSpPr>
          <p:nvPr/>
        </p:nvSpPr>
        <p:spPr>
          <a:xfrm>
            <a:off x="6048375" y="2000250"/>
            <a:ext cx="0" cy="371475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1D08958-BB68-4995-A01A-DCB8D4FFE9B5}"/>
              </a:ext>
            </a:extLst>
          </p:cNvPr>
          <p:cNvSpPr>
            <a:spLocks noGrp="1"/>
          </p:cNvSpPr>
          <p:nvPr/>
        </p:nvSpPr>
        <p:spPr>
          <a:xfrm>
            <a:off x="6477000" y="2009775"/>
            <a:ext cx="2857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FINAL PASS BY HORIZON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E5B208D-1FF2-405C-968B-E7EEACD7C656}"/>
              </a:ext>
            </a:extLst>
          </p:cNvPr>
          <p:cNvSpPr>
            <a:spLocks noGrp="1"/>
          </p:cNvSpPr>
          <p:nvPr/>
        </p:nvSpPr>
        <p:spPr>
          <a:xfrm>
            <a:off x="6477000" y="2600325"/>
            <a:ext cx="6191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TP-A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6153BC9-21F0-457B-9336-AE74EAFD0EDC}"/>
              </a:ext>
            </a:extLst>
          </p:cNvPr>
          <p:cNvSpPr>
            <a:spLocks noGrp="1"/>
          </p:cNvSpPr>
          <p:nvPr/>
        </p:nvSpPr>
        <p:spPr>
          <a:xfrm>
            <a:off x="7286625" y="25050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168474"/>
          </a:solidFill>
          <a:ln w="0">
            <a:solidFill>
              <a:srgbClr val="168474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FCD2BFD-5410-4AC4-B275-7E9ABBABA15F}"/>
              </a:ext>
            </a:extLst>
          </p:cNvPr>
          <p:cNvSpPr>
            <a:spLocks noGrp="1"/>
          </p:cNvSpPr>
          <p:nvPr/>
        </p:nvSpPr>
        <p:spPr>
          <a:xfrm>
            <a:off x="7286625" y="25717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25%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6B9C3D2D-D8B6-42E8-895C-92D923DE860C}"/>
              </a:ext>
            </a:extLst>
          </p:cNvPr>
          <p:cNvSpPr>
            <a:spLocks noGrp="1"/>
          </p:cNvSpPr>
          <p:nvPr/>
        </p:nvSpPr>
        <p:spPr>
          <a:xfrm>
            <a:off x="8467725" y="25050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BB8A2B"/>
          </a:solidFill>
          <a:ln w="0">
            <a:solidFill>
              <a:srgbClr val="BB8A2B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A09D8CB-9385-4EC6-96FE-326220162A20}"/>
              </a:ext>
            </a:extLst>
          </p:cNvPr>
          <p:cNvSpPr>
            <a:spLocks noGrp="1"/>
          </p:cNvSpPr>
          <p:nvPr/>
        </p:nvSpPr>
        <p:spPr>
          <a:xfrm>
            <a:off x="8467725" y="25717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13%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D481012B-01F3-4129-A081-66DC3942600B}"/>
              </a:ext>
            </a:extLst>
          </p:cNvPr>
          <p:cNvSpPr>
            <a:spLocks noGrp="1"/>
          </p:cNvSpPr>
          <p:nvPr/>
        </p:nvSpPr>
        <p:spPr>
          <a:xfrm>
            <a:off x="9648825" y="25050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D96846"/>
          </a:solidFill>
          <a:ln w="0">
            <a:solidFill>
              <a:srgbClr val="D96846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B1CF707-1D16-43CD-90B9-A1882C1FF15B}"/>
              </a:ext>
            </a:extLst>
          </p:cNvPr>
          <p:cNvSpPr>
            <a:spLocks noGrp="1"/>
          </p:cNvSpPr>
          <p:nvPr/>
        </p:nvSpPr>
        <p:spPr>
          <a:xfrm>
            <a:off x="9648825" y="25717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3%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4DEDF1E-A1C7-4954-83DF-C04A59169D73}"/>
              </a:ext>
            </a:extLst>
          </p:cNvPr>
          <p:cNvSpPr>
            <a:spLocks noGrp="1"/>
          </p:cNvSpPr>
          <p:nvPr/>
        </p:nvSpPr>
        <p:spPr>
          <a:xfrm>
            <a:off x="6477000" y="3286125"/>
            <a:ext cx="6191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TP-B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CC844819-DEF1-4FAF-96E3-012795382C8A}"/>
              </a:ext>
            </a:extLst>
          </p:cNvPr>
          <p:cNvSpPr>
            <a:spLocks noGrp="1"/>
          </p:cNvSpPr>
          <p:nvPr/>
        </p:nvSpPr>
        <p:spPr>
          <a:xfrm>
            <a:off x="7286625" y="31908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168474"/>
          </a:solidFill>
          <a:ln w="0">
            <a:solidFill>
              <a:srgbClr val="168474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60FBE77-4A48-4027-9AD4-988700BFFCD4}"/>
              </a:ext>
            </a:extLst>
          </p:cNvPr>
          <p:cNvSpPr>
            <a:spLocks noGrp="1"/>
          </p:cNvSpPr>
          <p:nvPr/>
        </p:nvSpPr>
        <p:spPr>
          <a:xfrm>
            <a:off x="7286625" y="32575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33%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FE1357D5-2074-44DD-B20E-4B2A7FA7926B}"/>
              </a:ext>
            </a:extLst>
          </p:cNvPr>
          <p:cNvSpPr>
            <a:spLocks noGrp="1"/>
          </p:cNvSpPr>
          <p:nvPr/>
        </p:nvSpPr>
        <p:spPr>
          <a:xfrm>
            <a:off x="8467725" y="31908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BB8A2B"/>
          </a:solidFill>
          <a:ln w="0">
            <a:solidFill>
              <a:srgbClr val="BB8A2B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477DB89-26C8-4D2C-8CF7-A94B12144B42}"/>
              </a:ext>
            </a:extLst>
          </p:cNvPr>
          <p:cNvSpPr>
            <a:spLocks noGrp="1"/>
          </p:cNvSpPr>
          <p:nvPr/>
        </p:nvSpPr>
        <p:spPr>
          <a:xfrm>
            <a:off x="8467725" y="32575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10%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7D15795F-6924-4DC9-9CA4-75540097D986}"/>
              </a:ext>
            </a:extLst>
          </p:cNvPr>
          <p:cNvSpPr>
            <a:spLocks noGrp="1"/>
          </p:cNvSpPr>
          <p:nvPr/>
        </p:nvSpPr>
        <p:spPr>
          <a:xfrm>
            <a:off x="9648825" y="31908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D96846"/>
          </a:solidFill>
          <a:ln w="0">
            <a:solidFill>
              <a:srgbClr val="D96846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981E4C4A-B1A8-47D3-82F7-9FDD5FDEC8CF}"/>
              </a:ext>
            </a:extLst>
          </p:cNvPr>
          <p:cNvSpPr>
            <a:spLocks noGrp="1"/>
          </p:cNvSpPr>
          <p:nvPr/>
        </p:nvSpPr>
        <p:spPr>
          <a:xfrm>
            <a:off x="9648825" y="32575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3%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FA42CCF-68F9-4A67-8256-7F1DD8F325E3}"/>
              </a:ext>
            </a:extLst>
          </p:cNvPr>
          <p:cNvSpPr>
            <a:spLocks noGrp="1"/>
          </p:cNvSpPr>
          <p:nvPr/>
        </p:nvSpPr>
        <p:spPr>
          <a:xfrm>
            <a:off x="6477000" y="3971925"/>
            <a:ext cx="6191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TP-C</a:t>
            </a: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997F3DC5-919F-4073-AB51-221FEF99778B}"/>
              </a:ext>
            </a:extLst>
          </p:cNvPr>
          <p:cNvSpPr>
            <a:spLocks noGrp="1"/>
          </p:cNvSpPr>
          <p:nvPr/>
        </p:nvSpPr>
        <p:spPr>
          <a:xfrm>
            <a:off x="7286625" y="38766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168474"/>
          </a:solidFill>
          <a:ln w="0">
            <a:solidFill>
              <a:srgbClr val="168474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DB94058-16E6-43B1-8311-D2F0F7B55AFD}"/>
              </a:ext>
            </a:extLst>
          </p:cNvPr>
          <p:cNvSpPr>
            <a:spLocks noGrp="1"/>
          </p:cNvSpPr>
          <p:nvPr/>
        </p:nvSpPr>
        <p:spPr>
          <a:xfrm>
            <a:off x="7286625" y="39433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38%</a:t>
            </a: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FAB96CF2-4530-4298-8AF3-B001EB8E821E}"/>
              </a:ext>
            </a:extLst>
          </p:cNvPr>
          <p:cNvSpPr>
            <a:spLocks noGrp="1"/>
          </p:cNvSpPr>
          <p:nvPr/>
        </p:nvSpPr>
        <p:spPr>
          <a:xfrm>
            <a:off x="8467725" y="38766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D96846"/>
          </a:solidFill>
          <a:ln w="0">
            <a:solidFill>
              <a:srgbClr val="D96846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3FB7DEF-9D56-435D-A891-F4C7CB9EB8A0}"/>
              </a:ext>
            </a:extLst>
          </p:cNvPr>
          <p:cNvSpPr>
            <a:spLocks noGrp="1"/>
          </p:cNvSpPr>
          <p:nvPr/>
        </p:nvSpPr>
        <p:spPr>
          <a:xfrm>
            <a:off x="8467725" y="39433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8%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CF51003C-13C3-4C0F-B416-867E4B619AD0}"/>
              </a:ext>
            </a:extLst>
          </p:cNvPr>
          <p:cNvSpPr>
            <a:spLocks noGrp="1"/>
          </p:cNvSpPr>
          <p:nvPr/>
        </p:nvSpPr>
        <p:spPr>
          <a:xfrm>
            <a:off x="9648825" y="38766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D96846"/>
          </a:solidFill>
          <a:ln w="0">
            <a:solidFill>
              <a:srgbClr val="D96846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BD78839-90BA-4AC4-863C-F33E532E4B3B}"/>
              </a:ext>
            </a:extLst>
          </p:cNvPr>
          <p:cNvSpPr>
            <a:spLocks noGrp="1"/>
          </p:cNvSpPr>
          <p:nvPr/>
        </p:nvSpPr>
        <p:spPr>
          <a:xfrm>
            <a:off x="9648825" y="39433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2%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8131EAB-0981-4370-A0A9-E2E7B94EF456}"/>
              </a:ext>
            </a:extLst>
          </p:cNvPr>
          <p:cNvSpPr>
            <a:spLocks noGrp="1"/>
          </p:cNvSpPr>
          <p:nvPr/>
        </p:nvSpPr>
        <p:spPr>
          <a:xfrm>
            <a:off x="6477000" y="4657725"/>
            <a:ext cx="6191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TP-D</a:t>
            </a: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DAD46848-5D40-4956-AC6C-F518BBBDA0E3}"/>
              </a:ext>
            </a:extLst>
          </p:cNvPr>
          <p:cNvSpPr>
            <a:spLocks noGrp="1"/>
          </p:cNvSpPr>
          <p:nvPr/>
        </p:nvSpPr>
        <p:spPr>
          <a:xfrm>
            <a:off x="7286625" y="45624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168474"/>
          </a:solidFill>
          <a:ln w="0">
            <a:solidFill>
              <a:srgbClr val="168474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1268413-5822-4776-A4E5-E36480307433}"/>
              </a:ext>
            </a:extLst>
          </p:cNvPr>
          <p:cNvSpPr>
            <a:spLocks noGrp="1"/>
          </p:cNvSpPr>
          <p:nvPr/>
        </p:nvSpPr>
        <p:spPr>
          <a:xfrm>
            <a:off x="7286625" y="46291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33%</a:t>
            </a: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805D04D7-F223-49AD-8307-578D7EEAFB40}"/>
              </a:ext>
            </a:extLst>
          </p:cNvPr>
          <p:cNvSpPr>
            <a:spLocks noGrp="1"/>
          </p:cNvSpPr>
          <p:nvPr/>
        </p:nvSpPr>
        <p:spPr>
          <a:xfrm>
            <a:off x="8467725" y="45624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BB8A2B"/>
          </a:solidFill>
          <a:ln w="0">
            <a:solidFill>
              <a:srgbClr val="BB8A2B"/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F459EC2F-B878-4BC4-8ED9-0F3DA4C900F6}"/>
              </a:ext>
            </a:extLst>
          </p:cNvPr>
          <p:cNvSpPr>
            <a:spLocks noGrp="1"/>
          </p:cNvSpPr>
          <p:nvPr/>
        </p:nvSpPr>
        <p:spPr>
          <a:xfrm>
            <a:off x="8467725" y="46291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12%</a:t>
            </a: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8C95AD93-3DF4-4222-82CB-16FD05D293D4}"/>
              </a:ext>
            </a:extLst>
          </p:cNvPr>
          <p:cNvSpPr>
            <a:spLocks noGrp="1"/>
          </p:cNvSpPr>
          <p:nvPr/>
        </p:nvSpPr>
        <p:spPr>
          <a:xfrm>
            <a:off x="9648825" y="4562475"/>
            <a:ext cx="876300" cy="447675"/>
          </a:xfrm>
          <a:prstGeom prst="roundRect">
            <a:avLst>
              <a:gd name="adj" fmla="val 6383"/>
            </a:avLst>
          </a:prstGeom>
          <a:solidFill>
            <a:srgbClr val="D96846"/>
          </a:solidFill>
          <a:ln w="0">
            <a:solidFill>
              <a:srgbClr val="D96846"/>
            </a:solidFill>
            <a:prstDash val="solid"/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D21D8B54-3224-49AD-A611-C12169B501D9}"/>
              </a:ext>
            </a:extLst>
          </p:cNvPr>
          <p:cNvSpPr>
            <a:spLocks noGrp="1"/>
          </p:cNvSpPr>
          <p:nvPr/>
        </p:nvSpPr>
        <p:spPr>
          <a:xfrm>
            <a:off x="9648825" y="4629150"/>
            <a:ext cx="8763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3%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61AE8737-97B0-44AE-AFA9-74C6672664A3}"/>
              </a:ext>
            </a:extLst>
          </p:cNvPr>
          <p:cNvSpPr>
            <a:spLocks noGrp="1"/>
          </p:cNvSpPr>
          <p:nvPr/>
        </p:nvSpPr>
        <p:spPr>
          <a:xfrm>
            <a:off x="7286625" y="5429250"/>
            <a:ext cx="8763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ctr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3 days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512113F-BDEC-4E63-9330-B59C88954EEA}"/>
              </a:ext>
            </a:extLst>
          </p:cNvPr>
          <p:cNvSpPr>
            <a:spLocks noGrp="1"/>
          </p:cNvSpPr>
          <p:nvPr/>
        </p:nvSpPr>
        <p:spPr>
          <a:xfrm>
            <a:off x="8467725" y="5429250"/>
            <a:ext cx="8763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ctr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5 days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8BEAF58F-C01F-4611-8333-CE8EEC603720}"/>
              </a:ext>
            </a:extLst>
          </p:cNvPr>
          <p:cNvSpPr>
            <a:spLocks noGrp="1"/>
          </p:cNvSpPr>
          <p:nvPr/>
        </p:nvSpPr>
        <p:spPr>
          <a:xfrm>
            <a:off x="9648825" y="5429250"/>
            <a:ext cx="8763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ctr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7 days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110E075-9F7E-4699-938C-BB2E45390A9D}"/>
              </a:ext>
            </a:extLst>
          </p:cNvPr>
          <p:cNvSpPr>
            <a:spLocks noGrp="1"/>
          </p:cNvSpPr>
          <p:nvPr/>
        </p:nvSpPr>
        <p:spPr>
          <a:xfrm>
            <a:off x="6580762" y="5848350"/>
            <a:ext cx="4773038" cy="37775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B94C45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B94C45"/>
                </a:solidFill>
                <a:latin typeface="Noto Sans SC"/>
                <a:ea typeface="Noto Sans SC"/>
                <a:cs typeface="Noto Sans SC"/>
              </a:rPr>
              <a:t>Seven-day cells remain at or below 10% across stages.</a:t>
            </a:r>
          </a:p>
        </p:txBody>
      </p:sp>
      <p:sp>
        <p:nvSpPr>
          <p:cNvPr id="71" name="直接连接符 70">
            <a:extLst>
              <a:ext uri="{FF2B5EF4-FFF2-40B4-BE49-F238E27FC236}">
                <a16:creationId xmlns:a16="http://schemas.microsoft.com/office/drawing/2014/main" id="{46F90F4D-AD7C-4788-B28E-A38EE4CAF68F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A663F549-0573-40F1-BAAF-3E2D9A9BAAF1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Source: frozen TravelPlanner validation results (n=180 per stage); results_master.json.</a:t>
            </a: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CEE62148-D949-46CA-AA76-571CA2C0CF4B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0701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9770A5B9-0F28-482B-93CD-2BAC7A187D1A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219239-20E9-4098-A842-AA5E34A102C0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TRAVELPLANNER · C TO 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F3CFA4-DF46-456B-9A20-3F2267F8A894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Post-hoc verification added cost without a net Final Pass gain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8127CD9-9121-45E4-9980-59C4FDF9B03A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D can only act after the upstream C-chain produces a candidate.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18266522-687C-41CE-BB76-81B1CA240075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D374BC9-DE96-4B7A-9538-3F54094DCD5F}"/>
              </a:ext>
            </a:extLst>
          </p:cNvPr>
          <p:cNvSpPr>
            <a:spLocks noGrp="1"/>
          </p:cNvSpPr>
          <p:nvPr/>
        </p:nvSpPr>
        <p:spPr>
          <a:xfrm>
            <a:off x="704850" y="2028825"/>
            <a:ext cx="21907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VERIFIER FUNNEL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8EFFD9A-982A-4A6E-A0EE-F69C5153B6B1}"/>
              </a:ext>
            </a:extLst>
          </p:cNvPr>
          <p:cNvSpPr>
            <a:spLocks noGrp="1"/>
          </p:cNvSpPr>
          <p:nvPr/>
        </p:nvSpPr>
        <p:spPr>
          <a:xfrm>
            <a:off x="804863" y="2409825"/>
            <a:ext cx="5048250" cy="409575"/>
          </a:xfrm>
          <a:prstGeom prst="roundRect">
            <a:avLst>
              <a:gd name="adj" fmla="val 4651"/>
            </a:avLst>
          </a:prstGeom>
          <a:solidFill>
            <a:srgbClr val="245777"/>
          </a:solidFill>
          <a:ln w="0">
            <a:solidFill>
              <a:srgbClr val="245777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12B3355-AFBF-43D4-B75F-1FE8BE507C36}"/>
              </a:ext>
            </a:extLst>
          </p:cNvPr>
          <p:cNvSpPr>
            <a:spLocks noGrp="1"/>
          </p:cNvSpPr>
          <p:nvPr/>
        </p:nvSpPr>
        <p:spPr>
          <a:xfrm>
            <a:off x="804863" y="2476500"/>
            <a:ext cx="504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Candidates  119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4447D9-5FD5-45F2-A047-BA44D4C0A157}"/>
              </a:ext>
            </a:extLst>
          </p:cNvPr>
          <p:cNvSpPr>
            <a:spLocks noGrp="1"/>
          </p:cNvSpPr>
          <p:nvPr/>
        </p:nvSpPr>
        <p:spPr>
          <a:xfrm>
            <a:off x="804863" y="3009900"/>
            <a:ext cx="5048250" cy="409575"/>
          </a:xfrm>
          <a:prstGeom prst="roundRect">
            <a:avLst>
              <a:gd name="adj" fmla="val 4651"/>
            </a:avLst>
          </a:prstGeom>
          <a:solidFill>
            <a:srgbClr val="245777"/>
          </a:solidFill>
          <a:ln w="0">
            <a:solidFill>
              <a:srgbClr val="245777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FFD069-45E0-4859-A5F9-20F7E306A411}"/>
              </a:ext>
            </a:extLst>
          </p:cNvPr>
          <p:cNvSpPr>
            <a:spLocks noGrp="1"/>
          </p:cNvSpPr>
          <p:nvPr/>
        </p:nvSpPr>
        <p:spPr>
          <a:xfrm>
            <a:off x="804863" y="3076575"/>
            <a:ext cx="50482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Verifier calls  119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D9556D8-5230-4724-AAB1-CBEA2D78F916}"/>
              </a:ext>
            </a:extLst>
          </p:cNvPr>
          <p:cNvSpPr>
            <a:spLocks noGrp="1"/>
          </p:cNvSpPr>
          <p:nvPr/>
        </p:nvSpPr>
        <p:spPr>
          <a:xfrm>
            <a:off x="1662113" y="3609975"/>
            <a:ext cx="3333750" cy="409575"/>
          </a:xfrm>
          <a:prstGeom prst="roundRect">
            <a:avLst>
              <a:gd name="adj" fmla="val 4651"/>
            </a:avLst>
          </a:prstGeom>
          <a:solidFill>
            <a:srgbClr val="BB8A2B"/>
          </a:solidFill>
          <a:ln w="0">
            <a:solidFill>
              <a:srgbClr val="BB8A2B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7C01C1-B76F-4C6B-8321-EEBAE6F7F64F}"/>
              </a:ext>
            </a:extLst>
          </p:cNvPr>
          <p:cNvSpPr>
            <a:spLocks noGrp="1"/>
          </p:cNvSpPr>
          <p:nvPr/>
        </p:nvSpPr>
        <p:spPr>
          <a:xfrm>
            <a:off x="1662113" y="367665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Repair requested  46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9E8E0D3-2096-45FB-ADCF-8FC707186DC8}"/>
              </a:ext>
            </a:extLst>
          </p:cNvPr>
          <p:cNvSpPr>
            <a:spLocks noGrp="1"/>
          </p:cNvSpPr>
          <p:nvPr/>
        </p:nvSpPr>
        <p:spPr>
          <a:xfrm>
            <a:off x="2281238" y="4210050"/>
            <a:ext cx="2095500" cy="409575"/>
          </a:xfrm>
          <a:prstGeom prst="roundRect">
            <a:avLst>
              <a:gd name="adj" fmla="val 4651"/>
            </a:avLst>
          </a:prstGeom>
          <a:solidFill>
            <a:srgbClr val="D96846"/>
          </a:solidFill>
          <a:ln w="0">
            <a:solidFill>
              <a:srgbClr val="D9684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56D193D-71A4-4C81-AFCF-A0109185CD10}"/>
              </a:ext>
            </a:extLst>
          </p:cNvPr>
          <p:cNvSpPr>
            <a:spLocks noGrp="1"/>
          </p:cNvSpPr>
          <p:nvPr/>
        </p:nvSpPr>
        <p:spPr>
          <a:xfrm>
            <a:off x="2281238" y="4276725"/>
            <a:ext cx="2095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Schema-valid replans  16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187CBAF-AD98-47CB-8126-ABBFC4B56023}"/>
              </a:ext>
            </a:extLst>
          </p:cNvPr>
          <p:cNvSpPr>
            <a:spLocks noGrp="1"/>
          </p:cNvSpPr>
          <p:nvPr/>
        </p:nvSpPr>
        <p:spPr>
          <a:xfrm>
            <a:off x="2795588" y="4810125"/>
            <a:ext cx="1066800" cy="409575"/>
          </a:xfrm>
          <a:prstGeom prst="roundRect">
            <a:avLst>
              <a:gd name="adj" fmla="val 4651"/>
            </a:avLst>
          </a:prstGeom>
          <a:solidFill>
            <a:srgbClr val="168474"/>
          </a:solidFill>
          <a:ln w="0">
            <a:solidFill>
              <a:srgbClr val="168474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18D48AB-A17F-489A-8FF1-BEB04A1C6AF3}"/>
              </a:ext>
            </a:extLst>
          </p:cNvPr>
          <p:cNvSpPr>
            <a:spLocks noGrp="1"/>
          </p:cNvSpPr>
          <p:nvPr/>
        </p:nvSpPr>
        <p:spPr>
          <a:xfrm>
            <a:off x="2795588" y="4876800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578" lnSpcReduction="20000"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Repair successes  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7EB74E1-622B-48E8-BC1A-4F3380D779BE}"/>
              </a:ext>
            </a:extLst>
          </p:cNvPr>
          <p:cNvSpPr>
            <a:spLocks noGrp="1"/>
          </p:cNvSpPr>
          <p:nvPr/>
        </p:nvSpPr>
        <p:spPr>
          <a:xfrm>
            <a:off x="704850" y="5667375"/>
            <a:ext cx="5143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284" lnSpcReduction="20000"/>
          </a:bodyPr>
          <a:lstStyle/>
          <a:p>
            <a:pPr algn="l">
              <a:buNone/>
              <a:defRPr sz="975" b="1">
                <a:solidFill>
                  <a:srgbClr val="B94C45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B94C45"/>
                </a:solidFill>
                <a:latin typeface="Noto Sans SC"/>
                <a:ea typeface="Noto Sans SC"/>
                <a:cs typeface="Noto Sans SC"/>
              </a:rPr>
              <a:t>61 upstream runs had no candidate and remained outside the repair path.</a:t>
            </a: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E96D02F4-3A80-426C-A576-3DB955D90E72}"/>
              </a:ext>
            </a:extLst>
          </p:cNvPr>
          <p:cNvSpPr>
            <a:spLocks noGrp="1"/>
          </p:cNvSpPr>
          <p:nvPr/>
        </p:nvSpPr>
        <p:spPr>
          <a:xfrm>
            <a:off x="6362700" y="2019300"/>
            <a:ext cx="0" cy="409575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D84474-7070-4AA9-8215-106B96DED2D9}"/>
              </a:ext>
            </a:extLst>
          </p:cNvPr>
          <p:cNvSpPr>
            <a:spLocks noGrp="1"/>
          </p:cNvSpPr>
          <p:nvPr/>
        </p:nvSpPr>
        <p:spPr>
          <a:xfrm>
            <a:off x="6791325" y="2028825"/>
            <a:ext cx="21907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MEASURED EFFECT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A53DEC8-1140-4E19-BA04-7A9483360EFB}"/>
              </a:ext>
            </a:extLst>
          </p:cNvPr>
          <p:cNvSpPr>
            <a:spLocks noGrp="1"/>
          </p:cNvSpPr>
          <p:nvPr/>
        </p:nvSpPr>
        <p:spPr>
          <a:xfrm>
            <a:off x="6800850" y="2419350"/>
            <a:ext cx="2238375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500"/>
          </a:bodyPr>
          <a:lstStyle/>
          <a:p>
            <a:pPr algn="l">
              <a:buNone/>
              <a:defRPr sz="21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1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16.11% → 16.11%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9B8FD4E-704F-4B54-9BA5-D37152F335F4}"/>
              </a:ext>
            </a:extLst>
          </p:cNvPr>
          <p:cNvSpPr>
            <a:spLocks noGrp="1"/>
          </p:cNvSpPr>
          <p:nvPr/>
        </p:nvSpPr>
        <p:spPr>
          <a:xfrm>
            <a:off x="6800850" y="2819400"/>
            <a:ext cx="2238375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836" lnSpcReduction="20000"/>
          </a:bodyPr>
          <a:lstStyle/>
          <a:p>
            <a:pPr algn="l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FINAL PASS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5E8E1BD-C6F0-4FFC-9103-27145D072064}"/>
              </a:ext>
            </a:extLst>
          </p:cNvPr>
          <p:cNvSpPr>
            <a:spLocks noGrp="1"/>
          </p:cNvSpPr>
          <p:nvPr/>
        </p:nvSpPr>
        <p:spPr>
          <a:xfrm>
            <a:off x="6800850" y="3028950"/>
            <a:ext cx="22383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l">
              <a:buNone/>
              <a:defRPr sz="82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No net gain over 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AF8893C-13C4-4027-B415-AA0E941BCF0A}"/>
              </a:ext>
            </a:extLst>
          </p:cNvPr>
          <p:cNvSpPr>
            <a:spLocks noGrp="1"/>
          </p:cNvSpPr>
          <p:nvPr/>
        </p:nvSpPr>
        <p:spPr>
          <a:xfrm>
            <a:off x="9039225" y="2419348"/>
            <a:ext cx="2238375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00" lnSpcReduction="10000"/>
          </a:bodyPr>
          <a:lstStyle/>
          <a:p>
            <a:pPr algn="l">
              <a:buNone/>
              <a:defRPr sz="210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defRPr>
            </a:pPr>
            <a:r>
              <a:rPr sz="2100" b="1" dirty="0">
                <a:solidFill>
                  <a:srgbClr val="70649A"/>
                </a:solidFill>
                <a:latin typeface="Noto Serif SC"/>
                <a:ea typeface="Noto Serif SC"/>
                <a:cs typeface="Noto Serif SC"/>
              </a:rPr>
              <a:t>+1.263M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50AA98A-D69C-4F49-84DE-7B2B99256964}"/>
              </a:ext>
            </a:extLst>
          </p:cNvPr>
          <p:cNvSpPr>
            <a:spLocks noGrp="1"/>
          </p:cNvSpPr>
          <p:nvPr/>
        </p:nvSpPr>
        <p:spPr>
          <a:xfrm>
            <a:off x="9039224" y="2800348"/>
            <a:ext cx="2238375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836" lnSpcReduction="20000"/>
          </a:bodyPr>
          <a:lstStyle/>
          <a:p>
            <a:pPr algn="l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ADDITIONAL TOKENS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C887802-3F1E-468A-B4F8-720430717EC1}"/>
              </a:ext>
            </a:extLst>
          </p:cNvPr>
          <p:cNvSpPr>
            <a:spLocks noGrp="1"/>
          </p:cNvSpPr>
          <p:nvPr/>
        </p:nvSpPr>
        <p:spPr>
          <a:xfrm>
            <a:off x="8982075" y="3052761"/>
            <a:ext cx="22383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l">
              <a:buNone/>
              <a:defRPr sz="82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11.34M total tokens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EAD54FC-5DAD-48D5-AC3A-8EEFF89AE70A}"/>
              </a:ext>
            </a:extLst>
          </p:cNvPr>
          <p:cNvSpPr>
            <a:spLocks noGrp="1"/>
          </p:cNvSpPr>
          <p:nvPr/>
        </p:nvSpPr>
        <p:spPr>
          <a:xfrm>
            <a:off x="10591800" y="2438399"/>
            <a:ext cx="2238375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00" lnSpcReduction="10000"/>
          </a:bodyPr>
          <a:lstStyle/>
          <a:p>
            <a:pPr algn="l">
              <a:buNone/>
              <a:defRPr sz="210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defRPr>
            </a:pPr>
            <a:r>
              <a:rPr sz="210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rPr>
              <a:t>17 ↑   17 ↓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A72EC5C-6BB4-4F24-8F55-F02F444C6982}"/>
              </a:ext>
            </a:extLst>
          </p:cNvPr>
          <p:cNvSpPr>
            <a:spLocks noGrp="1"/>
          </p:cNvSpPr>
          <p:nvPr/>
        </p:nvSpPr>
        <p:spPr>
          <a:xfrm>
            <a:off x="10591800" y="2838449"/>
            <a:ext cx="2238375" cy="2000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836" lnSpcReduction="20000"/>
          </a:bodyPr>
          <a:lstStyle/>
          <a:p>
            <a:pPr algn="l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PAIRED TRANSITIONS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77E738-BF73-47DD-A942-507A33C9A08A}"/>
              </a:ext>
            </a:extLst>
          </p:cNvPr>
          <p:cNvSpPr>
            <a:spLocks noGrp="1"/>
          </p:cNvSpPr>
          <p:nvPr/>
        </p:nvSpPr>
        <p:spPr>
          <a:xfrm>
            <a:off x="10591800" y="3047999"/>
            <a:ext cx="22383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l">
              <a:buNone/>
              <a:defRPr sz="82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McNemar p = 1.0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111EB3F-006F-4A80-BCB3-EF86B842827F}"/>
              </a:ext>
            </a:extLst>
          </p:cNvPr>
          <p:cNvSpPr>
            <a:spLocks noGrp="1"/>
          </p:cNvSpPr>
          <p:nvPr/>
        </p:nvSpPr>
        <p:spPr>
          <a:xfrm>
            <a:off x="6791325" y="3738562"/>
            <a:ext cx="2066925" cy="40957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95"/>
          </a:bodyPr>
          <a:lstStyle/>
          <a:p>
            <a:pPr algn="l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Interpretation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BCF5DC9-CCE3-4D44-AA94-966F994BA156}"/>
              </a:ext>
            </a:extLst>
          </p:cNvPr>
          <p:cNvSpPr>
            <a:spLocks noGrp="1"/>
          </p:cNvSpPr>
          <p:nvPr/>
        </p:nvSpPr>
        <p:spPr>
          <a:xfrm>
            <a:off x="6840164" y="3814762"/>
            <a:ext cx="5356493" cy="170497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857"/>
          </a:bodyPr>
          <a:lstStyle/>
          <a:p>
            <a:pPr algn="l">
              <a:buNone/>
              <a:defRPr sz="13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 final-stage LLM verifier cannot reliably reconstruct missing evidence or recover runs that never produced a candidate.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2313B96-4AC1-4BDD-BAC4-6E14717AE4C0}"/>
              </a:ext>
            </a:extLst>
          </p:cNvPr>
          <p:cNvSpPr>
            <a:spLocks noGrp="1"/>
          </p:cNvSpPr>
          <p:nvPr/>
        </p:nvSpPr>
        <p:spPr>
          <a:xfrm>
            <a:off x="6840164" y="4938711"/>
            <a:ext cx="4437435" cy="857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53"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 and D independently rerun the upstream chain, so paired changes include model and API non-determinism.</a:t>
            </a:r>
          </a:p>
        </p:txBody>
      </p:sp>
      <p:sp>
        <p:nvSpPr>
          <p:cNvPr id="32" name="直接连接符 31">
            <a:extLst>
              <a:ext uri="{FF2B5EF4-FFF2-40B4-BE49-F238E27FC236}">
                <a16:creationId xmlns:a16="http://schemas.microsoft.com/office/drawing/2014/main" id="{0E5D92D2-C7B3-484D-AFCE-A2BF46C5445A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FB2A118-1FBF-47D6-88BC-5FB0272BE2EB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Source: frozen TravelPlanner validation results and verifier audit (n=180); results_master.json.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6A1FFEB-0C62-42EF-91D1-D4B2F172492F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15782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矩形 60">
            <a:extLst>
              <a:ext uri="{FF2B5EF4-FFF2-40B4-BE49-F238E27FC236}">
                <a16:creationId xmlns:a16="http://schemas.microsoft.com/office/drawing/2014/main" id="{74FBA63C-06BD-4A82-91D0-B2A380377884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042AA4-DBD5-41EA-8721-8C7B6E28CB02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CHINATRAVEL · 12-QUERY PAIRED PILOT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CD36C44-2026-4731-A380-4F53ADA53CB8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511"/>
          </a:bodyPr>
          <a:lstStyle/>
          <a:p>
            <a:pPr algn="l">
              <a:buNone/>
              <a:defRPr sz="24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4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Structured planning increased final responses but not valid deliveries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1F40CD9-1C95-4933-BA2E-A8F79697C561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CT-B and CT-C use the same Chinese queries, tools, evaluator, and tool budget.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F5DBDCC-075E-4A5C-95F8-7C9C2AAE6A95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1423A53-D830-4DAD-98BB-0546D1EF7C20}"/>
              </a:ext>
            </a:extLst>
          </p:cNvPr>
          <p:cNvSpPr>
            <a:spLocks noGrp="1"/>
          </p:cNvSpPr>
          <p:nvPr/>
        </p:nvSpPr>
        <p:spPr>
          <a:xfrm>
            <a:off x="704850" y="2009775"/>
            <a:ext cx="15240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EXPERIMENT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98C5B2D-50EB-4FA8-9D6D-6860A80BEE14}"/>
              </a:ext>
            </a:extLst>
          </p:cNvPr>
          <p:cNvSpPr>
            <a:spLocks noGrp="1"/>
          </p:cNvSpPr>
          <p:nvPr/>
        </p:nvSpPr>
        <p:spPr>
          <a:xfrm>
            <a:off x="704850" y="2390775"/>
            <a:ext cx="2095500" cy="742950"/>
          </a:xfrm>
          <a:prstGeom prst="roundRect">
            <a:avLst>
              <a:gd name="adj" fmla="val 10256"/>
            </a:avLst>
          </a:prstGeom>
          <a:solidFill>
            <a:srgbClr val="F4E2D8"/>
          </a:solidFill>
          <a:ln w="11430">
            <a:solidFill>
              <a:srgbClr val="D96846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2426F10-D00A-434F-9F23-38AA55B3E2E6}"/>
              </a:ext>
            </a:extLst>
          </p:cNvPr>
          <p:cNvSpPr>
            <a:spLocks noGrp="1"/>
          </p:cNvSpPr>
          <p:nvPr/>
        </p:nvSpPr>
        <p:spPr>
          <a:xfrm>
            <a:off x="800100" y="2457450"/>
            <a:ext cx="190500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CT-B</a:t>
            </a:r>
          </a:p>
          <a:p>
            <a:pPr algn="ctr">
              <a:buNone/>
              <a:def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Query-only ReAct</a:t>
            </a:r>
          </a:p>
        </p:txBody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B8EF029D-0CE6-4E6B-8A09-C47F0A8DD746}"/>
              </a:ext>
            </a:extLst>
          </p:cNvPr>
          <p:cNvSpPr>
            <a:spLocks noGrp="1"/>
          </p:cNvSpPr>
          <p:nvPr/>
        </p:nvSpPr>
        <p:spPr>
          <a:xfrm>
            <a:off x="2895600" y="2762250"/>
            <a:ext cx="723900" cy="0"/>
          </a:xfrm>
          <a:prstGeom prst="line">
            <a:avLst/>
          </a:prstGeom>
          <a:noFill/>
          <a:ln w="19050">
            <a:solidFill>
              <a:srgbClr val="168474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1FDBAA81-3B62-4628-9654-198E4ECB2257}"/>
              </a:ext>
            </a:extLst>
          </p:cNvPr>
          <p:cNvSpPr>
            <a:spLocks noGrp="1"/>
          </p:cNvSpPr>
          <p:nvPr/>
        </p:nvSpPr>
        <p:spPr>
          <a:xfrm>
            <a:off x="3533775" y="2714625"/>
            <a:ext cx="85725" cy="47625"/>
          </a:xfrm>
          <a:prstGeom prst="line">
            <a:avLst/>
          </a:prstGeom>
          <a:noFill/>
          <a:ln w="19050">
            <a:solidFill>
              <a:srgbClr val="168474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664344B1-1CD6-4E15-AE5E-98D52BB50FFB}"/>
              </a:ext>
            </a:extLst>
          </p:cNvPr>
          <p:cNvSpPr>
            <a:spLocks noGrp="1"/>
          </p:cNvSpPr>
          <p:nvPr/>
        </p:nvSpPr>
        <p:spPr>
          <a:xfrm flipV="1">
            <a:off x="3525440" y="2762250"/>
            <a:ext cx="102394" cy="57149"/>
          </a:xfrm>
          <a:prstGeom prst="line">
            <a:avLst/>
          </a:prstGeom>
          <a:noFill/>
          <a:ln w="19050">
            <a:solidFill>
              <a:srgbClr val="168474"/>
            </a:solidFill>
            <a:prstDash val="solid"/>
          </a:ln>
        </p:spPr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3997CD2-A2EC-421B-A60F-2B82DE788FCA}"/>
              </a:ext>
            </a:extLst>
          </p:cNvPr>
          <p:cNvSpPr>
            <a:spLocks noGrp="1"/>
          </p:cNvSpPr>
          <p:nvPr/>
        </p:nvSpPr>
        <p:spPr>
          <a:xfrm>
            <a:off x="3714750" y="2390775"/>
            <a:ext cx="2524125" cy="742950"/>
          </a:xfrm>
          <a:prstGeom prst="roundRect">
            <a:avLst>
              <a:gd name="adj" fmla="val 10256"/>
            </a:avLst>
          </a:prstGeom>
          <a:solidFill>
            <a:srgbClr val="DCECE7"/>
          </a:solidFill>
          <a:ln w="11430">
            <a:solidFill>
              <a:srgbClr val="168474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F5E58CE-BA00-4851-BF1D-DF8D0820DBF5}"/>
              </a:ext>
            </a:extLst>
          </p:cNvPr>
          <p:cNvSpPr>
            <a:spLocks noGrp="1"/>
          </p:cNvSpPr>
          <p:nvPr/>
        </p:nvSpPr>
        <p:spPr>
          <a:xfrm>
            <a:off x="3810000" y="2457450"/>
            <a:ext cx="2333625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CT-C</a:t>
            </a:r>
          </a:p>
          <a:p>
            <a:pPr algn="ctr">
              <a:buNone/>
              <a:def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Structured Planner + ReAct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B3CC395-09C9-474D-BEEF-237E1E20D387}"/>
              </a:ext>
            </a:extLst>
          </p:cNvPr>
          <p:cNvSpPr>
            <a:spLocks noGrp="1"/>
          </p:cNvSpPr>
          <p:nvPr/>
        </p:nvSpPr>
        <p:spPr>
          <a:xfrm>
            <a:off x="714375" y="3286125"/>
            <a:ext cx="53816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9120" lnSpcReduction="20000"/>
          </a:bodyPr>
          <a:lstStyle/>
          <a:p>
            <a:pPr algn="l">
              <a:buNone/>
              <a:defRPr sz="9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Only CT-C adds one no-tool Planner call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4856D85-308F-4F55-A8FB-A030D446A000}"/>
              </a:ext>
            </a:extLst>
          </p:cNvPr>
          <p:cNvSpPr>
            <a:spLocks noGrp="1"/>
          </p:cNvSpPr>
          <p:nvPr/>
        </p:nvSpPr>
        <p:spPr>
          <a:xfrm>
            <a:off x="723900" y="3838575"/>
            <a:ext cx="666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428"/>
          </a:bodyPr>
          <a:lstStyle/>
          <a:p>
            <a:pPr algn="l">
              <a:buNone/>
              <a:defRPr sz="21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21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4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924BD4F-01A5-45D4-B08F-4510BAB5764A}"/>
              </a:ext>
            </a:extLst>
          </p:cNvPr>
          <p:cNvSpPr>
            <a:spLocks noGrp="1"/>
          </p:cNvSpPr>
          <p:nvPr/>
        </p:nvSpPr>
        <p:spPr>
          <a:xfrm>
            <a:off x="1181100" y="3905250"/>
            <a:ext cx="10477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EASY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611637B-FA8B-4598-8B4A-3436ABA1A31B}"/>
              </a:ext>
            </a:extLst>
          </p:cNvPr>
          <p:cNvSpPr>
            <a:spLocks noGrp="1"/>
          </p:cNvSpPr>
          <p:nvPr/>
        </p:nvSpPr>
        <p:spPr>
          <a:xfrm>
            <a:off x="2486025" y="3838575"/>
            <a:ext cx="666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428"/>
          </a:bodyPr>
          <a:lstStyle/>
          <a:p>
            <a:pPr algn="l">
              <a:buNone/>
              <a:defRPr sz="2100" b="1">
                <a:solidFill>
                  <a:srgbClr val="BB8A2B"/>
                </a:solidFill>
                <a:latin typeface="Noto Serif SC"/>
                <a:ea typeface="Noto Serif SC"/>
                <a:cs typeface="Noto Serif SC"/>
              </a:defRPr>
            </a:pPr>
            <a:r>
              <a:rPr sz="2100" b="1">
                <a:solidFill>
                  <a:srgbClr val="BB8A2B"/>
                </a:solidFill>
                <a:latin typeface="Noto Serif SC"/>
                <a:ea typeface="Noto Serif SC"/>
                <a:cs typeface="Noto Serif SC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00F0394-D82F-43AB-BA34-41F3291D9933}"/>
              </a:ext>
            </a:extLst>
          </p:cNvPr>
          <p:cNvSpPr>
            <a:spLocks noGrp="1"/>
          </p:cNvSpPr>
          <p:nvPr/>
        </p:nvSpPr>
        <p:spPr>
          <a:xfrm>
            <a:off x="2943225" y="3905250"/>
            <a:ext cx="10477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MEDIUM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294EE78-D071-4B27-8041-288EE85E6ED7}"/>
              </a:ext>
            </a:extLst>
          </p:cNvPr>
          <p:cNvSpPr>
            <a:spLocks noGrp="1"/>
          </p:cNvSpPr>
          <p:nvPr/>
        </p:nvSpPr>
        <p:spPr>
          <a:xfrm>
            <a:off x="4248150" y="3838575"/>
            <a:ext cx="6667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428"/>
          </a:bodyPr>
          <a:lstStyle/>
          <a:p>
            <a:pPr algn="l">
              <a:buNone/>
              <a:defRPr sz="210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defRPr>
            </a:pPr>
            <a:r>
              <a:rPr sz="2100" b="1">
                <a:solidFill>
                  <a:srgbClr val="70649A"/>
                </a:solidFill>
                <a:latin typeface="Noto Serif SC"/>
                <a:ea typeface="Noto Serif SC"/>
                <a:cs typeface="Noto Serif SC"/>
              </a:rPr>
              <a:t>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2ACE57D-8C87-4EE4-B017-072153086EAE}"/>
              </a:ext>
            </a:extLst>
          </p:cNvPr>
          <p:cNvSpPr>
            <a:spLocks noGrp="1"/>
          </p:cNvSpPr>
          <p:nvPr/>
        </p:nvSpPr>
        <p:spPr>
          <a:xfrm>
            <a:off x="4705350" y="3905250"/>
            <a:ext cx="10477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HUMAN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37ECB5A-7CB1-4DF5-AB69-B17C11E474ED}"/>
              </a:ext>
            </a:extLst>
          </p:cNvPr>
          <p:cNvSpPr>
            <a:spLocks noGrp="1"/>
          </p:cNvSpPr>
          <p:nvPr/>
        </p:nvSpPr>
        <p:spPr>
          <a:xfrm>
            <a:off x="714375" y="4619625"/>
            <a:ext cx="1714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Role in this study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6022DA7-75FD-4914-A16C-CF5F8669A4C8}"/>
              </a:ext>
            </a:extLst>
          </p:cNvPr>
          <p:cNvSpPr>
            <a:spLocks noGrp="1"/>
          </p:cNvSpPr>
          <p:nvPr/>
        </p:nvSpPr>
        <p:spPr>
          <a:xfrm>
            <a:off x="714375" y="4914900"/>
            <a:ext cx="53816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425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 small cross-benchmark mechanism check, not a second full benchmark campaign.</a:t>
            </a: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BF994466-1AB2-4725-A5C4-66E84A4E38DF}"/>
              </a:ext>
            </a:extLst>
          </p:cNvPr>
          <p:cNvSpPr>
            <a:spLocks noGrp="1"/>
          </p:cNvSpPr>
          <p:nvPr/>
        </p:nvSpPr>
        <p:spPr>
          <a:xfrm>
            <a:off x="6572250" y="2009775"/>
            <a:ext cx="0" cy="400050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3041BF4-1B30-44F4-8392-463E063AAB5E}"/>
              </a:ext>
            </a:extLst>
          </p:cNvPr>
          <p:cNvSpPr>
            <a:spLocks noGrp="1"/>
          </p:cNvSpPr>
          <p:nvPr/>
        </p:nvSpPr>
        <p:spPr>
          <a:xfrm>
            <a:off x="7000875" y="2009775"/>
            <a:ext cx="22860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DELIVERY LADDER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7989CAA-260D-4721-B0F6-7B9362AEA752}"/>
              </a:ext>
            </a:extLst>
          </p:cNvPr>
          <p:cNvSpPr>
            <a:spLocks noGrp="1"/>
          </p:cNvSpPr>
          <p:nvPr/>
        </p:nvSpPr>
        <p:spPr>
          <a:xfrm>
            <a:off x="7000875" y="253365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Final response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420D0BEF-B535-4347-8271-6A7212C5DB86}"/>
              </a:ext>
            </a:extLst>
          </p:cNvPr>
          <p:cNvSpPr>
            <a:spLocks noGrp="1"/>
          </p:cNvSpPr>
          <p:nvPr/>
        </p:nvSpPr>
        <p:spPr>
          <a:xfrm>
            <a:off x="8572500" y="2657475"/>
            <a:ext cx="2333625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F680F22C-ADF8-4346-85CE-261EC46F9FCB}"/>
              </a:ext>
            </a:extLst>
          </p:cNvPr>
          <p:cNvSpPr>
            <a:spLocks noGrp="1"/>
          </p:cNvSpPr>
          <p:nvPr/>
        </p:nvSpPr>
        <p:spPr>
          <a:xfrm>
            <a:off x="9705975" y="2571750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AE6ABDB-9424-42A1-BA1D-A848BDACC502}"/>
              </a:ext>
            </a:extLst>
          </p:cNvPr>
          <p:cNvSpPr>
            <a:spLocks noGrp="1"/>
          </p:cNvSpPr>
          <p:nvPr/>
        </p:nvSpPr>
        <p:spPr>
          <a:xfrm>
            <a:off x="10620375" y="2571750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32EE180-D403-47F5-A874-3DB6CA10C994}"/>
              </a:ext>
            </a:extLst>
          </p:cNvPr>
          <p:cNvSpPr>
            <a:spLocks noGrp="1"/>
          </p:cNvSpPr>
          <p:nvPr/>
        </p:nvSpPr>
        <p:spPr>
          <a:xfrm>
            <a:off x="9658350" y="2381250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DB3731-4A0F-406C-9D94-E76DB6C52DC1}"/>
              </a:ext>
            </a:extLst>
          </p:cNvPr>
          <p:cNvSpPr>
            <a:spLocks noGrp="1"/>
          </p:cNvSpPr>
          <p:nvPr/>
        </p:nvSpPr>
        <p:spPr>
          <a:xfrm>
            <a:off x="10572750" y="2762250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7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2759AB7-1079-4DE8-BD24-0FECB377CEB4}"/>
              </a:ext>
            </a:extLst>
          </p:cNvPr>
          <p:cNvSpPr>
            <a:spLocks noGrp="1"/>
          </p:cNvSpPr>
          <p:nvPr/>
        </p:nvSpPr>
        <p:spPr>
          <a:xfrm>
            <a:off x="7000875" y="3171825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Strict schema</a:t>
            </a:r>
          </a:p>
        </p:txBody>
      </p:sp>
      <p:sp>
        <p:nvSpPr>
          <p:cNvPr id="32" name="直接连接符 31">
            <a:extLst>
              <a:ext uri="{FF2B5EF4-FFF2-40B4-BE49-F238E27FC236}">
                <a16:creationId xmlns:a16="http://schemas.microsoft.com/office/drawing/2014/main" id="{0582EB0E-3B2C-4A47-98A4-AB884CCBF6C0}"/>
              </a:ext>
            </a:extLst>
          </p:cNvPr>
          <p:cNvSpPr>
            <a:spLocks noGrp="1"/>
          </p:cNvSpPr>
          <p:nvPr/>
        </p:nvSpPr>
        <p:spPr>
          <a:xfrm>
            <a:off x="8572500" y="3295650"/>
            <a:ext cx="2333625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31E694A9-2F04-46BD-AFC2-8C69655B6AEF}"/>
              </a:ext>
            </a:extLst>
          </p:cNvPr>
          <p:cNvSpPr>
            <a:spLocks noGrp="1"/>
          </p:cNvSpPr>
          <p:nvPr/>
        </p:nvSpPr>
        <p:spPr>
          <a:xfrm>
            <a:off x="9705975" y="3209925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24087978-B1BC-4600-944B-6186E7FDD6F1}"/>
              </a:ext>
            </a:extLst>
          </p:cNvPr>
          <p:cNvSpPr>
            <a:spLocks noGrp="1"/>
          </p:cNvSpPr>
          <p:nvPr/>
        </p:nvSpPr>
        <p:spPr>
          <a:xfrm>
            <a:off x="9705975" y="3209925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DC87FA-9A4D-44C0-BE67-472CBC133C4E}"/>
              </a:ext>
            </a:extLst>
          </p:cNvPr>
          <p:cNvSpPr>
            <a:spLocks noGrp="1"/>
          </p:cNvSpPr>
          <p:nvPr/>
        </p:nvSpPr>
        <p:spPr>
          <a:xfrm>
            <a:off x="9658350" y="3019425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5CF5B5C-7A9B-40D6-AC1F-D6136FEB3268}"/>
              </a:ext>
            </a:extLst>
          </p:cNvPr>
          <p:cNvSpPr>
            <a:spLocks noGrp="1"/>
          </p:cNvSpPr>
          <p:nvPr/>
        </p:nvSpPr>
        <p:spPr>
          <a:xfrm>
            <a:off x="9658350" y="3400425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0B66476-6CD4-4801-B1F1-61BC96E5B7CE}"/>
              </a:ext>
            </a:extLst>
          </p:cNvPr>
          <p:cNvSpPr>
            <a:spLocks noGrp="1"/>
          </p:cNvSpPr>
          <p:nvPr/>
        </p:nvSpPr>
        <p:spPr>
          <a:xfrm>
            <a:off x="7000875" y="38100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Evidence-backed</a:t>
            </a:r>
          </a:p>
        </p:txBody>
      </p:sp>
      <p:sp>
        <p:nvSpPr>
          <p:cNvPr id="38" name="直接连接符 37">
            <a:extLst>
              <a:ext uri="{FF2B5EF4-FFF2-40B4-BE49-F238E27FC236}">
                <a16:creationId xmlns:a16="http://schemas.microsoft.com/office/drawing/2014/main" id="{07569525-CA47-4082-A996-EA2A427BD499}"/>
              </a:ext>
            </a:extLst>
          </p:cNvPr>
          <p:cNvSpPr>
            <a:spLocks noGrp="1"/>
          </p:cNvSpPr>
          <p:nvPr/>
        </p:nvSpPr>
        <p:spPr>
          <a:xfrm>
            <a:off x="8572500" y="3933825"/>
            <a:ext cx="2333625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3204D18-AFE0-4D3B-9CBD-DAF180D1A897}"/>
              </a:ext>
            </a:extLst>
          </p:cNvPr>
          <p:cNvSpPr>
            <a:spLocks noGrp="1"/>
          </p:cNvSpPr>
          <p:nvPr/>
        </p:nvSpPr>
        <p:spPr>
          <a:xfrm>
            <a:off x="9705975" y="3848100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433BDC26-E0E9-456A-B3DC-4034439144D8}"/>
              </a:ext>
            </a:extLst>
          </p:cNvPr>
          <p:cNvSpPr>
            <a:spLocks noGrp="1"/>
          </p:cNvSpPr>
          <p:nvPr/>
        </p:nvSpPr>
        <p:spPr>
          <a:xfrm>
            <a:off x="9096375" y="3848100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6CFB75F-D282-4BCE-BAC7-39F3594BD45D}"/>
              </a:ext>
            </a:extLst>
          </p:cNvPr>
          <p:cNvSpPr>
            <a:spLocks noGrp="1"/>
          </p:cNvSpPr>
          <p:nvPr/>
        </p:nvSpPr>
        <p:spPr>
          <a:xfrm>
            <a:off x="9658350" y="3657600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4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4053949-729F-4A59-8ECE-6427C5B490AE}"/>
              </a:ext>
            </a:extLst>
          </p:cNvPr>
          <p:cNvSpPr>
            <a:spLocks noGrp="1"/>
          </p:cNvSpPr>
          <p:nvPr/>
        </p:nvSpPr>
        <p:spPr>
          <a:xfrm>
            <a:off x="9048750" y="4038600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2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C859459-B739-4BA1-A7A5-F19A290577F2}"/>
              </a:ext>
            </a:extLst>
          </p:cNvPr>
          <p:cNvSpPr>
            <a:spLocks noGrp="1"/>
          </p:cNvSpPr>
          <p:nvPr/>
        </p:nvSpPr>
        <p:spPr>
          <a:xfrm>
            <a:off x="7000875" y="4448175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Fully grounded</a:t>
            </a:r>
          </a:p>
        </p:txBody>
      </p:sp>
      <p:sp>
        <p:nvSpPr>
          <p:cNvPr id="44" name="直接连接符 43">
            <a:extLst>
              <a:ext uri="{FF2B5EF4-FFF2-40B4-BE49-F238E27FC236}">
                <a16:creationId xmlns:a16="http://schemas.microsoft.com/office/drawing/2014/main" id="{45467A98-6F16-4F14-9A37-6CB2C22E5104}"/>
              </a:ext>
            </a:extLst>
          </p:cNvPr>
          <p:cNvSpPr>
            <a:spLocks noGrp="1"/>
          </p:cNvSpPr>
          <p:nvPr/>
        </p:nvSpPr>
        <p:spPr>
          <a:xfrm>
            <a:off x="8572500" y="4572000"/>
            <a:ext cx="2333625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D83C09FE-902A-43FE-8B96-6607709683E8}"/>
              </a:ext>
            </a:extLst>
          </p:cNvPr>
          <p:cNvSpPr>
            <a:spLocks noGrp="1"/>
          </p:cNvSpPr>
          <p:nvPr/>
        </p:nvSpPr>
        <p:spPr>
          <a:xfrm>
            <a:off x="9096375" y="4486275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D7AC2737-0A73-49E2-8AA7-7A652D115C55}"/>
              </a:ext>
            </a:extLst>
          </p:cNvPr>
          <p:cNvSpPr>
            <a:spLocks noGrp="1"/>
          </p:cNvSpPr>
          <p:nvPr/>
        </p:nvSpPr>
        <p:spPr>
          <a:xfrm>
            <a:off x="8791575" y="4486275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AA432B0-9D21-4915-ADB5-C6017014BEF5}"/>
              </a:ext>
            </a:extLst>
          </p:cNvPr>
          <p:cNvSpPr>
            <a:spLocks noGrp="1"/>
          </p:cNvSpPr>
          <p:nvPr/>
        </p:nvSpPr>
        <p:spPr>
          <a:xfrm>
            <a:off x="9048750" y="4295775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2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2D5A57D-A502-4F85-8F3B-6AFC96B7745C}"/>
              </a:ext>
            </a:extLst>
          </p:cNvPr>
          <p:cNvSpPr>
            <a:spLocks noGrp="1"/>
          </p:cNvSpPr>
          <p:nvPr/>
        </p:nvSpPr>
        <p:spPr>
          <a:xfrm>
            <a:off x="8743950" y="4676775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1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975749B-8A7C-45C7-80CC-D154EFBB9BDE}"/>
              </a:ext>
            </a:extLst>
          </p:cNvPr>
          <p:cNvSpPr>
            <a:spLocks noGrp="1"/>
          </p:cNvSpPr>
          <p:nvPr/>
        </p:nvSpPr>
        <p:spPr>
          <a:xfrm>
            <a:off x="7000875" y="508635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All Pass</a:t>
            </a:r>
          </a:p>
        </p:txBody>
      </p:sp>
      <p:sp>
        <p:nvSpPr>
          <p:cNvPr id="50" name="直接连接符 49">
            <a:extLst>
              <a:ext uri="{FF2B5EF4-FFF2-40B4-BE49-F238E27FC236}">
                <a16:creationId xmlns:a16="http://schemas.microsoft.com/office/drawing/2014/main" id="{DD6DAFEB-13CF-4BC6-A508-BA3666D913E9}"/>
              </a:ext>
            </a:extLst>
          </p:cNvPr>
          <p:cNvSpPr>
            <a:spLocks noGrp="1"/>
          </p:cNvSpPr>
          <p:nvPr/>
        </p:nvSpPr>
        <p:spPr>
          <a:xfrm>
            <a:off x="8572500" y="5210175"/>
            <a:ext cx="2333625" cy="0"/>
          </a:xfrm>
          <a:prstGeom prst="line">
            <a:avLst/>
          </a:prstGeom>
          <a:noFill/>
          <a:ln w="19050">
            <a:solidFill>
              <a:srgbClr val="D8D1C5"/>
            </a:solidFill>
            <a:prstDash val="solid"/>
          </a:ln>
        </p:spPr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8C29D202-D6B0-42E2-B9E3-27579206282B}"/>
              </a:ext>
            </a:extLst>
          </p:cNvPr>
          <p:cNvSpPr>
            <a:spLocks noGrp="1"/>
          </p:cNvSpPr>
          <p:nvPr/>
        </p:nvSpPr>
        <p:spPr>
          <a:xfrm>
            <a:off x="8486775" y="5124450"/>
            <a:ext cx="171450" cy="171450"/>
          </a:xfrm>
          <a:prstGeom prst="ellipse">
            <a:avLst/>
          </a:prstGeom>
          <a:solidFill>
            <a:srgbClr val="D96846"/>
          </a:solidFill>
          <a:ln w="9525">
            <a:solidFill>
              <a:srgbClr val="D96846"/>
            </a:solidFill>
            <a:prstDash val="solid"/>
          </a:ln>
        </p:spPr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A021802-B28D-4331-A091-C438C762651E}"/>
              </a:ext>
            </a:extLst>
          </p:cNvPr>
          <p:cNvSpPr>
            <a:spLocks noGrp="1"/>
          </p:cNvSpPr>
          <p:nvPr/>
        </p:nvSpPr>
        <p:spPr>
          <a:xfrm>
            <a:off x="8486775" y="5124450"/>
            <a:ext cx="171450" cy="17145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23A183F-5FB8-4542-A702-3C0BA564517E}"/>
              </a:ext>
            </a:extLst>
          </p:cNvPr>
          <p:cNvSpPr>
            <a:spLocks noGrp="1"/>
          </p:cNvSpPr>
          <p:nvPr/>
        </p:nvSpPr>
        <p:spPr>
          <a:xfrm>
            <a:off x="8439150" y="4933950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71CAE15C-C525-4FA2-AA13-57F3E7D945D9}"/>
              </a:ext>
            </a:extLst>
          </p:cNvPr>
          <p:cNvSpPr>
            <a:spLocks noGrp="1"/>
          </p:cNvSpPr>
          <p:nvPr/>
        </p:nvSpPr>
        <p:spPr>
          <a:xfrm>
            <a:off x="8439150" y="5314950"/>
            <a:ext cx="2667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0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A3AE0EF-07B1-4699-97BD-C6BCF7E601C3}"/>
              </a:ext>
            </a:extLst>
          </p:cNvPr>
          <p:cNvSpPr>
            <a:spLocks noGrp="1"/>
          </p:cNvSpPr>
          <p:nvPr/>
        </p:nvSpPr>
        <p:spPr>
          <a:xfrm>
            <a:off x="8858250" y="5634037"/>
            <a:ext cx="6667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CT-B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C7B45AA-26FB-4856-98B5-7C1BDC83CB07}"/>
              </a:ext>
            </a:extLst>
          </p:cNvPr>
          <p:cNvSpPr>
            <a:spLocks noGrp="1"/>
          </p:cNvSpPr>
          <p:nvPr/>
        </p:nvSpPr>
        <p:spPr>
          <a:xfrm>
            <a:off x="9715500" y="5643562"/>
            <a:ext cx="6667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CT-C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0B73B3AC-D34D-4A58-81DF-BA30BEB2B4EA}"/>
              </a:ext>
            </a:extLst>
          </p:cNvPr>
          <p:cNvSpPr>
            <a:spLocks noGrp="1"/>
          </p:cNvSpPr>
          <p:nvPr/>
        </p:nvSpPr>
        <p:spPr>
          <a:xfrm>
            <a:off x="7529512" y="5848350"/>
            <a:ext cx="4352925" cy="50958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620"/>
          </a:bodyPr>
          <a:lstStyle/>
          <a:p>
            <a:pPr algn="l">
              <a:buNone/>
              <a:defRPr sz="975" b="1">
                <a:solidFill>
                  <a:srgbClr val="B94C45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B94C45"/>
                </a:solidFill>
                <a:latin typeface="Noto Sans SC"/>
                <a:ea typeface="Noto Sans SC"/>
                <a:cs typeface="Noto Sans SC"/>
              </a:rPr>
              <a:t>Two CT-C runs stopped before any tool call.</a:t>
            </a:r>
          </a:p>
        </p:txBody>
      </p:sp>
      <p:sp>
        <p:nvSpPr>
          <p:cNvPr id="58" name="直接连接符 57">
            <a:extLst>
              <a:ext uri="{FF2B5EF4-FFF2-40B4-BE49-F238E27FC236}">
                <a16:creationId xmlns:a16="http://schemas.microsoft.com/office/drawing/2014/main" id="{25B55D7C-3AD9-43EE-B32F-DB3FFDA2CA1B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2867B30-1421-4AA1-B5F8-E2002E802BDF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Source: frozen ChinaTravel 12-query paired pilot; Shao et al. (2026).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8A537CF6-2912-4D20-BADD-3DBC22804B21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7377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>
            <a:extLst>
              <a:ext uri="{FF2B5EF4-FFF2-40B4-BE49-F238E27FC236}">
                <a16:creationId xmlns:a16="http://schemas.microsoft.com/office/drawing/2014/main" id="{264D02C8-BF1F-4945-967B-92A73D09FF00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18197EC-89A8-43D4-B0A2-341C2E241DFD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CHINATRAVEL · GROUNDING AUDIT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5166127-6CCE-4700-9337-D78D22B6F457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Apparent efficiency came from shorter failure paths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242E301-8C50-40DE-85BB-4FE002FD87C6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Entity-level audit separates retrieval, use, placeholders, and fabrication.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80A7843-268D-41EA-B3AD-9A0E733C4D27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46CDB26-ED5E-4DCA-A1BE-D6B7432E7A1B}"/>
              </a:ext>
            </a:extLst>
          </p:cNvPr>
          <p:cNvSpPr>
            <a:spLocks noGrp="1"/>
          </p:cNvSpPr>
          <p:nvPr/>
        </p:nvSpPr>
        <p:spPr>
          <a:xfrm>
            <a:off x="704850" y="2009775"/>
            <a:ext cx="29527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PRIMARY ACTIVITY ENTITIES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0355163-B8C1-495A-960D-934119428BD7}"/>
              </a:ext>
            </a:extLst>
          </p:cNvPr>
          <p:cNvSpPr>
            <a:spLocks noGrp="1"/>
          </p:cNvSpPr>
          <p:nvPr/>
        </p:nvSpPr>
        <p:spPr>
          <a:xfrm>
            <a:off x="723900" y="274320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CT-B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615C8A-D382-4CED-9BDB-5DBB00EEA249}"/>
              </a:ext>
            </a:extLst>
          </p:cNvPr>
          <p:cNvSpPr>
            <a:spLocks noGrp="1"/>
          </p:cNvSpPr>
          <p:nvPr/>
        </p:nvSpPr>
        <p:spPr>
          <a:xfrm>
            <a:off x="1428750" y="2619375"/>
            <a:ext cx="4350644" cy="514350"/>
          </a:xfrm>
          <a:prstGeom prst="rect">
            <a:avLst/>
          </a:prstGeom>
          <a:solidFill>
            <a:srgbClr val="168474"/>
          </a:solidFill>
          <a:ln w="0">
            <a:solidFill>
              <a:srgbClr val="168474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39A3692-EF04-4289-AD97-9A9B810DEB17}"/>
              </a:ext>
            </a:extLst>
          </p:cNvPr>
          <p:cNvSpPr>
            <a:spLocks noGrp="1"/>
          </p:cNvSpPr>
          <p:nvPr/>
        </p:nvSpPr>
        <p:spPr>
          <a:xfrm>
            <a:off x="1428750" y="2743200"/>
            <a:ext cx="4350644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69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628745-560D-4DBD-ACD2-FDD904665595}"/>
              </a:ext>
            </a:extLst>
          </p:cNvPr>
          <p:cNvSpPr>
            <a:spLocks noGrp="1"/>
          </p:cNvSpPr>
          <p:nvPr/>
        </p:nvSpPr>
        <p:spPr>
          <a:xfrm>
            <a:off x="5779394" y="2619375"/>
            <a:ext cx="126106" cy="514350"/>
          </a:xfrm>
          <a:prstGeom prst="rect">
            <a:avLst/>
          </a:prstGeom>
          <a:solidFill>
            <a:srgbClr val="BB8A2B"/>
          </a:solidFill>
          <a:ln w="0">
            <a:solidFill>
              <a:srgbClr val="BB8A2B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0F4C0DB-1E03-4336-886B-8817D610DB39}"/>
              </a:ext>
            </a:extLst>
          </p:cNvPr>
          <p:cNvSpPr>
            <a:spLocks noGrp="1"/>
          </p:cNvSpPr>
          <p:nvPr/>
        </p:nvSpPr>
        <p:spPr>
          <a:xfrm>
            <a:off x="6000750" y="2752725"/>
            <a:ext cx="5238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82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n=71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C43770-C20E-40AA-ABE8-35A194DC0AD4}"/>
              </a:ext>
            </a:extLst>
          </p:cNvPr>
          <p:cNvSpPr>
            <a:spLocks noGrp="1"/>
          </p:cNvSpPr>
          <p:nvPr/>
        </p:nvSpPr>
        <p:spPr>
          <a:xfrm>
            <a:off x="723900" y="3695700"/>
            <a:ext cx="571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CT-C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646379-DA2B-479A-8C1A-01A04AB5D985}"/>
              </a:ext>
            </a:extLst>
          </p:cNvPr>
          <p:cNvSpPr>
            <a:spLocks noGrp="1"/>
          </p:cNvSpPr>
          <p:nvPr/>
        </p:nvSpPr>
        <p:spPr>
          <a:xfrm>
            <a:off x="1428750" y="3571875"/>
            <a:ext cx="2547744" cy="514350"/>
          </a:xfrm>
          <a:prstGeom prst="rect">
            <a:avLst/>
          </a:prstGeom>
          <a:solidFill>
            <a:srgbClr val="168474"/>
          </a:solidFill>
          <a:ln w="0">
            <a:solidFill>
              <a:srgbClr val="168474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1B0F5C-C111-438B-A1EA-8B4BE11BD5B5}"/>
              </a:ext>
            </a:extLst>
          </p:cNvPr>
          <p:cNvSpPr>
            <a:spLocks noGrp="1"/>
          </p:cNvSpPr>
          <p:nvPr/>
        </p:nvSpPr>
        <p:spPr>
          <a:xfrm>
            <a:off x="1428750" y="3695700"/>
            <a:ext cx="2547744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70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E725EA4-79FA-47D7-8323-96BD56C8414B}"/>
              </a:ext>
            </a:extLst>
          </p:cNvPr>
          <p:cNvSpPr>
            <a:spLocks noGrp="1"/>
          </p:cNvSpPr>
          <p:nvPr/>
        </p:nvSpPr>
        <p:spPr>
          <a:xfrm>
            <a:off x="3976494" y="3571875"/>
            <a:ext cx="655134" cy="514350"/>
          </a:xfrm>
          <a:prstGeom prst="rect">
            <a:avLst/>
          </a:prstGeom>
          <a:solidFill>
            <a:srgbClr val="BB8A2B"/>
          </a:solidFill>
          <a:ln w="0">
            <a:solidFill>
              <a:srgbClr val="BB8A2B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D3B0E1-4BCB-43BF-83BF-1F18140E8F93}"/>
              </a:ext>
            </a:extLst>
          </p:cNvPr>
          <p:cNvSpPr>
            <a:spLocks noGrp="1"/>
          </p:cNvSpPr>
          <p:nvPr/>
        </p:nvSpPr>
        <p:spPr>
          <a:xfrm>
            <a:off x="3976494" y="3695700"/>
            <a:ext cx="655134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18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4D3322C-4862-46B3-B628-D6A497C624AF}"/>
              </a:ext>
            </a:extLst>
          </p:cNvPr>
          <p:cNvSpPr>
            <a:spLocks noGrp="1"/>
          </p:cNvSpPr>
          <p:nvPr/>
        </p:nvSpPr>
        <p:spPr>
          <a:xfrm>
            <a:off x="4631628" y="3571875"/>
            <a:ext cx="400360" cy="514350"/>
          </a:xfrm>
          <a:prstGeom prst="rect">
            <a:avLst/>
          </a:prstGeom>
          <a:solidFill>
            <a:srgbClr val="245777"/>
          </a:solidFill>
          <a:ln w="0">
            <a:solidFill>
              <a:srgbClr val="245777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017EF4F-2E4E-4C52-A0FA-8D31C8274DDA}"/>
              </a:ext>
            </a:extLst>
          </p:cNvPr>
          <p:cNvSpPr>
            <a:spLocks noGrp="1"/>
          </p:cNvSpPr>
          <p:nvPr/>
        </p:nvSpPr>
        <p:spPr>
          <a:xfrm>
            <a:off x="4631628" y="3695700"/>
            <a:ext cx="40036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385C611-7752-492F-8505-6DD7B9823D4D}"/>
              </a:ext>
            </a:extLst>
          </p:cNvPr>
          <p:cNvSpPr>
            <a:spLocks noGrp="1"/>
          </p:cNvSpPr>
          <p:nvPr/>
        </p:nvSpPr>
        <p:spPr>
          <a:xfrm>
            <a:off x="5031988" y="3571875"/>
            <a:ext cx="727927" cy="514350"/>
          </a:xfrm>
          <a:prstGeom prst="rect">
            <a:avLst/>
          </a:prstGeom>
          <a:solidFill>
            <a:srgbClr val="637083"/>
          </a:solidFill>
          <a:ln w="0">
            <a:solidFill>
              <a:srgbClr val="637083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DE926C1-CCCF-4800-9F3D-8E8FBF52EB9B}"/>
              </a:ext>
            </a:extLst>
          </p:cNvPr>
          <p:cNvSpPr>
            <a:spLocks noGrp="1"/>
          </p:cNvSpPr>
          <p:nvPr/>
        </p:nvSpPr>
        <p:spPr>
          <a:xfrm>
            <a:off x="5031988" y="3695700"/>
            <a:ext cx="727927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20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6BACA4C-5602-40EF-9483-ED471F1A0E94}"/>
              </a:ext>
            </a:extLst>
          </p:cNvPr>
          <p:cNvSpPr>
            <a:spLocks noGrp="1"/>
          </p:cNvSpPr>
          <p:nvPr/>
        </p:nvSpPr>
        <p:spPr>
          <a:xfrm>
            <a:off x="5759915" y="3571875"/>
            <a:ext cx="145585" cy="514350"/>
          </a:xfrm>
          <a:prstGeom prst="rect">
            <a:avLst/>
          </a:prstGeom>
          <a:solidFill>
            <a:srgbClr val="B94C45"/>
          </a:solidFill>
          <a:ln w="0">
            <a:solidFill>
              <a:srgbClr val="B94C45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FAB3547-3456-43AD-9C1B-639817F55ECF}"/>
              </a:ext>
            </a:extLst>
          </p:cNvPr>
          <p:cNvSpPr>
            <a:spLocks noGrp="1"/>
          </p:cNvSpPr>
          <p:nvPr/>
        </p:nvSpPr>
        <p:spPr>
          <a:xfrm>
            <a:off x="6000750" y="3705225"/>
            <a:ext cx="5238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845"/>
          </a:bodyPr>
          <a:lstStyle/>
          <a:p>
            <a:pPr algn="l">
              <a:buNone/>
              <a:defRPr sz="82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n=123</a:t>
            </a: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9BA1C3D6-E2EE-45E3-AAB4-3FAA7CAB2929}"/>
              </a:ext>
            </a:extLst>
          </p:cNvPr>
          <p:cNvSpPr>
            <a:spLocks noGrp="1"/>
          </p:cNvSpPr>
          <p:nvPr/>
        </p:nvSpPr>
        <p:spPr>
          <a:xfrm>
            <a:off x="723900" y="4638675"/>
            <a:ext cx="114300" cy="114300"/>
          </a:xfrm>
          <a:prstGeom prst="ellipse">
            <a:avLst/>
          </a:prstGeom>
          <a:solidFill>
            <a:srgbClr val="168474"/>
          </a:solidFill>
          <a:ln w="9525">
            <a:solidFill>
              <a:srgbClr val="168474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2AD2D03-6424-4BF0-B6F4-E96DC9573A04}"/>
              </a:ext>
            </a:extLst>
          </p:cNvPr>
          <p:cNvSpPr>
            <a:spLocks noGrp="1"/>
          </p:cNvSpPr>
          <p:nvPr/>
        </p:nvSpPr>
        <p:spPr>
          <a:xfrm>
            <a:off x="914400" y="4591050"/>
            <a:ext cx="23336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Retrieved + consistent</a:t>
            </a: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0F595D5C-A5B1-41B5-992B-7E51478401C4}"/>
              </a:ext>
            </a:extLst>
          </p:cNvPr>
          <p:cNvSpPr>
            <a:spLocks noGrp="1"/>
          </p:cNvSpPr>
          <p:nvPr/>
        </p:nvSpPr>
        <p:spPr>
          <a:xfrm>
            <a:off x="3486150" y="4638675"/>
            <a:ext cx="114300" cy="114300"/>
          </a:xfrm>
          <a:prstGeom prst="ellipse">
            <a:avLst/>
          </a:prstGeom>
          <a:solidFill>
            <a:srgbClr val="BB8A2B"/>
          </a:solidFill>
          <a:ln w="9525">
            <a:solidFill>
              <a:srgbClr val="BB8A2B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1532F32-B9CB-4F9E-8D20-CBB5BB8ABCE3}"/>
              </a:ext>
            </a:extLst>
          </p:cNvPr>
          <p:cNvSpPr>
            <a:spLocks noGrp="1"/>
          </p:cNvSpPr>
          <p:nvPr/>
        </p:nvSpPr>
        <p:spPr>
          <a:xfrm>
            <a:off x="3676650" y="4591050"/>
            <a:ext cx="23336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000" lnSpcReduction="20000"/>
          </a:bodyPr>
          <a:lstStyle/>
          <a:p>
            <a:pPr algn="l">
              <a:buNone/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Retrieved + inconsistent</a:t>
            </a: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2F376899-D20F-4375-986B-79710C8A0D7E}"/>
              </a:ext>
            </a:extLst>
          </p:cNvPr>
          <p:cNvSpPr>
            <a:spLocks noGrp="1"/>
          </p:cNvSpPr>
          <p:nvPr/>
        </p:nvSpPr>
        <p:spPr>
          <a:xfrm>
            <a:off x="723900" y="4972050"/>
            <a:ext cx="114300" cy="114300"/>
          </a:xfrm>
          <a:prstGeom prst="ellipse">
            <a:avLst/>
          </a:prstGeom>
          <a:solidFill>
            <a:srgbClr val="245777"/>
          </a:solidFill>
          <a:ln w="9525">
            <a:solidFill>
              <a:srgbClr val="245777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826C08D-27AB-47B9-826F-B51403F62C99}"/>
              </a:ext>
            </a:extLst>
          </p:cNvPr>
          <p:cNvSpPr>
            <a:spLocks noGrp="1"/>
          </p:cNvSpPr>
          <p:nvPr/>
        </p:nvSpPr>
        <p:spPr>
          <a:xfrm>
            <a:off x="914400" y="4924425"/>
            <a:ext cx="23336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000" lnSpcReduction="20000"/>
          </a:bodyPr>
          <a:lstStyle/>
          <a:p>
            <a:pPr algn="l">
              <a:buNone/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Sandbox-valid, unobserved</a:t>
            </a: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959EEC7E-C1B8-4B58-BE8B-EB1D39401D30}"/>
              </a:ext>
            </a:extLst>
          </p:cNvPr>
          <p:cNvSpPr>
            <a:spLocks noGrp="1"/>
          </p:cNvSpPr>
          <p:nvPr/>
        </p:nvSpPr>
        <p:spPr>
          <a:xfrm>
            <a:off x="3486150" y="4972050"/>
            <a:ext cx="114300" cy="114300"/>
          </a:xfrm>
          <a:prstGeom prst="ellipse">
            <a:avLst/>
          </a:prstGeom>
          <a:solidFill>
            <a:srgbClr val="637083"/>
          </a:solidFill>
          <a:ln w="9525">
            <a:solidFill>
              <a:srgbClr val="637083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2367788-F185-4A08-9168-446E9A4F80E2}"/>
              </a:ext>
            </a:extLst>
          </p:cNvPr>
          <p:cNvSpPr>
            <a:spLocks noGrp="1"/>
          </p:cNvSpPr>
          <p:nvPr/>
        </p:nvSpPr>
        <p:spPr>
          <a:xfrm>
            <a:off x="3676650" y="4924425"/>
            <a:ext cx="23336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Generic placeholder</a:t>
            </a: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CF0DC5CD-5276-4D47-A9BF-9168E9F2B22D}"/>
              </a:ext>
            </a:extLst>
          </p:cNvPr>
          <p:cNvSpPr>
            <a:spLocks noGrp="1"/>
          </p:cNvSpPr>
          <p:nvPr/>
        </p:nvSpPr>
        <p:spPr>
          <a:xfrm>
            <a:off x="723900" y="5305425"/>
            <a:ext cx="114300" cy="114300"/>
          </a:xfrm>
          <a:prstGeom prst="ellipse">
            <a:avLst/>
          </a:prstGeom>
          <a:solidFill>
            <a:srgbClr val="B94C45"/>
          </a:solidFill>
          <a:ln w="9525">
            <a:solidFill>
              <a:srgbClr val="B94C45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B0B7388-8B09-41FB-8BE1-2B7B0CDB4EF0}"/>
              </a:ext>
            </a:extLst>
          </p:cNvPr>
          <p:cNvSpPr>
            <a:spLocks noGrp="1"/>
          </p:cNvSpPr>
          <p:nvPr/>
        </p:nvSpPr>
        <p:spPr>
          <a:xfrm>
            <a:off x="914400" y="5257800"/>
            <a:ext cx="233362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Fabricated / invalid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2732C9F-7F51-4A3C-AD26-E3FC90804E7D}"/>
              </a:ext>
            </a:extLst>
          </p:cNvPr>
          <p:cNvSpPr>
            <a:spLocks noGrp="1"/>
          </p:cNvSpPr>
          <p:nvPr/>
        </p:nvSpPr>
        <p:spPr>
          <a:xfrm>
            <a:off x="714375" y="5619750"/>
            <a:ext cx="2000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9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Fully grounded plans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7F811CD-21DE-405A-B2C6-663C7DD7091D}"/>
              </a:ext>
            </a:extLst>
          </p:cNvPr>
          <p:cNvSpPr>
            <a:spLocks noGrp="1"/>
          </p:cNvSpPr>
          <p:nvPr/>
        </p:nvSpPr>
        <p:spPr>
          <a:xfrm>
            <a:off x="2733675" y="5505450"/>
            <a:ext cx="2857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buNone/>
              <a:defRPr sz="1875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defRPr>
            </a:pPr>
            <a:r>
              <a:rPr sz="1875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rPr>
              <a:t>2 / 12  →  1 / 12</a:t>
            </a:r>
          </a:p>
        </p:txBody>
      </p:sp>
      <p:sp>
        <p:nvSpPr>
          <p:cNvPr id="35" name="直接连接符 34">
            <a:extLst>
              <a:ext uri="{FF2B5EF4-FFF2-40B4-BE49-F238E27FC236}">
                <a16:creationId xmlns:a16="http://schemas.microsoft.com/office/drawing/2014/main" id="{6DF2AF4C-10F1-426A-BF58-32B9862BD26C}"/>
              </a:ext>
            </a:extLst>
          </p:cNvPr>
          <p:cNvSpPr>
            <a:spLocks noGrp="1"/>
          </p:cNvSpPr>
          <p:nvPr/>
        </p:nvSpPr>
        <p:spPr>
          <a:xfrm>
            <a:off x="6667500" y="2009775"/>
            <a:ext cx="0" cy="400050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FA91448-A91F-4229-AC75-A0A7EA3C3088}"/>
              </a:ext>
            </a:extLst>
          </p:cNvPr>
          <p:cNvSpPr>
            <a:spLocks noGrp="1"/>
          </p:cNvSpPr>
          <p:nvPr/>
        </p:nvSpPr>
        <p:spPr>
          <a:xfrm>
            <a:off x="7096125" y="2009775"/>
            <a:ext cx="2857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CT-C RELATIVE TO CT-B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BC99A5A-DDFE-494C-A7BE-6515BD97858E}"/>
              </a:ext>
            </a:extLst>
          </p:cNvPr>
          <p:cNvSpPr>
            <a:spLocks noGrp="1"/>
          </p:cNvSpPr>
          <p:nvPr/>
        </p:nvSpPr>
        <p:spPr>
          <a:xfrm>
            <a:off x="8401050" y="2428875"/>
            <a:ext cx="119062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ctr">
              <a:buNone/>
              <a:defRPr sz="9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All 12 queries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6C1F847-7C47-4586-B353-4A613160B7B4}"/>
              </a:ext>
            </a:extLst>
          </p:cNvPr>
          <p:cNvSpPr>
            <a:spLocks noGrp="1"/>
          </p:cNvSpPr>
          <p:nvPr/>
        </p:nvSpPr>
        <p:spPr>
          <a:xfrm>
            <a:off x="9858375" y="2428875"/>
            <a:ext cx="157162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259" lnSpcReduction="20000"/>
          </a:bodyPr>
          <a:lstStyle/>
          <a:p>
            <a:pPr algn="ctr">
              <a:buNone/>
              <a:defRPr sz="9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Exclude 2 zero-tool stops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DDBAB9B-7DED-4AA1-8546-3FD170AB8441}"/>
              </a:ext>
            </a:extLst>
          </p:cNvPr>
          <p:cNvSpPr>
            <a:spLocks noGrp="1"/>
          </p:cNvSpPr>
          <p:nvPr/>
        </p:nvSpPr>
        <p:spPr>
          <a:xfrm>
            <a:off x="7096125" y="3086100"/>
            <a:ext cx="11430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19"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Tokens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8C0626-B645-48FC-9530-40F725DCEA18}"/>
              </a:ext>
            </a:extLst>
          </p:cNvPr>
          <p:cNvSpPr>
            <a:spLocks noGrp="1"/>
          </p:cNvSpPr>
          <p:nvPr/>
        </p:nvSpPr>
        <p:spPr>
          <a:xfrm>
            <a:off x="8401050" y="2943225"/>
            <a:ext cx="1190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−14.2%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F261579-8509-4D02-A300-029D497A8C8A}"/>
              </a:ext>
            </a:extLst>
          </p:cNvPr>
          <p:cNvSpPr>
            <a:spLocks noGrp="1"/>
          </p:cNvSpPr>
          <p:nvPr/>
        </p:nvSpPr>
        <p:spPr>
          <a:xfrm>
            <a:off x="9858375" y="2943225"/>
            <a:ext cx="1571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rPr>
              <a:t>+2.92%</a:t>
            </a:r>
          </a:p>
        </p:txBody>
      </p:sp>
      <p:sp>
        <p:nvSpPr>
          <p:cNvPr id="42" name="直接连接符 41">
            <a:extLst>
              <a:ext uri="{FF2B5EF4-FFF2-40B4-BE49-F238E27FC236}">
                <a16:creationId xmlns:a16="http://schemas.microsoft.com/office/drawing/2014/main" id="{737A3AF9-9DF6-40BF-B3AA-2C70B29130C2}"/>
              </a:ext>
            </a:extLst>
          </p:cNvPr>
          <p:cNvSpPr>
            <a:spLocks noGrp="1"/>
          </p:cNvSpPr>
          <p:nvPr/>
        </p:nvSpPr>
        <p:spPr>
          <a:xfrm>
            <a:off x="7096125" y="3524250"/>
            <a:ext cx="4333875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0174BC3-E789-4E5C-AF9E-D3F8774826D0}"/>
              </a:ext>
            </a:extLst>
          </p:cNvPr>
          <p:cNvSpPr>
            <a:spLocks noGrp="1"/>
          </p:cNvSpPr>
          <p:nvPr/>
        </p:nvSpPr>
        <p:spPr>
          <a:xfrm>
            <a:off x="7096125" y="4000500"/>
            <a:ext cx="11430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19"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Latency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DC501E1-4989-4F59-B39F-61300410D365}"/>
              </a:ext>
            </a:extLst>
          </p:cNvPr>
          <p:cNvSpPr>
            <a:spLocks noGrp="1"/>
          </p:cNvSpPr>
          <p:nvPr/>
        </p:nvSpPr>
        <p:spPr>
          <a:xfrm>
            <a:off x="8401050" y="3857625"/>
            <a:ext cx="1190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−6.9%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9EBD606-AB26-4503-97D2-473E16BB531D}"/>
              </a:ext>
            </a:extLst>
          </p:cNvPr>
          <p:cNvSpPr>
            <a:spLocks noGrp="1"/>
          </p:cNvSpPr>
          <p:nvPr/>
        </p:nvSpPr>
        <p:spPr>
          <a:xfrm>
            <a:off x="9858375" y="3857625"/>
            <a:ext cx="1571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rPr>
              <a:t>+11.75%</a:t>
            </a:r>
          </a:p>
        </p:txBody>
      </p:sp>
      <p:sp>
        <p:nvSpPr>
          <p:cNvPr id="46" name="直接连接符 45">
            <a:extLst>
              <a:ext uri="{FF2B5EF4-FFF2-40B4-BE49-F238E27FC236}">
                <a16:creationId xmlns:a16="http://schemas.microsoft.com/office/drawing/2014/main" id="{0757F6EE-76CC-43F9-94CA-50273CC658C6}"/>
              </a:ext>
            </a:extLst>
          </p:cNvPr>
          <p:cNvSpPr>
            <a:spLocks noGrp="1"/>
          </p:cNvSpPr>
          <p:nvPr/>
        </p:nvSpPr>
        <p:spPr>
          <a:xfrm>
            <a:off x="7096125" y="4438650"/>
            <a:ext cx="4333875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9CEFF283-686A-4A25-A6C3-BEE1B3D3E49F}"/>
              </a:ext>
            </a:extLst>
          </p:cNvPr>
          <p:cNvSpPr>
            <a:spLocks noGrp="1"/>
          </p:cNvSpPr>
          <p:nvPr/>
        </p:nvSpPr>
        <p:spPr>
          <a:xfrm>
            <a:off x="7096125" y="4914900"/>
            <a:ext cx="11430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19"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Tool calls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AC84639-7104-4371-909E-B166EF7AE3B0}"/>
              </a:ext>
            </a:extLst>
          </p:cNvPr>
          <p:cNvSpPr>
            <a:spLocks noGrp="1"/>
          </p:cNvSpPr>
          <p:nvPr/>
        </p:nvSpPr>
        <p:spPr>
          <a:xfrm>
            <a:off x="8401050" y="4772025"/>
            <a:ext cx="1190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−18.3%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F62EFD0-B50E-40E5-93C9-47D733E91DFF}"/>
              </a:ext>
            </a:extLst>
          </p:cNvPr>
          <p:cNvSpPr>
            <a:spLocks noGrp="1"/>
          </p:cNvSpPr>
          <p:nvPr/>
        </p:nvSpPr>
        <p:spPr>
          <a:xfrm>
            <a:off x="9858375" y="4772025"/>
            <a:ext cx="1571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6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−1.38%</a:t>
            </a:r>
          </a:p>
        </p:txBody>
      </p:sp>
      <p:sp>
        <p:nvSpPr>
          <p:cNvPr id="50" name="直接连接符 49">
            <a:extLst>
              <a:ext uri="{FF2B5EF4-FFF2-40B4-BE49-F238E27FC236}">
                <a16:creationId xmlns:a16="http://schemas.microsoft.com/office/drawing/2014/main" id="{0D8D5C64-1A24-41F1-BF8B-844D8D786938}"/>
              </a:ext>
            </a:extLst>
          </p:cNvPr>
          <p:cNvSpPr>
            <a:spLocks noGrp="1"/>
          </p:cNvSpPr>
          <p:nvPr/>
        </p:nvSpPr>
        <p:spPr>
          <a:xfrm>
            <a:off x="7096125" y="5353050"/>
            <a:ext cx="4333875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ACD2C7E8-7120-4BA9-BE41-707BA712F97A}"/>
              </a:ext>
            </a:extLst>
          </p:cNvPr>
          <p:cNvSpPr>
            <a:spLocks noGrp="1"/>
          </p:cNvSpPr>
          <p:nvPr/>
        </p:nvSpPr>
        <p:spPr>
          <a:xfrm>
            <a:off x="7096125" y="5505450"/>
            <a:ext cx="4333875" cy="571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>
                <a:solidFill>
                  <a:srgbClr val="B94C45"/>
                </a:solidFill>
                <a:latin typeface="Noto Serif SC"/>
                <a:ea typeface="Noto Serif SC"/>
                <a:cs typeface="Noto Serif SC"/>
              </a:rPr>
              <a:t>Planner changed stopping behavior without demonstrating general retrieval efficiency.</a:t>
            </a:r>
          </a:p>
        </p:txBody>
      </p:sp>
      <p:sp>
        <p:nvSpPr>
          <p:cNvPr id="52" name="直接连接符 51">
            <a:extLst>
              <a:ext uri="{FF2B5EF4-FFF2-40B4-BE49-F238E27FC236}">
                <a16:creationId xmlns:a16="http://schemas.microsoft.com/office/drawing/2014/main" id="{D9637C89-8947-4616-82AD-351056700E9D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53B8CF6-5D7A-431F-AD25-3BC5745E0CE5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Source: frozen ChinaTravel grounding audit and zero-query sensitivity analysis.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39747537-1E7E-461F-A826-270DF83CA643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9660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矩形 68">
            <a:extLst>
              <a:ext uri="{FF2B5EF4-FFF2-40B4-BE49-F238E27FC236}">
                <a16:creationId xmlns:a16="http://schemas.microsoft.com/office/drawing/2014/main" id="{8D3829FA-9B0F-4A45-9EF6-49DECED8EE18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09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DB8A61D-6EA8-4A2F-89F3-FEE6FB114781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CROSS-BENCHMARK DIAGNOSIS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25DB24F-50B9-4A15-A409-EB81500635A4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Failures accumulate before the evaluator sees the itinerary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4E0CF1-6F92-4B84-B990-1F779121A9AE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The taxonomy aligns concepts without pooling incompatible benchmark counts.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AD4DEC4C-A60D-4709-90AC-50E1DCD56CB6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50D20BA-FA55-4164-A763-3321228DFCEA}"/>
              </a:ext>
            </a:extLst>
          </p:cNvPr>
          <p:cNvSpPr>
            <a:spLocks noGrp="1"/>
          </p:cNvSpPr>
          <p:nvPr/>
        </p:nvSpPr>
        <p:spPr>
          <a:xfrm>
            <a:off x="666750" y="2076450"/>
            <a:ext cx="33337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4A669E-F5A2-4FDD-8B67-279C58455D2F}"/>
              </a:ext>
            </a:extLst>
          </p:cNvPr>
          <p:cNvSpPr>
            <a:spLocks noGrp="1"/>
          </p:cNvSpPr>
          <p:nvPr/>
        </p:nvSpPr>
        <p:spPr>
          <a:xfrm>
            <a:off x="666750" y="2352675"/>
            <a:ext cx="11620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Intent and</a:t>
            </a:r>
          </a:p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facts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A34D76E8-0C75-440F-82FA-E439733E0924}"/>
              </a:ext>
            </a:extLst>
          </p:cNvPr>
          <p:cNvSpPr>
            <a:spLocks noGrp="1"/>
          </p:cNvSpPr>
          <p:nvPr/>
        </p:nvSpPr>
        <p:spPr>
          <a:xfrm>
            <a:off x="666750" y="2924175"/>
            <a:ext cx="1095375" cy="0"/>
          </a:xfrm>
          <a:prstGeom prst="line">
            <a:avLst/>
          </a:prstGeom>
          <a:noFill/>
          <a:ln w="28575">
            <a:solidFill>
              <a:srgbClr val="24577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B11AB06-9167-49A4-A2D9-C7E78657B980}"/>
              </a:ext>
            </a:extLst>
          </p:cNvPr>
          <p:cNvSpPr>
            <a:spLocks noGrp="1"/>
          </p:cNvSpPr>
          <p:nvPr/>
        </p:nvSpPr>
        <p:spPr>
          <a:xfrm>
            <a:off x="2028825" y="2076450"/>
            <a:ext cx="33337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02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D35917D-5B7D-4342-A40C-6CF75BDB65E5}"/>
              </a:ext>
            </a:extLst>
          </p:cNvPr>
          <p:cNvSpPr>
            <a:spLocks noGrp="1"/>
          </p:cNvSpPr>
          <p:nvPr/>
        </p:nvSpPr>
        <p:spPr>
          <a:xfrm>
            <a:off x="2028825" y="2352675"/>
            <a:ext cx="11620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Constraint</a:t>
            </a:r>
          </a:p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state</a:t>
            </a:r>
          </a:p>
        </p:txBody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80C8DB67-476E-4475-82D3-AE9EF5107E4A}"/>
              </a:ext>
            </a:extLst>
          </p:cNvPr>
          <p:cNvSpPr>
            <a:spLocks noGrp="1"/>
          </p:cNvSpPr>
          <p:nvPr/>
        </p:nvSpPr>
        <p:spPr>
          <a:xfrm>
            <a:off x="2028825" y="2924175"/>
            <a:ext cx="1095375" cy="0"/>
          </a:xfrm>
          <a:prstGeom prst="line">
            <a:avLst/>
          </a:prstGeom>
          <a:noFill/>
          <a:ln w="28575">
            <a:solidFill>
              <a:srgbClr val="245777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D374C45-E620-4BC8-87A1-65F60AFF0D02}"/>
              </a:ext>
            </a:extLst>
          </p:cNvPr>
          <p:cNvSpPr>
            <a:spLocks noGrp="1"/>
          </p:cNvSpPr>
          <p:nvPr/>
        </p:nvSpPr>
        <p:spPr>
          <a:xfrm>
            <a:off x="3390900" y="2076450"/>
            <a:ext cx="33337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03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3495067-B95F-4A6F-85C3-961CC15109D6}"/>
              </a:ext>
            </a:extLst>
          </p:cNvPr>
          <p:cNvSpPr>
            <a:spLocks noGrp="1"/>
          </p:cNvSpPr>
          <p:nvPr/>
        </p:nvSpPr>
        <p:spPr>
          <a:xfrm>
            <a:off x="3390900" y="2352675"/>
            <a:ext cx="11620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Information</a:t>
            </a:r>
          </a:p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acquisition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68A79F07-7EDA-4AEE-A8DC-D7262CBCE5F4}"/>
              </a:ext>
            </a:extLst>
          </p:cNvPr>
          <p:cNvSpPr>
            <a:spLocks noGrp="1"/>
          </p:cNvSpPr>
          <p:nvPr/>
        </p:nvSpPr>
        <p:spPr>
          <a:xfrm>
            <a:off x="3390900" y="2924175"/>
            <a:ext cx="1095375" cy="0"/>
          </a:xfrm>
          <a:prstGeom prst="line">
            <a:avLst/>
          </a:prstGeom>
          <a:noFill/>
          <a:ln w="28575">
            <a:solidFill>
              <a:srgbClr val="D96846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E67C4292-3FB1-4205-8506-20EBA636A01C}"/>
              </a:ext>
            </a:extLst>
          </p:cNvPr>
          <p:cNvSpPr>
            <a:spLocks noGrp="1"/>
          </p:cNvSpPr>
          <p:nvPr/>
        </p:nvSpPr>
        <p:spPr>
          <a:xfrm>
            <a:off x="4505325" y="2933700"/>
            <a:ext cx="180975" cy="0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6BD0FB22-1C34-4C33-81AD-86EF6224FDFA}"/>
              </a:ext>
            </a:extLst>
          </p:cNvPr>
          <p:cNvSpPr>
            <a:spLocks noGrp="1"/>
          </p:cNvSpPr>
          <p:nvPr/>
        </p:nvSpPr>
        <p:spPr>
          <a:xfrm>
            <a:off x="4600575" y="2886075"/>
            <a:ext cx="85725" cy="47625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95039591-B621-479A-828A-98FF1C97E7B7}"/>
              </a:ext>
            </a:extLst>
          </p:cNvPr>
          <p:cNvSpPr>
            <a:spLocks noGrp="1"/>
          </p:cNvSpPr>
          <p:nvPr/>
        </p:nvSpPr>
        <p:spPr>
          <a:xfrm flipV="1">
            <a:off x="4600575" y="2933700"/>
            <a:ext cx="85725" cy="57147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ADE3FC8-A1F6-4898-98D4-02D2A2692620}"/>
              </a:ext>
            </a:extLst>
          </p:cNvPr>
          <p:cNvSpPr>
            <a:spLocks noGrp="1"/>
          </p:cNvSpPr>
          <p:nvPr/>
        </p:nvSpPr>
        <p:spPr>
          <a:xfrm>
            <a:off x="4752975" y="2076450"/>
            <a:ext cx="33337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04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68F0012-6971-4E4F-BC22-42E6F2D141C3}"/>
              </a:ext>
            </a:extLst>
          </p:cNvPr>
          <p:cNvSpPr>
            <a:spLocks noGrp="1"/>
          </p:cNvSpPr>
          <p:nvPr/>
        </p:nvSpPr>
        <p:spPr>
          <a:xfrm>
            <a:off x="4752975" y="2352675"/>
            <a:ext cx="11620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Control and</a:t>
            </a:r>
          </a:p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stopping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D13E4F13-8649-4EE9-BBAF-8B58E90B2A26}"/>
              </a:ext>
            </a:extLst>
          </p:cNvPr>
          <p:cNvSpPr>
            <a:spLocks noGrp="1"/>
          </p:cNvSpPr>
          <p:nvPr/>
        </p:nvSpPr>
        <p:spPr>
          <a:xfrm>
            <a:off x="4752975" y="2924175"/>
            <a:ext cx="1095375" cy="0"/>
          </a:xfrm>
          <a:prstGeom prst="line">
            <a:avLst/>
          </a:prstGeom>
          <a:noFill/>
          <a:ln w="28575">
            <a:solidFill>
              <a:srgbClr val="D96846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4EACEC4-5428-4A2B-B134-2FC29EAEC45C}"/>
              </a:ext>
            </a:extLst>
          </p:cNvPr>
          <p:cNvSpPr>
            <a:spLocks noGrp="1"/>
          </p:cNvSpPr>
          <p:nvPr/>
        </p:nvSpPr>
        <p:spPr>
          <a:xfrm>
            <a:off x="6115050" y="2076450"/>
            <a:ext cx="33337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05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3435B95-DAC3-4F48-AD6C-44AE1AF2251A}"/>
              </a:ext>
            </a:extLst>
          </p:cNvPr>
          <p:cNvSpPr>
            <a:spLocks noGrp="1"/>
          </p:cNvSpPr>
          <p:nvPr/>
        </p:nvSpPr>
        <p:spPr>
          <a:xfrm>
            <a:off x="6115050" y="2352675"/>
            <a:ext cx="11620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Plan</a:t>
            </a:r>
          </a:p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adherence</a:t>
            </a:r>
          </a:p>
        </p:txBody>
      </p:sp>
      <p:sp>
        <p:nvSpPr>
          <p:cNvPr id="32" name="直接连接符 31">
            <a:extLst>
              <a:ext uri="{FF2B5EF4-FFF2-40B4-BE49-F238E27FC236}">
                <a16:creationId xmlns:a16="http://schemas.microsoft.com/office/drawing/2014/main" id="{D26147E7-92D4-4BA9-AC45-8C8E96507C99}"/>
              </a:ext>
            </a:extLst>
          </p:cNvPr>
          <p:cNvSpPr>
            <a:spLocks noGrp="1"/>
          </p:cNvSpPr>
          <p:nvPr/>
        </p:nvSpPr>
        <p:spPr>
          <a:xfrm>
            <a:off x="6115050" y="2924175"/>
            <a:ext cx="1095375" cy="0"/>
          </a:xfrm>
          <a:prstGeom prst="line">
            <a:avLst/>
          </a:prstGeom>
          <a:noFill/>
          <a:ln w="28575">
            <a:solidFill>
              <a:srgbClr val="168474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6B3F3CE-705B-4C3E-8009-8BFBFBDEDD0A}"/>
              </a:ext>
            </a:extLst>
          </p:cNvPr>
          <p:cNvSpPr>
            <a:spLocks noGrp="1"/>
          </p:cNvSpPr>
          <p:nvPr/>
        </p:nvSpPr>
        <p:spPr>
          <a:xfrm>
            <a:off x="7477125" y="2076450"/>
            <a:ext cx="33337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06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2E87047-C78A-4BA1-A339-81FD4BDC25E3}"/>
              </a:ext>
            </a:extLst>
          </p:cNvPr>
          <p:cNvSpPr>
            <a:spLocks noGrp="1"/>
          </p:cNvSpPr>
          <p:nvPr/>
        </p:nvSpPr>
        <p:spPr>
          <a:xfrm>
            <a:off x="7477125" y="2352675"/>
            <a:ext cx="11620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Evidence</a:t>
            </a:r>
          </a:p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use</a:t>
            </a:r>
          </a:p>
        </p:txBody>
      </p:sp>
      <p:sp>
        <p:nvSpPr>
          <p:cNvPr id="38" name="直接连接符 37">
            <a:extLst>
              <a:ext uri="{FF2B5EF4-FFF2-40B4-BE49-F238E27FC236}">
                <a16:creationId xmlns:a16="http://schemas.microsoft.com/office/drawing/2014/main" id="{699182C8-9CDE-4973-BFBA-ECC54E41BA7E}"/>
              </a:ext>
            </a:extLst>
          </p:cNvPr>
          <p:cNvSpPr>
            <a:spLocks noGrp="1"/>
          </p:cNvSpPr>
          <p:nvPr/>
        </p:nvSpPr>
        <p:spPr>
          <a:xfrm>
            <a:off x="7477125" y="2924175"/>
            <a:ext cx="1095375" cy="0"/>
          </a:xfrm>
          <a:prstGeom prst="line">
            <a:avLst/>
          </a:prstGeom>
          <a:noFill/>
          <a:ln w="28575">
            <a:solidFill>
              <a:srgbClr val="168474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34430E7-6CDA-4251-9735-F796C32439E3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33337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07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52929E1-C305-4F4C-B88B-790F45873FB0}"/>
              </a:ext>
            </a:extLst>
          </p:cNvPr>
          <p:cNvSpPr>
            <a:spLocks noGrp="1"/>
          </p:cNvSpPr>
          <p:nvPr/>
        </p:nvSpPr>
        <p:spPr>
          <a:xfrm>
            <a:off x="8839200" y="2352675"/>
            <a:ext cx="11620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Output</a:t>
            </a:r>
          </a:p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contract</a:t>
            </a:r>
          </a:p>
        </p:txBody>
      </p:sp>
      <p:sp>
        <p:nvSpPr>
          <p:cNvPr id="44" name="直接连接符 43">
            <a:extLst>
              <a:ext uri="{FF2B5EF4-FFF2-40B4-BE49-F238E27FC236}">
                <a16:creationId xmlns:a16="http://schemas.microsoft.com/office/drawing/2014/main" id="{C57E7EFD-A14A-430F-BE3C-57C5D16BFF6A}"/>
              </a:ext>
            </a:extLst>
          </p:cNvPr>
          <p:cNvSpPr>
            <a:spLocks noGrp="1"/>
          </p:cNvSpPr>
          <p:nvPr/>
        </p:nvSpPr>
        <p:spPr>
          <a:xfrm>
            <a:off x="8839200" y="2924175"/>
            <a:ext cx="1095375" cy="0"/>
          </a:xfrm>
          <a:prstGeom prst="line">
            <a:avLst/>
          </a:prstGeom>
          <a:noFill/>
          <a:ln w="28575">
            <a:solidFill>
              <a:srgbClr val="70649A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AC57413-6DA2-4323-9445-80BDD1570CA0}"/>
              </a:ext>
            </a:extLst>
          </p:cNvPr>
          <p:cNvSpPr>
            <a:spLocks noGrp="1"/>
          </p:cNvSpPr>
          <p:nvPr/>
        </p:nvSpPr>
        <p:spPr>
          <a:xfrm>
            <a:off x="10201275" y="2076450"/>
            <a:ext cx="333375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B94C45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B94C45"/>
                </a:solidFill>
                <a:latin typeface="Noto Sans SC"/>
                <a:ea typeface="Noto Sans SC"/>
                <a:cs typeface="Noto Sans SC"/>
              </a:rPr>
              <a:t>08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4F543DC-A6A8-4D67-8EF0-D00A801BE2C4}"/>
              </a:ext>
            </a:extLst>
          </p:cNvPr>
          <p:cNvSpPr>
            <a:spLocks noGrp="1"/>
          </p:cNvSpPr>
          <p:nvPr/>
        </p:nvSpPr>
        <p:spPr>
          <a:xfrm>
            <a:off x="10201275" y="2352675"/>
            <a:ext cx="11620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Global</a:t>
            </a:r>
          </a:p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feasibility</a:t>
            </a:r>
          </a:p>
        </p:txBody>
      </p:sp>
      <p:sp>
        <p:nvSpPr>
          <p:cNvPr id="50" name="直接连接符 49">
            <a:extLst>
              <a:ext uri="{FF2B5EF4-FFF2-40B4-BE49-F238E27FC236}">
                <a16:creationId xmlns:a16="http://schemas.microsoft.com/office/drawing/2014/main" id="{12706E8D-56A6-4854-B0A4-FCF14CE7AE34}"/>
              </a:ext>
            </a:extLst>
          </p:cNvPr>
          <p:cNvSpPr>
            <a:spLocks noGrp="1"/>
          </p:cNvSpPr>
          <p:nvPr/>
        </p:nvSpPr>
        <p:spPr>
          <a:xfrm>
            <a:off x="10201275" y="2924175"/>
            <a:ext cx="1095375" cy="0"/>
          </a:xfrm>
          <a:prstGeom prst="line">
            <a:avLst/>
          </a:prstGeom>
          <a:noFill/>
          <a:ln w="28575">
            <a:solidFill>
              <a:srgbClr val="B94C4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727D4800-8803-472F-B2EB-2387250EC75A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19050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750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OBSERVED FAILURE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69DE74E-2A0D-4680-B322-413C4223125A}"/>
              </a:ext>
            </a:extLst>
          </p:cNvPr>
          <p:cNvSpPr>
            <a:spLocks noGrp="1"/>
          </p:cNvSpPr>
          <p:nvPr/>
        </p:nvSpPr>
        <p:spPr>
          <a:xfrm>
            <a:off x="704850" y="3829050"/>
            <a:ext cx="571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90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TP-B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37D82EB-0DB7-4861-95A0-54F980A2F6C3}"/>
              </a:ext>
            </a:extLst>
          </p:cNvPr>
          <p:cNvSpPr>
            <a:spLocks noGrp="1"/>
          </p:cNvSpPr>
          <p:nvPr/>
        </p:nvSpPr>
        <p:spPr>
          <a:xfrm>
            <a:off x="1390650" y="3829050"/>
            <a:ext cx="4381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tool budget exhausted before a candidate</a:t>
            </a:r>
          </a:p>
        </p:txBody>
      </p:sp>
      <p:sp>
        <p:nvSpPr>
          <p:cNvPr id="54" name="直接连接符 53">
            <a:extLst>
              <a:ext uri="{FF2B5EF4-FFF2-40B4-BE49-F238E27FC236}">
                <a16:creationId xmlns:a16="http://schemas.microsoft.com/office/drawing/2014/main" id="{E95C37C6-924E-47B8-89E8-0E1FFB4A1FA0}"/>
              </a:ext>
            </a:extLst>
          </p:cNvPr>
          <p:cNvSpPr>
            <a:spLocks noGrp="1"/>
          </p:cNvSpPr>
          <p:nvPr/>
        </p:nvSpPr>
        <p:spPr>
          <a:xfrm>
            <a:off x="1390650" y="4324350"/>
            <a:ext cx="428625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42D7F8F-C25A-45B3-9422-D71D46EC4632}"/>
              </a:ext>
            </a:extLst>
          </p:cNvPr>
          <p:cNvSpPr>
            <a:spLocks noGrp="1"/>
          </p:cNvSpPr>
          <p:nvPr/>
        </p:nvSpPr>
        <p:spPr>
          <a:xfrm>
            <a:off x="6086475" y="3829050"/>
            <a:ext cx="571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9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TP-C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3969819-F929-454F-880F-C905A84203BF}"/>
              </a:ext>
            </a:extLst>
          </p:cNvPr>
          <p:cNvSpPr>
            <a:spLocks noGrp="1"/>
          </p:cNvSpPr>
          <p:nvPr/>
        </p:nvSpPr>
        <p:spPr>
          <a:xfrm>
            <a:off x="6772275" y="3829050"/>
            <a:ext cx="4381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blueprint checklist did not bind execution</a:t>
            </a:r>
          </a:p>
        </p:txBody>
      </p:sp>
      <p:sp>
        <p:nvSpPr>
          <p:cNvPr id="57" name="直接连接符 56">
            <a:extLst>
              <a:ext uri="{FF2B5EF4-FFF2-40B4-BE49-F238E27FC236}">
                <a16:creationId xmlns:a16="http://schemas.microsoft.com/office/drawing/2014/main" id="{64735FDC-C67F-4C1C-8202-5E6FA5F89209}"/>
              </a:ext>
            </a:extLst>
          </p:cNvPr>
          <p:cNvSpPr>
            <a:spLocks noGrp="1"/>
          </p:cNvSpPr>
          <p:nvPr/>
        </p:nvSpPr>
        <p:spPr>
          <a:xfrm>
            <a:off x="6772275" y="4324350"/>
            <a:ext cx="428625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3B6EBCD-4B96-41F5-831F-034A1A62EFCA}"/>
              </a:ext>
            </a:extLst>
          </p:cNvPr>
          <p:cNvSpPr>
            <a:spLocks noGrp="1"/>
          </p:cNvSpPr>
          <p:nvPr/>
        </p:nvSpPr>
        <p:spPr>
          <a:xfrm>
            <a:off x="704850" y="4610100"/>
            <a:ext cx="571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900" b="1">
                <a:solidFill>
                  <a:srgbClr val="B94C45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B94C45"/>
                </a:solidFill>
                <a:latin typeface="Noto Sans SC"/>
                <a:ea typeface="Noto Sans SC"/>
                <a:cs typeface="Noto Sans SC"/>
              </a:rPr>
              <a:t>CT-C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A4B04772-C812-4A34-ABD4-D2993DA2D3D0}"/>
              </a:ext>
            </a:extLst>
          </p:cNvPr>
          <p:cNvSpPr>
            <a:spLocks noGrp="1"/>
          </p:cNvSpPr>
          <p:nvPr/>
        </p:nvSpPr>
        <p:spPr>
          <a:xfrm>
            <a:off x="1390650" y="4610100"/>
            <a:ext cx="4381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zero-tool answer fabricated unsupported fields</a:t>
            </a:r>
          </a:p>
        </p:txBody>
      </p:sp>
      <p:sp>
        <p:nvSpPr>
          <p:cNvPr id="60" name="直接连接符 59">
            <a:extLst>
              <a:ext uri="{FF2B5EF4-FFF2-40B4-BE49-F238E27FC236}">
                <a16:creationId xmlns:a16="http://schemas.microsoft.com/office/drawing/2014/main" id="{698C8332-3510-432A-A9B7-F7DB41003149}"/>
              </a:ext>
            </a:extLst>
          </p:cNvPr>
          <p:cNvSpPr>
            <a:spLocks noGrp="1"/>
          </p:cNvSpPr>
          <p:nvPr/>
        </p:nvSpPr>
        <p:spPr>
          <a:xfrm>
            <a:off x="1390650" y="5105400"/>
            <a:ext cx="428625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B8B5C6B0-0FB7-4258-92F5-01D13B2925A3}"/>
              </a:ext>
            </a:extLst>
          </p:cNvPr>
          <p:cNvSpPr>
            <a:spLocks noGrp="1"/>
          </p:cNvSpPr>
          <p:nvPr/>
        </p:nvSpPr>
        <p:spPr>
          <a:xfrm>
            <a:off x="6086475" y="4610100"/>
            <a:ext cx="571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345" lnSpcReduction="10000"/>
          </a:bodyPr>
          <a:lstStyle/>
          <a:p>
            <a:pPr algn="l">
              <a:buNone/>
              <a:defRPr sz="900" b="1">
                <a:solidFill>
                  <a:srgbClr val="BB8A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BB8A2B"/>
                </a:solidFill>
                <a:latin typeface="Noto Sans SC"/>
                <a:ea typeface="Noto Sans SC"/>
                <a:cs typeface="Noto Sans SC"/>
              </a:rPr>
              <a:t>CT-C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CFECCCE-915E-4E26-B756-56B4D0729936}"/>
              </a:ext>
            </a:extLst>
          </p:cNvPr>
          <p:cNvSpPr>
            <a:spLocks noGrp="1"/>
          </p:cNvSpPr>
          <p:nvPr/>
        </p:nvSpPr>
        <p:spPr>
          <a:xfrm>
            <a:off x="6772275" y="4610100"/>
            <a:ext cx="4381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retrieved entity used with inconsistent fields</a:t>
            </a:r>
          </a:p>
        </p:txBody>
      </p:sp>
      <p:sp>
        <p:nvSpPr>
          <p:cNvPr id="63" name="直接连接符 62">
            <a:extLst>
              <a:ext uri="{FF2B5EF4-FFF2-40B4-BE49-F238E27FC236}">
                <a16:creationId xmlns:a16="http://schemas.microsoft.com/office/drawing/2014/main" id="{1A341D38-09AB-417E-986E-580929EE686B}"/>
              </a:ext>
            </a:extLst>
          </p:cNvPr>
          <p:cNvSpPr>
            <a:spLocks noGrp="1"/>
          </p:cNvSpPr>
          <p:nvPr/>
        </p:nvSpPr>
        <p:spPr>
          <a:xfrm>
            <a:off x="6772275" y="5105400"/>
            <a:ext cx="428625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BA4FD0DE-C16C-45A1-A7F2-5B898863F2B6}"/>
              </a:ext>
            </a:extLst>
          </p:cNvPr>
          <p:cNvSpPr>
            <a:spLocks noGrp="1"/>
          </p:cNvSpPr>
          <p:nvPr/>
        </p:nvSpPr>
        <p:spPr>
          <a:xfrm>
            <a:off x="704850" y="5581650"/>
            <a:ext cx="10429875" cy="495300"/>
          </a:xfrm>
          <a:prstGeom prst="rect">
            <a:avLst/>
          </a:prstGeom>
          <a:solidFill>
            <a:srgbClr val="FCFAF5"/>
          </a:solidFill>
          <a:ln w="14288">
            <a:solidFill>
              <a:srgbClr val="168474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1DBEF42-E971-41A6-B65B-7D0D2117AF98}"/>
              </a:ext>
            </a:extLst>
          </p:cNvPr>
          <p:cNvSpPr>
            <a:spLocks noGrp="1"/>
          </p:cNvSpPr>
          <p:nvPr/>
        </p:nvSpPr>
        <p:spPr>
          <a:xfrm>
            <a:off x="895350" y="5676900"/>
            <a:ext cx="10106633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1125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Acquiring information solves only the first half of the problem. The Agent must preserve provenance and use evidence consistently.</a:t>
            </a:r>
          </a:p>
        </p:txBody>
      </p:sp>
      <p:sp>
        <p:nvSpPr>
          <p:cNvPr id="66" name="直接连接符 65">
            <a:extLst>
              <a:ext uri="{FF2B5EF4-FFF2-40B4-BE49-F238E27FC236}">
                <a16:creationId xmlns:a16="http://schemas.microsoft.com/office/drawing/2014/main" id="{D178E267-A221-4A1E-913D-BE74702566A1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8F691F48-5386-4003-8EB8-454A43914C7E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Source: frozen cross-benchmark failure audits; unified_failure_taxonomy.json.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AF90CB6-C86D-40E9-A630-D219B96340FF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9</a:t>
            </a:r>
          </a:p>
        </p:txBody>
      </p:sp>
      <p:sp>
        <p:nvSpPr>
          <p:cNvPr id="71" name="直接连接符 70">
            <a:extLst>
              <a:ext uri="{FF2B5EF4-FFF2-40B4-BE49-F238E27FC236}">
                <a16:creationId xmlns:a16="http://schemas.microsoft.com/office/drawing/2014/main" id="{124DDA00-67B1-0DD3-1FEF-85D384D6DBA3}"/>
              </a:ext>
            </a:extLst>
          </p:cNvPr>
          <p:cNvSpPr>
            <a:spLocks noGrp="1"/>
          </p:cNvSpPr>
          <p:nvPr/>
        </p:nvSpPr>
        <p:spPr>
          <a:xfrm>
            <a:off x="8604250" y="2927350"/>
            <a:ext cx="180975" cy="0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73" name="直接连接符 72">
            <a:extLst>
              <a:ext uri="{FF2B5EF4-FFF2-40B4-BE49-F238E27FC236}">
                <a16:creationId xmlns:a16="http://schemas.microsoft.com/office/drawing/2014/main" id="{51DC9BF4-A750-3AAA-3135-D66A1B769881}"/>
              </a:ext>
            </a:extLst>
          </p:cNvPr>
          <p:cNvSpPr>
            <a:spLocks noGrp="1"/>
          </p:cNvSpPr>
          <p:nvPr/>
        </p:nvSpPr>
        <p:spPr>
          <a:xfrm>
            <a:off x="8699500" y="2879725"/>
            <a:ext cx="85725" cy="47625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75" name="直接连接符 74">
            <a:extLst>
              <a:ext uri="{FF2B5EF4-FFF2-40B4-BE49-F238E27FC236}">
                <a16:creationId xmlns:a16="http://schemas.microsoft.com/office/drawing/2014/main" id="{336B0BC7-E751-54F7-1C11-468D94E75C57}"/>
              </a:ext>
            </a:extLst>
          </p:cNvPr>
          <p:cNvSpPr>
            <a:spLocks noGrp="1"/>
          </p:cNvSpPr>
          <p:nvPr/>
        </p:nvSpPr>
        <p:spPr>
          <a:xfrm flipV="1">
            <a:off x="8699500" y="2927350"/>
            <a:ext cx="85725" cy="57147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78" name="直接连接符 77">
            <a:extLst>
              <a:ext uri="{FF2B5EF4-FFF2-40B4-BE49-F238E27FC236}">
                <a16:creationId xmlns:a16="http://schemas.microsoft.com/office/drawing/2014/main" id="{EB4AE00F-3B80-8E96-2A20-31480DCB8BDA}"/>
              </a:ext>
            </a:extLst>
          </p:cNvPr>
          <p:cNvSpPr>
            <a:spLocks noGrp="1"/>
          </p:cNvSpPr>
          <p:nvPr/>
        </p:nvSpPr>
        <p:spPr>
          <a:xfrm>
            <a:off x="9940925" y="2924175"/>
            <a:ext cx="180975" cy="0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80" name="直接连接符 79">
            <a:extLst>
              <a:ext uri="{FF2B5EF4-FFF2-40B4-BE49-F238E27FC236}">
                <a16:creationId xmlns:a16="http://schemas.microsoft.com/office/drawing/2014/main" id="{4D91D16D-CB7C-D772-0995-F49184702824}"/>
              </a:ext>
            </a:extLst>
          </p:cNvPr>
          <p:cNvSpPr>
            <a:spLocks noGrp="1"/>
          </p:cNvSpPr>
          <p:nvPr/>
        </p:nvSpPr>
        <p:spPr>
          <a:xfrm>
            <a:off x="10036175" y="2876550"/>
            <a:ext cx="85725" cy="47625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82" name="直接连接符 81">
            <a:extLst>
              <a:ext uri="{FF2B5EF4-FFF2-40B4-BE49-F238E27FC236}">
                <a16:creationId xmlns:a16="http://schemas.microsoft.com/office/drawing/2014/main" id="{E8F4104A-DEC7-139D-6297-B45BB3F6CE6B}"/>
              </a:ext>
            </a:extLst>
          </p:cNvPr>
          <p:cNvSpPr>
            <a:spLocks noGrp="1"/>
          </p:cNvSpPr>
          <p:nvPr/>
        </p:nvSpPr>
        <p:spPr>
          <a:xfrm flipV="1">
            <a:off x="10036175" y="2924175"/>
            <a:ext cx="85725" cy="57147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84" name="直接连接符 83">
            <a:extLst>
              <a:ext uri="{FF2B5EF4-FFF2-40B4-BE49-F238E27FC236}">
                <a16:creationId xmlns:a16="http://schemas.microsoft.com/office/drawing/2014/main" id="{3A7CC9F2-4262-5393-3ADD-DAF16E1E1A5A}"/>
              </a:ext>
            </a:extLst>
          </p:cNvPr>
          <p:cNvSpPr>
            <a:spLocks noGrp="1"/>
          </p:cNvSpPr>
          <p:nvPr/>
        </p:nvSpPr>
        <p:spPr>
          <a:xfrm>
            <a:off x="1787525" y="2930525"/>
            <a:ext cx="180975" cy="0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86" name="直接连接符 85">
            <a:extLst>
              <a:ext uri="{FF2B5EF4-FFF2-40B4-BE49-F238E27FC236}">
                <a16:creationId xmlns:a16="http://schemas.microsoft.com/office/drawing/2014/main" id="{44B9B7D6-E83B-60C3-B235-3E28DBBE9DB3}"/>
              </a:ext>
            </a:extLst>
          </p:cNvPr>
          <p:cNvSpPr>
            <a:spLocks noGrp="1"/>
          </p:cNvSpPr>
          <p:nvPr/>
        </p:nvSpPr>
        <p:spPr>
          <a:xfrm>
            <a:off x="1882775" y="2882900"/>
            <a:ext cx="85725" cy="47625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88" name="直接连接符 87">
            <a:extLst>
              <a:ext uri="{FF2B5EF4-FFF2-40B4-BE49-F238E27FC236}">
                <a16:creationId xmlns:a16="http://schemas.microsoft.com/office/drawing/2014/main" id="{5D4E775C-329F-2D2F-22CE-E1E2BEA931CA}"/>
              </a:ext>
            </a:extLst>
          </p:cNvPr>
          <p:cNvSpPr>
            <a:spLocks noGrp="1"/>
          </p:cNvSpPr>
          <p:nvPr/>
        </p:nvSpPr>
        <p:spPr>
          <a:xfrm flipV="1">
            <a:off x="1882775" y="2930525"/>
            <a:ext cx="85725" cy="57147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90" name="直接连接符 89">
            <a:extLst>
              <a:ext uri="{FF2B5EF4-FFF2-40B4-BE49-F238E27FC236}">
                <a16:creationId xmlns:a16="http://schemas.microsoft.com/office/drawing/2014/main" id="{AE1A0163-1417-8733-5CA6-5C5930DA963B}"/>
              </a:ext>
            </a:extLst>
          </p:cNvPr>
          <p:cNvSpPr>
            <a:spLocks noGrp="1"/>
          </p:cNvSpPr>
          <p:nvPr/>
        </p:nvSpPr>
        <p:spPr>
          <a:xfrm>
            <a:off x="3143250" y="2930525"/>
            <a:ext cx="180975" cy="0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92" name="直接连接符 91">
            <a:extLst>
              <a:ext uri="{FF2B5EF4-FFF2-40B4-BE49-F238E27FC236}">
                <a16:creationId xmlns:a16="http://schemas.microsoft.com/office/drawing/2014/main" id="{14A1E5A1-62F8-5B1C-E48E-3BCFBE3E28FE}"/>
              </a:ext>
            </a:extLst>
          </p:cNvPr>
          <p:cNvSpPr>
            <a:spLocks noGrp="1"/>
          </p:cNvSpPr>
          <p:nvPr/>
        </p:nvSpPr>
        <p:spPr>
          <a:xfrm>
            <a:off x="3238500" y="2882900"/>
            <a:ext cx="85725" cy="47625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94" name="直接连接符 93">
            <a:extLst>
              <a:ext uri="{FF2B5EF4-FFF2-40B4-BE49-F238E27FC236}">
                <a16:creationId xmlns:a16="http://schemas.microsoft.com/office/drawing/2014/main" id="{E3B567BF-07A4-A3FB-DDA4-9D6E27E619BE}"/>
              </a:ext>
            </a:extLst>
          </p:cNvPr>
          <p:cNvSpPr>
            <a:spLocks noGrp="1"/>
          </p:cNvSpPr>
          <p:nvPr/>
        </p:nvSpPr>
        <p:spPr>
          <a:xfrm flipV="1">
            <a:off x="3238500" y="2930525"/>
            <a:ext cx="85725" cy="57147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96" name="直接连接符 95">
            <a:extLst>
              <a:ext uri="{FF2B5EF4-FFF2-40B4-BE49-F238E27FC236}">
                <a16:creationId xmlns:a16="http://schemas.microsoft.com/office/drawing/2014/main" id="{89283780-920C-D693-C2A5-EC3396C0C07F}"/>
              </a:ext>
            </a:extLst>
          </p:cNvPr>
          <p:cNvSpPr>
            <a:spLocks noGrp="1"/>
          </p:cNvSpPr>
          <p:nvPr/>
        </p:nvSpPr>
        <p:spPr>
          <a:xfrm>
            <a:off x="7258050" y="2927350"/>
            <a:ext cx="180975" cy="0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98" name="直接连接符 97">
            <a:extLst>
              <a:ext uri="{FF2B5EF4-FFF2-40B4-BE49-F238E27FC236}">
                <a16:creationId xmlns:a16="http://schemas.microsoft.com/office/drawing/2014/main" id="{1E11C769-A25F-4624-B014-8590558F96CA}"/>
              </a:ext>
            </a:extLst>
          </p:cNvPr>
          <p:cNvSpPr>
            <a:spLocks noGrp="1"/>
          </p:cNvSpPr>
          <p:nvPr/>
        </p:nvSpPr>
        <p:spPr>
          <a:xfrm>
            <a:off x="7353300" y="2879725"/>
            <a:ext cx="85725" cy="47625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100" name="直接连接符 99">
            <a:extLst>
              <a:ext uri="{FF2B5EF4-FFF2-40B4-BE49-F238E27FC236}">
                <a16:creationId xmlns:a16="http://schemas.microsoft.com/office/drawing/2014/main" id="{F1B8AFC2-E85D-2144-3545-47E39D23ABE6}"/>
              </a:ext>
            </a:extLst>
          </p:cNvPr>
          <p:cNvSpPr>
            <a:spLocks noGrp="1"/>
          </p:cNvSpPr>
          <p:nvPr/>
        </p:nvSpPr>
        <p:spPr>
          <a:xfrm flipV="1">
            <a:off x="7353300" y="2927350"/>
            <a:ext cx="85725" cy="57147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102" name="直接连接符 101">
            <a:extLst>
              <a:ext uri="{FF2B5EF4-FFF2-40B4-BE49-F238E27FC236}">
                <a16:creationId xmlns:a16="http://schemas.microsoft.com/office/drawing/2014/main" id="{5E5B6ECD-5C16-0DAD-D902-DCFE9D4A4FEC}"/>
              </a:ext>
            </a:extLst>
          </p:cNvPr>
          <p:cNvSpPr>
            <a:spLocks noGrp="1"/>
          </p:cNvSpPr>
          <p:nvPr/>
        </p:nvSpPr>
        <p:spPr>
          <a:xfrm>
            <a:off x="5899150" y="2924175"/>
            <a:ext cx="180975" cy="0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104" name="直接连接符 103">
            <a:extLst>
              <a:ext uri="{FF2B5EF4-FFF2-40B4-BE49-F238E27FC236}">
                <a16:creationId xmlns:a16="http://schemas.microsoft.com/office/drawing/2014/main" id="{F21C2D87-B89A-DA62-13CA-1D9CC459C7DC}"/>
              </a:ext>
            </a:extLst>
          </p:cNvPr>
          <p:cNvSpPr>
            <a:spLocks noGrp="1"/>
          </p:cNvSpPr>
          <p:nvPr/>
        </p:nvSpPr>
        <p:spPr>
          <a:xfrm>
            <a:off x="5994400" y="2876550"/>
            <a:ext cx="85725" cy="47625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  <p:sp>
        <p:nvSpPr>
          <p:cNvPr id="106" name="直接连接符 105">
            <a:extLst>
              <a:ext uri="{FF2B5EF4-FFF2-40B4-BE49-F238E27FC236}">
                <a16:creationId xmlns:a16="http://schemas.microsoft.com/office/drawing/2014/main" id="{F02CCB2F-401E-1818-0349-2F7FC3024A6D}"/>
              </a:ext>
            </a:extLst>
          </p:cNvPr>
          <p:cNvSpPr>
            <a:spLocks noGrp="1"/>
          </p:cNvSpPr>
          <p:nvPr/>
        </p:nvSpPr>
        <p:spPr>
          <a:xfrm flipV="1">
            <a:off x="5994400" y="2924175"/>
            <a:ext cx="85725" cy="57147"/>
          </a:xfrm>
          <a:prstGeom prst="line">
            <a:avLst/>
          </a:prstGeom>
          <a:noFill/>
          <a:ln w="11430">
            <a:solidFill>
              <a:srgbClr val="D8D1C5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01033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F0CFBBE6-8F20-4745-BD84-5D1848813554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D04BCDE-592E-4BF5-A46F-CE61CF9D69DE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RESEARCH SYNTHESIS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EB0F1B-10B2-4813-AAA7-27C10ACB9ACF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312"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Explicit planning altered control more reliably than correctness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F09508-FD6E-45BD-880A-99BDD9894E45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TravelPlanner provides the controlled study. ChinaTravel provides a small mechanism check.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C74BD50-E957-4662-9354-D03A4C1DC556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C64185A-D1D5-4506-9D8F-A0CBC2735602}"/>
              </a:ext>
            </a:extLst>
          </p:cNvPr>
          <p:cNvSpPr>
            <a:spLocks noGrp="1"/>
          </p:cNvSpPr>
          <p:nvPr/>
        </p:nvSpPr>
        <p:spPr>
          <a:xfrm>
            <a:off x="685800" y="2019300"/>
            <a:ext cx="2095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FROZEN CLAIM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F195DA-B7A4-4EAC-B633-130A57E84048}"/>
              </a:ext>
            </a:extLst>
          </p:cNvPr>
          <p:cNvSpPr>
            <a:spLocks noGrp="1"/>
          </p:cNvSpPr>
          <p:nvPr/>
        </p:nvSpPr>
        <p:spPr>
          <a:xfrm>
            <a:off x="6267450" y="2019300"/>
            <a:ext cx="2095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ctr">
              <a:buNone/>
              <a:defRPr sz="825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TRAVELPLANNER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12C8B74-C09D-4ED2-BD27-99A7D2C6F722}"/>
              </a:ext>
            </a:extLst>
          </p:cNvPr>
          <p:cNvSpPr>
            <a:spLocks noGrp="1"/>
          </p:cNvSpPr>
          <p:nvPr/>
        </p:nvSpPr>
        <p:spPr>
          <a:xfrm>
            <a:off x="9191625" y="2019300"/>
            <a:ext cx="2095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ctr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CHINATRAVEL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F12C61-99F7-48A5-B3CC-AA6396A510F3}"/>
              </a:ext>
            </a:extLst>
          </p:cNvPr>
          <p:cNvSpPr>
            <a:spLocks noGrp="1"/>
          </p:cNvSpPr>
          <p:nvPr/>
        </p:nvSpPr>
        <p:spPr>
          <a:xfrm>
            <a:off x="695325" y="2362200"/>
            <a:ext cx="4953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Autonomous acquisition shifts failure toward control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DD234D-E297-40CD-80C9-1D5C0E387866}"/>
              </a:ext>
            </a:extLst>
          </p:cNvPr>
          <p:cNvSpPr>
            <a:spLocks noGrp="1"/>
          </p:cNvSpPr>
          <p:nvPr/>
        </p:nvSpPr>
        <p:spPr>
          <a:xfrm>
            <a:off x="5905500" y="2362200"/>
            <a:ext cx="271462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117 B-stage control failures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9BF1A71-952A-401E-A28F-88C109257BAD}"/>
              </a:ext>
            </a:extLst>
          </p:cNvPr>
          <p:cNvSpPr>
            <a:spLocks noGrp="1"/>
          </p:cNvSpPr>
          <p:nvPr/>
        </p:nvSpPr>
        <p:spPr>
          <a:xfrm>
            <a:off x="8810625" y="2362200"/>
            <a:ext cx="271462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797"/>
          </a:bodyPr>
          <a:lstStyle/>
          <a:p>
            <a:pPr algn="ctr">
              <a:buNone/>
              <a:defRPr sz="97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8/12 CT-B runs lacked a final response</a:t>
            </a:r>
          </a:p>
        </p:txBody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85F15690-99F0-4B2D-B3F8-33E1FAECDA70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1083945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9591F39-574B-4C22-9FA0-430794BFD820}"/>
              </a:ext>
            </a:extLst>
          </p:cNvPr>
          <p:cNvSpPr>
            <a:spLocks noGrp="1"/>
          </p:cNvSpPr>
          <p:nvPr/>
        </p:nvSpPr>
        <p:spPr>
          <a:xfrm>
            <a:off x="695325" y="3086100"/>
            <a:ext cx="4953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Planner changes stopping more than correctness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E04BAFB-E762-4357-8533-1BE6A7BCB76B}"/>
              </a:ext>
            </a:extLst>
          </p:cNvPr>
          <p:cNvSpPr>
            <a:spLocks noGrp="1"/>
          </p:cNvSpPr>
          <p:nvPr/>
        </p:nvSpPr>
        <p:spPr>
          <a:xfrm>
            <a:off x="5905500" y="3086100"/>
            <a:ext cx="271462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Delivery +5 pp; Final Pass +0.56 pp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451DA12-E186-4EE9-B678-06DE48E37531}"/>
              </a:ext>
            </a:extLst>
          </p:cNvPr>
          <p:cNvSpPr>
            <a:spLocks noGrp="1"/>
          </p:cNvSpPr>
          <p:nvPr/>
        </p:nvSpPr>
        <p:spPr>
          <a:xfrm>
            <a:off x="8810625" y="3086100"/>
            <a:ext cx="271462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792"/>
          </a:bodyPr>
          <a:lstStyle/>
          <a:p>
            <a:pPr algn="ctr">
              <a:buNone/>
              <a:defRPr sz="97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Final response +25 pp; schema unchanged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2E2FF4BA-8656-484C-8F35-D73F22A810FD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1083945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C7939FE-53EB-4CEE-815E-CBEB05DF46FE}"/>
              </a:ext>
            </a:extLst>
          </p:cNvPr>
          <p:cNvSpPr>
            <a:spLocks noGrp="1"/>
          </p:cNvSpPr>
          <p:nvPr/>
        </p:nvSpPr>
        <p:spPr>
          <a:xfrm>
            <a:off x="695325" y="3810000"/>
            <a:ext cx="4953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Valid blueprints do not guarantee faithful execution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D062FFD-C058-4434-A1F3-9770D9240E26}"/>
              </a:ext>
            </a:extLst>
          </p:cNvPr>
          <p:cNvSpPr>
            <a:spLocks noGrp="1"/>
          </p:cNvSpPr>
          <p:nvPr/>
        </p:nvSpPr>
        <p:spPr>
          <a:xfrm>
            <a:off x="5905500" y="3810000"/>
            <a:ext cx="271462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C retained route and entity failures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4D61577-9FC0-462F-B4B5-E0EA92E76ABA}"/>
              </a:ext>
            </a:extLst>
          </p:cNvPr>
          <p:cNvSpPr>
            <a:spLocks noGrp="1"/>
          </p:cNvSpPr>
          <p:nvPr/>
        </p:nvSpPr>
        <p:spPr>
          <a:xfrm>
            <a:off x="8810625" y="3810000"/>
            <a:ext cx="271462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6/12 blueprints had audit issues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76D8BE6B-85A1-4CB6-8E84-C569F9999215}"/>
              </a:ext>
            </a:extLst>
          </p:cNvPr>
          <p:cNvSpPr>
            <a:spLocks noGrp="1"/>
          </p:cNvSpPr>
          <p:nvPr/>
        </p:nvSpPr>
        <p:spPr>
          <a:xfrm>
            <a:off x="685800" y="4362450"/>
            <a:ext cx="1083945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AD2E01D-7686-4FD2-A903-02821D556D42}"/>
              </a:ext>
            </a:extLst>
          </p:cNvPr>
          <p:cNvSpPr>
            <a:spLocks noGrp="1"/>
          </p:cNvSpPr>
          <p:nvPr/>
        </p:nvSpPr>
        <p:spPr>
          <a:xfrm>
            <a:off x="695325" y="4533900"/>
            <a:ext cx="4953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Post-hoc repair cannot recover many upstream failures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2B5396A-B5CF-4248-8180-C0B76858A990}"/>
              </a:ext>
            </a:extLst>
          </p:cNvPr>
          <p:cNvSpPr>
            <a:spLocks noGrp="1"/>
          </p:cNvSpPr>
          <p:nvPr/>
        </p:nvSpPr>
        <p:spPr>
          <a:xfrm>
            <a:off x="5905500" y="4533900"/>
            <a:ext cx="271462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434" lnSpcReduction="10000"/>
          </a:bodyPr>
          <a:lstStyle/>
          <a:p>
            <a:pPr algn="ctr">
              <a:buNone/>
              <a:defRPr sz="97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No net Final Pass gain; +1.26M tokens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B6D53D2-5EE9-4B04-94D9-9B178CB27549}"/>
              </a:ext>
            </a:extLst>
          </p:cNvPr>
          <p:cNvSpPr>
            <a:spLocks noGrp="1"/>
          </p:cNvSpPr>
          <p:nvPr/>
        </p:nvSpPr>
        <p:spPr>
          <a:xfrm>
            <a:off x="8810625" y="4533900"/>
            <a:ext cx="2714625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7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No verifier condition tested</a:t>
            </a:r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D96FBBB7-0CDB-4EAB-95B9-B12E9A1BE3B0}"/>
              </a:ext>
            </a:extLst>
          </p:cNvPr>
          <p:cNvSpPr>
            <a:spLocks noGrp="1"/>
          </p:cNvSpPr>
          <p:nvPr/>
        </p:nvSpPr>
        <p:spPr>
          <a:xfrm>
            <a:off x="685800" y="5086350"/>
            <a:ext cx="1083945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606815B-42AB-4B19-AFFE-AF676E7EE0BF}"/>
              </a:ext>
            </a:extLst>
          </p:cNvPr>
          <p:cNvSpPr>
            <a:spLocks noGrp="1"/>
          </p:cNvSpPr>
          <p:nvPr/>
        </p:nvSpPr>
        <p:spPr>
          <a:xfrm>
            <a:off x="666750" y="5210175"/>
            <a:ext cx="2476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NEXT RESEARCH QUESTIONS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9648ECC-98BB-41A1-B937-06EC690FBF2F}"/>
              </a:ext>
            </a:extLst>
          </p:cNvPr>
          <p:cNvSpPr>
            <a:spLocks noGrp="1"/>
          </p:cNvSpPr>
          <p:nvPr/>
        </p:nvSpPr>
        <p:spPr>
          <a:xfrm>
            <a:off x="552450" y="5565335"/>
            <a:ext cx="612843" cy="30480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95"/>
          </a:bodyPr>
          <a:lstStyle/>
          <a:p>
            <a:pPr algn="l">
              <a:buNone/>
              <a:defRPr sz="75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RQ1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136B882-D59F-482B-8FCA-EBC3346F28ED}"/>
              </a:ext>
            </a:extLst>
          </p:cNvPr>
          <p:cNvSpPr>
            <a:spLocks noGrp="1"/>
          </p:cNvSpPr>
          <p:nvPr/>
        </p:nvSpPr>
        <p:spPr>
          <a:xfrm>
            <a:off x="973070" y="5463196"/>
            <a:ext cx="2081921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Evidence sufficiency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7CDC75C-4DBF-4E76-A96E-F0C38F6D6D12}"/>
              </a:ext>
            </a:extLst>
          </p:cNvPr>
          <p:cNvSpPr>
            <a:spLocks noGrp="1"/>
          </p:cNvSpPr>
          <p:nvPr/>
        </p:nvSpPr>
        <p:spPr>
          <a:xfrm>
            <a:off x="4410380" y="5534024"/>
            <a:ext cx="580518" cy="32384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95"/>
          </a:bodyPr>
          <a:lstStyle/>
          <a:p>
            <a:pPr algn="l">
              <a:buNone/>
              <a:defRPr sz="7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RQ2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EC7F4E7-9A06-49E6-9FE8-E954C5F27F95}"/>
              </a:ext>
            </a:extLst>
          </p:cNvPr>
          <p:cNvSpPr>
            <a:spLocks noGrp="1"/>
          </p:cNvSpPr>
          <p:nvPr/>
        </p:nvSpPr>
        <p:spPr>
          <a:xfrm>
            <a:off x="4889670" y="5444958"/>
            <a:ext cx="2667710" cy="533397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524"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Executable commitments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210F440-E59A-42F2-A062-40A304B89BEA}"/>
              </a:ext>
            </a:extLst>
          </p:cNvPr>
          <p:cNvSpPr>
            <a:spLocks noGrp="1"/>
          </p:cNvSpPr>
          <p:nvPr/>
        </p:nvSpPr>
        <p:spPr>
          <a:xfrm>
            <a:off x="7964724" y="5486601"/>
            <a:ext cx="845901" cy="371272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95"/>
          </a:bodyPr>
          <a:lstStyle/>
          <a:p>
            <a:pPr algn="l">
              <a:buNone/>
              <a:defRPr sz="7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RQ3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076559D-FCEB-4B8D-9927-6CC6A664ED5B}"/>
              </a:ext>
            </a:extLst>
          </p:cNvPr>
          <p:cNvSpPr>
            <a:spLocks noGrp="1"/>
          </p:cNvSpPr>
          <p:nvPr/>
        </p:nvSpPr>
        <p:spPr>
          <a:xfrm>
            <a:off x="8717402" y="5505651"/>
            <a:ext cx="2081921" cy="40937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Evidence binding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961D072-7A68-4E3D-9B1F-CACE6A67249C}"/>
              </a:ext>
            </a:extLst>
          </p:cNvPr>
          <p:cNvSpPr>
            <a:spLocks noGrp="1"/>
          </p:cNvSpPr>
          <p:nvPr/>
        </p:nvSpPr>
        <p:spPr>
          <a:xfrm>
            <a:off x="548385" y="5938078"/>
            <a:ext cx="849369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95"/>
          </a:bodyPr>
          <a:lstStyle/>
          <a:p>
            <a:pPr algn="l">
              <a:buNone/>
              <a:defRPr sz="750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RQ4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F81E317-B746-48F0-BC5E-A17C83B80005}"/>
              </a:ext>
            </a:extLst>
          </p:cNvPr>
          <p:cNvSpPr>
            <a:spLocks noGrp="1"/>
          </p:cNvSpPr>
          <p:nvPr/>
        </p:nvSpPr>
        <p:spPr>
          <a:xfrm>
            <a:off x="973069" y="5961231"/>
            <a:ext cx="1894484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Hybrid verification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751038A-151D-4412-9F68-E0BB131F7A75}"/>
              </a:ext>
            </a:extLst>
          </p:cNvPr>
          <p:cNvSpPr>
            <a:spLocks noGrp="1"/>
          </p:cNvSpPr>
          <p:nvPr/>
        </p:nvSpPr>
        <p:spPr>
          <a:xfrm>
            <a:off x="4417423" y="5890702"/>
            <a:ext cx="963871" cy="36661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795"/>
          </a:bodyPr>
          <a:lstStyle/>
          <a:p>
            <a:pPr algn="l">
              <a:buNone/>
              <a:defRPr sz="750" b="1">
                <a:solidFill>
                  <a:srgbClr val="B94C45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 dirty="0">
                <a:solidFill>
                  <a:srgbClr val="B94C45"/>
                </a:solidFill>
                <a:latin typeface="Noto Sans SC"/>
                <a:ea typeface="Noto Sans SC"/>
                <a:cs typeface="Noto Sans SC"/>
              </a:rPr>
              <a:t>RQ5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BFD87C-D224-4756-B19C-32BB19467BEA}"/>
              </a:ext>
            </a:extLst>
          </p:cNvPr>
          <p:cNvSpPr>
            <a:spLocks noGrp="1"/>
          </p:cNvSpPr>
          <p:nvPr/>
        </p:nvSpPr>
        <p:spPr>
          <a:xfrm>
            <a:off x="4889670" y="5900836"/>
            <a:ext cx="3089951" cy="455682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176"/>
          </a:bodyPr>
          <a:lstStyle/>
          <a:p>
            <a:pPr algn="l">
              <a:buNone/>
              <a:defRPr sz="105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Targeted repair during execution</a:t>
            </a:r>
          </a:p>
        </p:txBody>
      </p:sp>
      <p:sp>
        <p:nvSpPr>
          <p:cNvPr id="36" name="直接连接符 35">
            <a:extLst>
              <a:ext uri="{FF2B5EF4-FFF2-40B4-BE49-F238E27FC236}">
                <a16:creationId xmlns:a16="http://schemas.microsoft.com/office/drawing/2014/main" id="{DD17D329-F3B1-491E-B855-125C7A737464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EABD4E6-A612-4A0B-906E-821832388207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Sources: frozen_claims.md and challenge_to_rq.md; full bibliography in references.bib.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9181BA3-05E1-4007-92DC-E96800153B23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5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3592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矩形 91">
            <a:extLst>
              <a:ext uri="{FF2B5EF4-FFF2-40B4-BE49-F238E27FC236}">
                <a16:creationId xmlns:a16="http://schemas.microsoft.com/office/drawing/2014/main" id="{FE996745-26FC-4BE3-B776-B247025966D0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1E4F7D7-BE0D-4BCB-B5F8-1F1ACAED8AB2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APPENDIX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80538B-FE1D-4F7D-8602-E7F1BE404D25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TravelPlanner metrics and protocol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772567A-05FB-45AD-AF5B-724BFFAD3ED1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All stages use the same 180 validation indices and evaluator contract.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FECABBB4-9267-4796-A7A7-67FB52A4947B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A3CAE62-9A7C-4F95-83E3-EAF854A8F82D}"/>
              </a:ext>
            </a:extLst>
          </p:cNvPr>
          <p:cNvSpPr>
            <a:spLocks noGrp="1"/>
          </p:cNvSpPr>
          <p:nvPr/>
        </p:nvSpPr>
        <p:spPr>
          <a:xfrm>
            <a:off x="857250" y="2038350"/>
            <a:ext cx="666750" cy="419100"/>
          </a:xfrm>
          <a:prstGeom prst="rect">
            <a:avLst/>
          </a:prstGeom>
          <a:solidFill>
            <a:srgbClr val="15202B"/>
          </a:solidFill>
          <a:ln w="0">
            <a:solidFill>
              <a:srgbClr val="15202B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C95B9A-B30B-492E-866A-71C8E86439C3}"/>
              </a:ext>
            </a:extLst>
          </p:cNvPr>
          <p:cNvSpPr>
            <a:spLocks noGrp="1"/>
          </p:cNvSpPr>
          <p:nvPr/>
        </p:nvSpPr>
        <p:spPr>
          <a:xfrm>
            <a:off x="895350" y="2124075"/>
            <a:ext cx="59055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ctr">
              <a:buNone/>
              <a:defRPr sz="7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Stage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D83F04-D218-46FB-8ABA-AF2D7F15736D}"/>
              </a:ext>
            </a:extLst>
          </p:cNvPr>
          <p:cNvSpPr>
            <a:spLocks noGrp="1"/>
          </p:cNvSpPr>
          <p:nvPr/>
        </p:nvSpPr>
        <p:spPr>
          <a:xfrm>
            <a:off x="1524000" y="2038350"/>
            <a:ext cx="2857500" cy="419100"/>
          </a:xfrm>
          <a:prstGeom prst="rect">
            <a:avLst/>
          </a:prstGeom>
          <a:solidFill>
            <a:srgbClr val="E5DED2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E27C8A-F1E8-4DAB-BDBF-F5E805382BCE}"/>
              </a:ext>
            </a:extLst>
          </p:cNvPr>
          <p:cNvSpPr>
            <a:spLocks noGrp="1"/>
          </p:cNvSpPr>
          <p:nvPr/>
        </p:nvSpPr>
        <p:spPr>
          <a:xfrm>
            <a:off x="1562100" y="2124075"/>
            <a:ext cx="27813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Evidence and agent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8ADE2F-3D13-41FD-B755-449E4B35A5D3}"/>
              </a:ext>
            </a:extLst>
          </p:cNvPr>
          <p:cNvSpPr>
            <a:spLocks noGrp="1"/>
          </p:cNvSpPr>
          <p:nvPr/>
        </p:nvSpPr>
        <p:spPr>
          <a:xfrm>
            <a:off x="4381500" y="2038350"/>
            <a:ext cx="952500" cy="419100"/>
          </a:xfrm>
          <a:prstGeom prst="rect">
            <a:avLst/>
          </a:prstGeom>
          <a:solidFill>
            <a:srgbClr val="E5DED2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0D67B2-DA7B-4506-A7A6-D97883F2DCF9}"/>
              </a:ext>
            </a:extLst>
          </p:cNvPr>
          <p:cNvSpPr>
            <a:spLocks noGrp="1"/>
          </p:cNvSpPr>
          <p:nvPr/>
        </p:nvSpPr>
        <p:spPr>
          <a:xfrm>
            <a:off x="4419600" y="2124075"/>
            <a:ext cx="8763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Delivery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6ACA4F4-1E5E-4CFD-B180-26E7AB8BF18A}"/>
              </a:ext>
            </a:extLst>
          </p:cNvPr>
          <p:cNvSpPr>
            <a:spLocks noGrp="1"/>
          </p:cNvSpPr>
          <p:nvPr/>
        </p:nvSpPr>
        <p:spPr>
          <a:xfrm>
            <a:off x="5334000" y="2038350"/>
            <a:ext cx="1095375" cy="419100"/>
          </a:xfrm>
          <a:prstGeom prst="rect">
            <a:avLst/>
          </a:prstGeom>
          <a:solidFill>
            <a:srgbClr val="E5DED2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99A701D-146F-4654-BA61-FCBEA01E21D0}"/>
              </a:ext>
            </a:extLst>
          </p:cNvPr>
          <p:cNvSpPr>
            <a:spLocks noGrp="1"/>
          </p:cNvSpPr>
          <p:nvPr/>
        </p:nvSpPr>
        <p:spPr>
          <a:xfrm>
            <a:off x="5372100" y="2124075"/>
            <a:ext cx="10191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202" lnSpcReduction="10000"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Common micro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249356-2A72-4279-BA42-7EA9DA7634ED}"/>
              </a:ext>
            </a:extLst>
          </p:cNvPr>
          <p:cNvSpPr>
            <a:spLocks noGrp="1"/>
          </p:cNvSpPr>
          <p:nvPr/>
        </p:nvSpPr>
        <p:spPr>
          <a:xfrm>
            <a:off x="6429375" y="2038350"/>
            <a:ext cx="1000125" cy="419100"/>
          </a:xfrm>
          <a:prstGeom prst="rect">
            <a:avLst/>
          </a:prstGeom>
          <a:solidFill>
            <a:srgbClr val="E5DED2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766FC8-AE55-4216-B8BF-2F4CBFD4E450}"/>
              </a:ext>
            </a:extLst>
          </p:cNvPr>
          <p:cNvSpPr>
            <a:spLocks noGrp="1"/>
          </p:cNvSpPr>
          <p:nvPr/>
        </p:nvSpPr>
        <p:spPr>
          <a:xfrm>
            <a:off x="6467475" y="2124075"/>
            <a:ext cx="9239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Hard micro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B756AC9-2ED8-4827-970E-FFBC1C643E6C}"/>
              </a:ext>
            </a:extLst>
          </p:cNvPr>
          <p:cNvSpPr>
            <a:spLocks noGrp="1"/>
          </p:cNvSpPr>
          <p:nvPr/>
        </p:nvSpPr>
        <p:spPr>
          <a:xfrm>
            <a:off x="7429500" y="2038350"/>
            <a:ext cx="1000125" cy="419100"/>
          </a:xfrm>
          <a:prstGeom prst="rect">
            <a:avLst/>
          </a:prstGeom>
          <a:solidFill>
            <a:srgbClr val="E5DED2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30309A0-3AC4-4149-B8A9-4AA1F26D9C49}"/>
              </a:ext>
            </a:extLst>
          </p:cNvPr>
          <p:cNvSpPr>
            <a:spLocks noGrp="1"/>
          </p:cNvSpPr>
          <p:nvPr/>
        </p:nvSpPr>
        <p:spPr>
          <a:xfrm>
            <a:off x="7467600" y="2124075"/>
            <a:ext cx="9239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Final Pass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F945B04-52DE-48E9-93B2-0588C40760E9}"/>
              </a:ext>
            </a:extLst>
          </p:cNvPr>
          <p:cNvSpPr>
            <a:spLocks noGrp="1"/>
          </p:cNvSpPr>
          <p:nvPr/>
        </p:nvSpPr>
        <p:spPr>
          <a:xfrm>
            <a:off x="8429625" y="2038350"/>
            <a:ext cx="1285875" cy="419100"/>
          </a:xfrm>
          <a:prstGeom prst="rect">
            <a:avLst/>
          </a:prstGeom>
          <a:solidFill>
            <a:srgbClr val="E5DED2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D22A855-DF33-4F25-B3CE-A55A26E561F0}"/>
              </a:ext>
            </a:extLst>
          </p:cNvPr>
          <p:cNvSpPr>
            <a:spLocks noGrp="1"/>
          </p:cNvSpPr>
          <p:nvPr/>
        </p:nvSpPr>
        <p:spPr>
          <a:xfrm>
            <a:off x="8467725" y="2124075"/>
            <a:ext cx="120967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015" lnSpcReduction="10000"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Tokens / query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2CFC54D-5E37-40A7-B15D-2315C2CBF357}"/>
              </a:ext>
            </a:extLst>
          </p:cNvPr>
          <p:cNvSpPr>
            <a:spLocks noGrp="1"/>
          </p:cNvSpPr>
          <p:nvPr/>
        </p:nvSpPr>
        <p:spPr>
          <a:xfrm>
            <a:off x="9715500" y="2038350"/>
            <a:ext cx="1047750" cy="419100"/>
          </a:xfrm>
          <a:prstGeom prst="rect">
            <a:avLst/>
          </a:prstGeom>
          <a:solidFill>
            <a:srgbClr val="E5DED2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341B92A-83B2-47EC-978F-053C95ACA1DA}"/>
              </a:ext>
            </a:extLst>
          </p:cNvPr>
          <p:cNvSpPr>
            <a:spLocks noGrp="1"/>
          </p:cNvSpPr>
          <p:nvPr/>
        </p:nvSpPr>
        <p:spPr>
          <a:xfrm>
            <a:off x="9753600" y="2124075"/>
            <a:ext cx="97155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515"/>
          </a:bodyPr>
          <a:lstStyle/>
          <a:p>
            <a:pPr algn="ctr">
              <a:buNone/>
              <a:defRPr sz="75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Tools / query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EF566EF-CF08-427B-AFDC-0030C3DAA6E5}"/>
              </a:ext>
            </a:extLst>
          </p:cNvPr>
          <p:cNvSpPr>
            <a:spLocks noGrp="1"/>
          </p:cNvSpPr>
          <p:nvPr/>
        </p:nvSpPr>
        <p:spPr>
          <a:xfrm>
            <a:off x="857250" y="2457450"/>
            <a:ext cx="666750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1B18895-C868-4077-BAE4-55E557E6D16F}"/>
              </a:ext>
            </a:extLst>
          </p:cNvPr>
          <p:cNvSpPr>
            <a:spLocks noGrp="1"/>
          </p:cNvSpPr>
          <p:nvPr/>
        </p:nvSpPr>
        <p:spPr>
          <a:xfrm>
            <a:off x="904875" y="255270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TP-A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F5769DF-B80A-45F7-87AC-08D88DCA229F}"/>
              </a:ext>
            </a:extLst>
          </p:cNvPr>
          <p:cNvSpPr>
            <a:spLocks noGrp="1"/>
          </p:cNvSpPr>
          <p:nvPr/>
        </p:nvSpPr>
        <p:spPr>
          <a:xfrm>
            <a:off x="1524000" y="2457450"/>
            <a:ext cx="2857500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17BF91E-42FD-43C3-BF39-E8C1A01A91A7}"/>
              </a:ext>
            </a:extLst>
          </p:cNvPr>
          <p:cNvSpPr>
            <a:spLocks noGrp="1"/>
          </p:cNvSpPr>
          <p:nvPr/>
        </p:nvSpPr>
        <p:spPr>
          <a:xfrm>
            <a:off x="1855145" y="2326328"/>
            <a:ext cx="2192980" cy="83374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384"/>
          </a:bodyPr>
          <a:lstStyle/>
          <a:p>
            <a:pPr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dirty="0">
                <a:solidFill>
                  <a:srgbClr val="15202B"/>
                </a:solidFill>
                <a:latin typeface="Noto Sans SC"/>
                <a:ea typeface="Noto Sans SC"/>
              </a:rPr>
              <a:t>Query + complete reference; one planning call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C2B06C0-1A5F-40EA-9ADA-AEBD2D65CD5C}"/>
              </a:ext>
            </a:extLst>
          </p:cNvPr>
          <p:cNvSpPr>
            <a:spLocks noGrp="1"/>
          </p:cNvSpPr>
          <p:nvPr/>
        </p:nvSpPr>
        <p:spPr>
          <a:xfrm>
            <a:off x="4381500" y="2457450"/>
            <a:ext cx="952500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369A6A2-3D46-4770-BB9C-DE8E9AD39C74}"/>
              </a:ext>
            </a:extLst>
          </p:cNvPr>
          <p:cNvSpPr>
            <a:spLocks noGrp="1"/>
          </p:cNvSpPr>
          <p:nvPr/>
        </p:nvSpPr>
        <p:spPr>
          <a:xfrm>
            <a:off x="4429125" y="2552700"/>
            <a:ext cx="857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95.0%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D1D8F75-952A-4BFE-A96E-08A7D031700E}"/>
              </a:ext>
            </a:extLst>
          </p:cNvPr>
          <p:cNvSpPr>
            <a:spLocks noGrp="1"/>
          </p:cNvSpPr>
          <p:nvPr/>
        </p:nvSpPr>
        <p:spPr>
          <a:xfrm>
            <a:off x="5334000" y="2457450"/>
            <a:ext cx="1095375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3DA7D68-1DFC-474B-842D-BAD2193CD1A9}"/>
              </a:ext>
            </a:extLst>
          </p:cNvPr>
          <p:cNvSpPr>
            <a:spLocks noGrp="1"/>
          </p:cNvSpPr>
          <p:nvPr/>
        </p:nvSpPr>
        <p:spPr>
          <a:xfrm>
            <a:off x="5381625" y="2552700"/>
            <a:ext cx="1000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79.7%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4CFA56D-329D-4C5F-AEF9-1DCE100CAB78}"/>
              </a:ext>
            </a:extLst>
          </p:cNvPr>
          <p:cNvSpPr>
            <a:spLocks noGrp="1"/>
          </p:cNvSpPr>
          <p:nvPr/>
        </p:nvSpPr>
        <p:spPr>
          <a:xfrm>
            <a:off x="6429375" y="2457450"/>
            <a:ext cx="1000125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6FBFB1A-9ECD-46FC-903B-9F9B967D9103}"/>
              </a:ext>
            </a:extLst>
          </p:cNvPr>
          <p:cNvSpPr>
            <a:spLocks noGrp="1"/>
          </p:cNvSpPr>
          <p:nvPr/>
        </p:nvSpPr>
        <p:spPr>
          <a:xfrm>
            <a:off x="6477000" y="2552700"/>
            <a:ext cx="90487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69.5%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14F6A2F-BD1D-4B29-A216-1673D37D86BF}"/>
              </a:ext>
            </a:extLst>
          </p:cNvPr>
          <p:cNvSpPr>
            <a:spLocks noGrp="1"/>
          </p:cNvSpPr>
          <p:nvPr/>
        </p:nvSpPr>
        <p:spPr>
          <a:xfrm>
            <a:off x="7429500" y="2457450"/>
            <a:ext cx="1000125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57F2136-B621-4756-81A1-1CE4BC192F22}"/>
              </a:ext>
            </a:extLst>
          </p:cNvPr>
          <p:cNvSpPr>
            <a:spLocks noGrp="1"/>
          </p:cNvSpPr>
          <p:nvPr/>
        </p:nvSpPr>
        <p:spPr>
          <a:xfrm>
            <a:off x="7477125" y="2552700"/>
            <a:ext cx="90487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13.9%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993E48B-EE3F-4BFC-A1C1-9CAAE728FE49}"/>
              </a:ext>
            </a:extLst>
          </p:cNvPr>
          <p:cNvSpPr>
            <a:spLocks noGrp="1"/>
          </p:cNvSpPr>
          <p:nvPr/>
        </p:nvSpPr>
        <p:spPr>
          <a:xfrm>
            <a:off x="8429625" y="2457450"/>
            <a:ext cx="1285875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44C0AB9-479B-4521-8CEB-CC960472CB6E}"/>
              </a:ext>
            </a:extLst>
          </p:cNvPr>
          <p:cNvSpPr>
            <a:spLocks noGrp="1"/>
          </p:cNvSpPr>
          <p:nvPr/>
        </p:nvSpPr>
        <p:spPr>
          <a:xfrm>
            <a:off x="8477250" y="2552700"/>
            <a:ext cx="1190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10,894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E73D780-3B06-409B-A9F5-680F193275C3}"/>
              </a:ext>
            </a:extLst>
          </p:cNvPr>
          <p:cNvSpPr>
            <a:spLocks noGrp="1"/>
          </p:cNvSpPr>
          <p:nvPr/>
        </p:nvSpPr>
        <p:spPr>
          <a:xfrm>
            <a:off x="9715500" y="2457450"/>
            <a:ext cx="1047750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778EE20-BCB8-49E7-8BB0-040DFD4142E4}"/>
              </a:ext>
            </a:extLst>
          </p:cNvPr>
          <p:cNvSpPr>
            <a:spLocks noGrp="1"/>
          </p:cNvSpPr>
          <p:nvPr/>
        </p:nvSpPr>
        <p:spPr>
          <a:xfrm>
            <a:off x="9763125" y="2552700"/>
            <a:ext cx="952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0.0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593DF6C-6611-4184-A8F0-96382CB0AD05}"/>
              </a:ext>
            </a:extLst>
          </p:cNvPr>
          <p:cNvSpPr>
            <a:spLocks noGrp="1"/>
          </p:cNvSpPr>
          <p:nvPr/>
        </p:nvSpPr>
        <p:spPr>
          <a:xfrm>
            <a:off x="857250" y="3009900"/>
            <a:ext cx="666750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8C8797B-CD26-4A62-8CFF-AB2E9C800AB5}"/>
              </a:ext>
            </a:extLst>
          </p:cNvPr>
          <p:cNvSpPr>
            <a:spLocks noGrp="1"/>
          </p:cNvSpPr>
          <p:nvPr/>
        </p:nvSpPr>
        <p:spPr>
          <a:xfrm>
            <a:off x="904875" y="310515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TP-B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3D1112C-52F3-453B-B618-D119968BBEB3}"/>
              </a:ext>
            </a:extLst>
          </p:cNvPr>
          <p:cNvSpPr>
            <a:spLocks noGrp="1"/>
          </p:cNvSpPr>
          <p:nvPr/>
        </p:nvSpPr>
        <p:spPr>
          <a:xfrm>
            <a:off x="1524000" y="3009900"/>
            <a:ext cx="2857500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E4D9707-2F0D-4669-8D36-C42767A91FBF}"/>
              </a:ext>
            </a:extLst>
          </p:cNvPr>
          <p:cNvSpPr>
            <a:spLocks noGrp="1"/>
          </p:cNvSpPr>
          <p:nvPr/>
        </p:nvSpPr>
        <p:spPr>
          <a:xfrm>
            <a:off x="1762125" y="3105150"/>
            <a:ext cx="2762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1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Query only; </a:t>
            </a:r>
            <a:r>
              <a:rPr sz="1100" b="0" dirty="0" err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ReAct</a:t>
            </a:r>
            <a:r>
              <a:rPr sz="11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 + official tools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8BC5D73-E199-4BF3-8DB8-8081AED574B3}"/>
              </a:ext>
            </a:extLst>
          </p:cNvPr>
          <p:cNvSpPr>
            <a:spLocks noGrp="1"/>
          </p:cNvSpPr>
          <p:nvPr/>
        </p:nvSpPr>
        <p:spPr>
          <a:xfrm>
            <a:off x="4381500" y="3009900"/>
            <a:ext cx="952500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BDE368D-6B3D-48B0-A0F9-AF3B51C8840A}"/>
              </a:ext>
            </a:extLst>
          </p:cNvPr>
          <p:cNvSpPr>
            <a:spLocks noGrp="1"/>
          </p:cNvSpPr>
          <p:nvPr/>
        </p:nvSpPr>
        <p:spPr>
          <a:xfrm>
            <a:off x="4429125" y="3105150"/>
            <a:ext cx="857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35.0%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B8D32FD-6607-475C-AF02-BB4086F13E15}"/>
              </a:ext>
            </a:extLst>
          </p:cNvPr>
          <p:cNvSpPr>
            <a:spLocks noGrp="1"/>
          </p:cNvSpPr>
          <p:nvPr/>
        </p:nvSpPr>
        <p:spPr>
          <a:xfrm>
            <a:off x="5334000" y="3009900"/>
            <a:ext cx="1095375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220487E-746A-42D7-B6BA-991B3493E7F1}"/>
              </a:ext>
            </a:extLst>
          </p:cNvPr>
          <p:cNvSpPr>
            <a:spLocks noGrp="1"/>
          </p:cNvSpPr>
          <p:nvPr/>
        </p:nvSpPr>
        <p:spPr>
          <a:xfrm>
            <a:off x="5381625" y="3105150"/>
            <a:ext cx="1000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32.2%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131EE0D-05E1-4082-B60C-732F391FE690}"/>
              </a:ext>
            </a:extLst>
          </p:cNvPr>
          <p:cNvSpPr>
            <a:spLocks noGrp="1"/>
          </p:cNvSpPr>
          <p:nvPr/>
        </p:nvSpPr>
        <p:spPr>
          <a:xfrm>
            <a:off x="6429375" y="3009900"/>
            <a:ext cx="1000125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860530-218E-4BAB-B098-461BC681906D}"/>
              </a:ext>
            </a:extLst>
          </p:cNvPr>
          <p:cNvSpPr>
            <a:spLocks noGrp="1"/>
          </p:cNvSpPr>
          <p:nvPr/>
        </p:nvSpPr>
        <p:spPr>
          <a:xfrm>
            <a:off x="6477000" y="3105150"/>
            <a:ext cx="90487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24.8%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17396F1-60C6-4F70-9AEF-EFD969058995}"/>
              </a:ext>
            </a:extLst>
          </p:cNvPr>
          <p:cNvSpPr>
            <a:spLocks noGrp="1"/>
          </p:cNvSpPr>
          <p:nvPr/>
        </p:nvSpPr>
        <p:spPr>
          <a:xfrm>
            <a:off x="7429500" y="3009900"/>
            <a:ext cx="1000125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4BECE26C-0275-463B-9B86-E44D1C55D358}"/>
              </a:ext>
            </a:extLst>
          </p:cNvPr>
          <p:cNvSpPr>
            <a:spLocks noGrp="1"/>
          </p:cNvSpPr>
          <p:nvPr/>
        </p:nvSpPr>
        <p:spPr>
          <a:xfrm>
            <a:off x="7477125" y="3105150"/>
            <a:ext cx="90487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15.6%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A25747E-3906-4433-A86C-1267D5CB45DC}"/>
              </a:ext>
            </a:extLst>
          </p:cNvPr>
          <p:cNvSpPr>
            <a:spLocks noGrp="1"/>
          </p:cNvSpPr>
          <p:nvPr/>
        </p:nvSpPr>
        <p:spPr>
          <a:xfrm>
            <a:off x="8429625" y="3009900"/>
            <a:ext cx="1285875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E322C65-3D60-4549-AAB3-37A20DC96878}"/>
              </a:ext>
            </a:extLst>
          </p:cNvPr>
          <p:cNvSpPr>
            <a:spLocks noGrp="1"/>
          </p:cNvSpPr>
          <p:nvPr/>
        </p:nvSpPr>
        <p:spPr>
          <a:xfrm>
            <a:off x="8477250" y="3105150"/>
            <a:ext cx="1190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57,642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2610259-830F-4D05-879F-A497047F4A6B}"/>
              </a:ext>
            </a:extLst>
          </p:cNvPr>
          <p:cNvSpPr>
            <a:spLocks noGrp="1"/>
          </p:cNvSpPr>
          <p:nvPr/>
        </p:nvSpPr>
        <p:spPr>
          <a:xfrm>
            <a:off x="9715500" y="3009900"/>
            <a:ext cx="1047750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F31675F-E368-46F5-B17F-08200569A066}"/>
              </a:ext>
            </a:extLst>
          </p:cNvPr>
          <p:cNvSpPr>
            <a:spLocks noGrp="1"/>
          </p:cNvSpPr>
          <p:nvPr/>
        </p:nvSpPr>
        <p:spPr>
          <a:xfrm>
            <a:off x="9763125" y="3105150"/>
            <a:ext cx="952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19.4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24EC3FD-9F05-4183-9E01-E4257CC08FE2}"/>
              </a:ext>
            </a:extLst>
          </p:cNvPr>
          <p:cNvSpPr>
            <a:spLocks noGrp="1"/>
          </p:cNvSpPr>
          <p:nvPr/>
        </p:nvSpPr>
        <p:spPr>
          <a:xfrm>
            <a:off x="857250" y="3562350"/>
            <a:ext cx="666750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373C0091-59F5-4D68-A1BB-4CB7F516398C}"/>
              </a:ext>
            </a:extLst>
          </p:cNvPr>
          <p:cNvSpPr>
            <a:spLocks noGrp="1"/>
          </p:cNvSpPr>
          <p:nvPr/>
        </p:nvSpPr>
        <p:spPr>
          <a:xfrm>
            <a:off x="904875" y="365760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TP-C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E640A4E-0316-4E8B-AF56-A887FE4EDFA6}"/>
              </a:ext>
            </a:extLst>
          </p:cNvPr>
          <p:cNvSpPr>
            <a:spLocks noGrp="1"/>
          </p:cNvSpPr>
          <p:nvPr/>
        </p:nvSpPr>
        <p:spPr>
          <a:xfrm>
            <a:off x="1524000" y="3562350"/>
            <a:ext cx="2857500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A02F91A-3674-423C-A81D-6AE3D6787B69}"/>
              </a:ext>
            </a:extLst>
          </p:cNvPr>
          <p:cNvSpPr>
            <a:spLocks noGrp="1"/>
          </p:cNvSpPr>
          <p:nvPr/>
        </p:nvSpPr>
        <p:spPr>
          <a:xfrm>
            <a:off x="1714500" y="3609975"/>
            <a:ext cx="2762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1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B condition + one explicit Planner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077247A2-ABF7-4BA1-89DC-E1AE531FDB57}"/>
              </a:ext>
            </a:extLst>
          </p:cNvPr>
          <p:cNvSpPr>
            <a:spLocks noGrp="1"/>
          </p:cNvSpPr>
          <p:nvPr/>
        </p:nvSpPr>
        <p:spPr>
          <a:xfrm>
            <a:off x="4381500" y="3562350"/>
            <a:ext cx="952500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565148A-428F-43E5-B80A-880B4FB676AB}"/>
              </a:ext>
            </a:extLst>
          </p:cNvPr>
          <p:cNvSpPr>
            <a:spLocks noGrp="1"/>
          </p:cNvSpPr>
          <p:nvPr/>
        </p:nvSpPr>
        <p:spPr>
          <a:xfrm>
            <a:off x="4429125" y="3657600"/>
            <a:ext cx="857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40.0%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403795-7D8C-4110-96D2-2EB5CEAF22D7}"/>
              </a:ext>
            </a:extLst>
          </p:cNvPr>
          <p:cNvSpPr>
            <a:spLocks noGrp="1"/>
          </p:cNvSpPr>
          <p:nvPr/>
        </p:nvSpPr>
        <p:spPr>
          <a:xfrm>
            <a:off x="5334000" y="3562350"/>
            <a:ext cx="1095375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4A20144-BFB9-416D-96F4-4FBFED46E317}"/>
              </a:ext>
            </a:extLst>
          </p:cNvPr>
          <p:cNvSpPr>
            <a:spLocks noGrp="1"/>
          </p:cNvSpPr>
          <p:nvPr/>
        </p:nvSpPr>
        <p:spPr>
          <a:xfrm>
            <a:off x="5381625" y="3657600"/>
            <a:ext cx="1000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36.9%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2112629A-5D0B-41D6-A9E1-8380EB12DDD9}"/>
              </a:ext>
            </a:extLst>
          </p:cNvPr>
          <p:cNvSpPr>
            <a:spLocks noGrp="1"/>
          </p:cNvSpPr>
          <p:nvPr/>
        </p:nvSpPr>
        <p:spPr>
          <a:xfrm>
            <a:off x="6429375" y="3562350"/>
            <a:ext cx="1000125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1FC4E6F-29FE-4652-B871-38829118E792}"/>
              </a:ext>
            </a:extLst>
          </p:cNvPr>
          <p:cNvSpPr>
            <a:spLocks noGrp="1"/>
          </p:cNvSpPr>
          <p:nvPr/>
        </p:nvSpPr>
        <p:spPr>
          <a:xfrm>
            <a:off x="6477000" y="3657600"/>
            <a:ext cx="90487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31.7%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D3995C6-C325-44DF-A179-90A107546668}"/>
              </a:ext>
            </a:extLst>
          </p:cNvPr>
          <p:cNvSpPr>
            <a:spLocks noGrp="1"/>
          </p:cNvSpPr>
          <p:nvPr/>
        </p:nvSpPr>
        <p:spPr>
          <a:xfrm>
            <a:off x="7429500" y="3562350"/>
            <a:ext cx="1000125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52C681BE-C1E2-42CD-8717-94242FE759F1}"/>
              </a:ext>
            </a:extLst>
          </p:cNvPr>
          <p:cNvSpPr>
            <a:spLocks noGrp="1"/>
          </p:cNvSpPr>
          <p:nvPr/>
        </p:nvSpPr>
        <p:spPr>
          <a:xfrm>
            <a:off x="7477125" y="3657600"/>
            <a:ext cx="90487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16.1%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07176B81-34AC-4145-AACB-75325BDE76F8}"/>
              </a:ext>
            </a:extLst>
          </p:cNvPr>
          <p:cNvSpPr>
            <a:spLocks noGrp="1"/>
          </p:cNvSpPr>
          <p:nvPr/>
        </p:nvSpPr>
        <p:spPr>
          <a:xfrm>
            <a:off x="8429625" y="3562350"/>
            <a:ext cx="1285875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E001CD4E-C9FF-4F71-A169-307130B36186}"/>
              </a:ext>
            </a:extLst>
          </p:cNvPr>
          <p:cNvSpPr>
            <a:spLocks noGrp="1"/>
          </p:cNvSpPr>
          <p:nvPr/>
        </p:nvSpPr>
        <p:spPr>
          <a:xfrm>
            <a:off x="8477250" y="3657600"/>
            <a:ext cx="1190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55,975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C139CF5-3715-4822-BF2F-02D34771C0D7}"/>
              </a:ext>
            </a:extLst>
          </p:cNvPr>
          <p:cNvSpPr>
            <a:spLocks noGrp="1"/>
          </p:cNvSpPr>
          <p:nvPr/>
        </p:nvSpPr>
        <p:spPr>
          <a:xfrm>
            <a:off x="9715500" y="3562350"/>
            <a:ext cx="1047750" cy="514350"/>
          </a:xfrm>
          <a:prstGeom prst="rect">
            <a:avLst/>
          </a:prstGeom>
          <a:solidFill>
            <a:srgbClr val="FCFAF5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A718FD6-C3DF-460C-9387-9F152B31CF15}"/>
              </a:ext>
            </a:extLst>
          </p:cNvPr>
          <p:cNvSpPr>
            <a:spLocks noGrp="1"/>
          </p:cNvSpPr>
          <p:nvPr/>
        </p:nvSpPr>
        <p:spPr>
          <a:xfrm>
            <a:off x="9763125" y="3657600"/>
            <a:ext cx="952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17.8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C9B8C87-2C64-4A0C-B066-CB53C93267C3}"/>
              </a:ext>
            </a:extLst>
          </p:cNvPr>
          <p:cNvSpPr>
            <a:spLocks noGrp="1"/>
          </p:cNvSpPr>
          <p:nvPr/>
        </p:nvSpPr>
        <p:spPr>
          <a:xfrm>
            <a:off x="857250" y="4114800"/>
            <a:ext cx="666750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3A244D17-9C08-447C-AC23-96638F349C68}"/>
              </a:ext>
            </a:extLst>
          </p:cNvPr>
          <p:cNvSpPr>
            <a:spLocks noGrp="1"/>
          </p:cNvSpPr>
          <p:nvPr/>
        </p:nvSpPr>
        <p:spPr>
          <a:xfrm>
            <a:off x="904875" y="4210050"/>
            <a:ext cx="571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70649A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70649A"/>
                </a:solidFill>
                <a:latin typeface="Noto Sans SC"/>
                <a:ea typeface="Noto Sans SC"/>
                <a:cs typeface="Noto Sans SC"/>
              </a:rPr>
              <a:t>TP-D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B95845F1-4F47-4189-8F80-C94A7E7CE830}"/>
              </a:ext>
            </a:extLst>
          </p:cNvPr>
          <p:cNvSpPr>
            <a:spLocks noGrp="1"/>
          </p:cNvSpPr>
          <p:nvPr/>
        </p:nvSpPr>
        <p:spPr>
          <a:xfrm>
            <a:off x="1524000" y="4114800"/>
            <a:ext cx="2857500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F88C4D46-2EC1-4AAB-98A3-DA5A7CEA6686}"/>
              </a:ext>
            </a:extLst>
          </p:cNvPr>
          <p:cNvSpPr>
            <a:spLocks noGrp="1"/>
          </p:cNvSpPr>
          <p:nvPr/>
        </p:nvSpPr>
        <p:spPr>
          <a:xfrm>
            <a:off x="1476376" y="4210050"/>
            <a:ext cx="3000374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391"/>
          </a:bodyPr>
          <a:lstStyle/>
          <a:p>
            <a:pPr algn="l">
              <a:buNone/>
              <a:defRPr sz="825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1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Independent C-chain + verifier and replan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A572A0A2-F5BD-441D-83FD-75EB0C17D435}"/>
              </a:ext>
            </a:extLst>
          </p:cNvPr>
          <p:cNvSpPr>
            <a:spLocks noGrp="1"/>
          </p:cNvSpPr>
          <p:nvPr/>
        </p:nvSpPr>
        <p:spPr>
          <a:xfrm>
            <a:off x="4381500" y="4114800"/>
            <a:ext cx="952500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80540E84-37AF-4DAC-AC40-C60EB8FEABE4}"/>
              </a:ext>
            </a:extLst>
          </p:cNvPr>
          <p:cNvSpPr>
            <a:spLocks noGrp="1"/>
          </p:cNvSpPr>
          <p:nvPr/>
        </p:nvSpPr>
        <p:spPr>
          <a:xfrm>
            <a:off x="4429125" y="4210050"/>
            <a:ext cx="857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41.7%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5EC1787-B34D-4340-8D5A-AD191449973D}"/>
              </a:ext>
            </a:extLst>
          </p:cNvPr>
          <p:cNvSpPr>
            <a:spLocks noGrp="1"/>
          </p:cNvSpPr>
          <p:nvPr/>
        </p:nvSpPr>
        <p:spPr>
          <a:xfrm>
            <a:off x="5334000" y="4114800"/>
            <a:ext cx="1095375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B0810CAA-9ED8-403A-83A8-3FDE6B3C5439}"/>
              </a:ext>
            </a:extLst>
          </p:cNvPr>
          <p:cNvSpPr>
            <a:spLocks noGrp="1"/>
          </p:cNvSpPr>
          <p:nvPr/>
        </p:nvSpPr>
        <p:spPr>
          <a:xfrm>
            <a:off x="5381625" y="4210050"/>
            <a:ext cx="10001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37.9%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4083EF40-1104-4542-A992-22BBD9DC7B68}"/>
              </a:ext>
            </a:extLst>
          </p:cNvPr>
          <p:cNvSpPr>
            <a:spLocks noGrp="1"/>
          </p:cNvSpPr>
          <p:nvPr/>
        </p:nvSpPr>
        <p:spPr>
          <a:xfrm>
            <a:off x="6429375" y="4114800"/>
            <a:ext cx="1000125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83DC1F4-8172-40A2-828D-24347CEAC95D}"/>
              </a:ext>
            </a:extLst>
          </p:cNvPr>
          <p:cNvSpPr>
            <a:spLocks noGrp="1"/>
          </p:cNvSpPr>
          <p:nvPr/>
        </p:nvSpPr>
        <p:spPr>
          <a:xfrm>
            <a:off x="6477000" y="4210050"/>
            <a:ext cx="90487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32.6%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3F7261E-D42D-4DFD-AD48-512A6FA648C7}"/>
              </a:ext>
            </a:extLst>
          </p:cNvPr>
          <p:cNvSpPr>
            <a:spLocks noGrp="1"/>
          </p:cNvSpPr>
          <p:nvPr/>
        </p:nvSpPr>
        <p:spPr>
          <a:xfrm>
            <a:off x="7429500" y="4114800"/>
            <a:ext cx="1000125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14A7013-A4B0-440A-8322-C3A801E33466}"/>
              </a:ext>
            </a:extLst>
          </p:cNvPr>
          <p:cNvSpPr>
            <a:spLocks noGrp="1"/>
          </p:cNvSpPr>
          <p:nvPr/>
        </p:nvSpPr>
        <p:spPr>
          <a:xfrm>
            <a:off x="7477125" y="4210050"/>
            <a:ext cx="90487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16.1%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6529A16-2ACD-403B-BD79-F4199BAE1EA9}"/>
              </a:ext>
            </a:extLst>
          </p:cNvPr>
          <p:cNvSpPr>
            <a:spLocks noGrp="1"/>
          </p:cNvSpPr>
          <p:nvPr/>
        </p:nvSpPr>
        <p:spPr>
          <a:xfrm>
            <a:off x="8429625" y="4114800"/>
            <a:ext cx="1285875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7C84E79-5167-415A-ADF2-3EE183BEF198}"/>
              </a:ext>
            </a:extLst>
          </p:cNvPr>
          <p:cNvSpPr>
            <a:spLocks noGrp="1"/>
          </p:cNvSpPr>
          <p:nvPr/>
        </p:nvSpPr>
        <p:spPr>
          <a:xfrm>
            <a:off x="8477250" y="4210050"/>
            <a:ext cx="1190625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62,994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93BEA5B0-BEEC-400F-A992-9319D7F17656}"/>
              </a:ext>
            </a:extLst>
          </p:cNvPr>
          <p:cNvSpPr>
            <a:spLocks noGrp="1"/>
          </p:cNvSpPr>
          <p:nvPr/>
        </p:nvSpPr>
        <p:spPr>
          <a:xfrm>
            <a:off x="9715500" y="4114800"/>
            <a:ext cx="1047750" cy="514350"/>
          </a:xfrm>
          <a:prstGeom prst="rect">
            <a:avLst/>
          </a:prstGeom>
          <a:solidFill>
            <a:srgbClr val="EDE7DD"/>
          </a:solidFill>
          <a:ln w="0">
            <a:solidFill>
              <a:srgbClr val="D8D1C5"/>
            </a:solidFill>
            <a:prstDash val="solid"/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AC502B43-0856-4B45-B982-BF9087E1B8C2}"/>
              </a:ext>
            </a:extLst>
          </p:cNvPr>
          <p:cNvSpPr>
            <a:spLocks noGrp="1"/>
          </p:cNvSpPr>
          <p:nvPr/>
        </p:nvSpPr>
        <p:spPr>
          <a:xfrm>
            <a:off x="9763125" y="4210050"/>
            <a:ext cx="952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buNone/>
              <a:defRPr sz="900" b="1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17.6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A5AC1CAB-1B61-4B01-AF3B-09DC5C2B7FF8}"/>
              </a:ext>
            </a:extLst>
          </p:cNvPr>
          <p:cNvSpPr>
            <a:spLocks noGrp="1"/>
          </p:cNvSpPr>
          <p:nvPr/>
        </p:nvSpPr>
        <p:spPr>
          <a:xfrm>
            <a:off x="857250" y="4953000"/>
            <a:ext cx="171450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75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PROTOCOL READING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117A1B2-5B57-40FD-9CBB-39F8F774082F}"/>
              </a:ext>
            </a:extLst>
          </p:cNvPr>
          <p:cNvSpPr>
            <a:spLocks noGrp="1"/>
          </p:cNvSpPr>
          <p:nvPr/>
        </p:nvSpPr>
        <p:spPr>
          <a:xfrm>
            <a:off x="857250" y="5210174"/>
            <a:ext cx="11020222" cy="55346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138"/>
          </a:bodyPr>
          <a:lstStyle/>
          <a:p>
            <a:pPr algn="l">
              <a:buNone/>
              <a:defRPr sz="1275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dirty="0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A to B is a system gap. B to C targets the Planner under the same information condition. D reruns the upstream C-chain before verification.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434E3236-826B-42A7-AC7B-95237FC5F5C9}"/>
              </a:ext>
            </a:extLst>
          </p:cNvPr>
          <p:cNvSpPr>
            <a:spLocks noGrp="1"/>
          </p:cNvSpPr>
          <p:nvPr/>
        </p:nvSpPr>
        <p:spPr>
          <a:xfrm>
            <a:off x="857250" y="5819775"/>
            <a:ext cx="103822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Macro metrics require every check in a family to pass for the query. Final Pass requires delivery, commonsense, and hard constraints.</a:t>
            </a:r>
          </a:p>
        </p:txBody>
      </p:sp>
      <p:sp>
        <p:nvSpPr>
          <p:cNvPr id="89" name="直接连接符 88">
            <a:extLst>
              <a:ext uri="{FF2B5EF4-FFF2-40B4-BE49-F238E27FC236}">
                <a16:creationId xmlns:a16="http://schemas.microsoft.com/office/drawing/2014/main" id="{77DB3E41-7BD9-4C51-B536-47E6EB6EAFE6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D0AA1B5-9C14-4DF2-AD86-91B4F61CF197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Source: frozen TravelPlanner validation results; results_master.json.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4A3041C2-6AE1-4F1D-8811-B001958D38A7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5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65924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152B51B0-A020-4EB6-AFA5-54864FD8AD09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AB2616E-FAF6-4C48-8B40-A55BD22DFDC7}"/>
              </a:ext>
            </a:extLst>
          </p:cNvPr>
          <p:cNvSpPr>
            <a:spLocks noGrp="1"/>
          </p:cNvSpPr>
          <p:nvPr/>
        </p:nvSpPr>
        <p:spPr>
          <a:xfrm>
            <a:off x="1162050" y="3238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717" lnSpcReduction="10000"/>
          </a:bodyPr>
          <a:lstStyle/>
          <a:p>
            <a:pPr algn="l">
              <a:buNone/>
              <a:defRPr sz="975" b="1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APPENDIX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D1C4C6-58F0-43AA-A010-532D8E4AD102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10858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defRPr>
            </a:pPr>
            <a:r>
              <a:rPr sz="2700" b="1">
                <a:solidFill>
                  <a:srgbClr val="15202B"/>
                </a:solidFill>
                <a:latin typeface="Noto Serif SC"/>
                <a:ea typeface="Noto Serif SC"/>
                <a:cs typeface="Noto Serif SC"/>
              </a:rPr>
              <a:t>Representative cases and validity boundaries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4045F60-16D6-45FC-BCA4-90A6E974642F}"/>
              </a:ext>
            </a:extLst>
          </p:cNvPr>
          <p:cNvSpPr>
            <a:spLocks noGrp="1"/>
          </p:cNvSpPr>
          <p:nvPr/>
        </p:nvSpPr>
        <p:spPr>
          <a:xfrm>
            <a:off x="685800" y="1323975"/>
            <a:ext cx="1066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Cases explain mechanisms. They do not replace frequency statistics.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FDC95894-161A-41FD-8DEA-304D96D14E0B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B557ED-822A-43BF-8302-3AC6EC252518}"/>
              </a:ext>
            </a:extLst>
          </p:cNvPr>
          <p:cNvSpPr>
            <a:spLocks noGrp="1"/>
          </p:cNvSpPr>
          <p:nvPr/>
        </p:nvSpPr>
        <p:spPr>
          <a:xfrm>
            <a:off x="704850" y="2009775"/>
            <a:ext cx="15240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006" lnSpcReduction="20000"/>
          </a:bodyPr>
          <a:lstStyle/>
          <a:p>
            <a:pPr algn="l">
              <a:buNone/>
              <a:defRPr sz="825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CASE INDEX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F3B950-2B46-4E0F-8263-52C140EC7006}"/>
              </a:ext>
            </a:extLst>
          </p:cNvPr>
          <p:cNvSpPr>
            <a:spLocks noGrp="1"/>
          </p:cNvSpPr>
          <p:nvPr/>
        </p:nvSpPr>
        <p:spPr>
          <a:xfrm>
            <a:off x="704850" y="2381250"/>
            <a:ext cx="2476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92" lnSpcReduction="20000"/>
          </a:bodyPr>
          <a:lstStyle/>
          <a:p>
            <a:pPr algn="l">
              <a:buNone/>
              <a:defRPr sz="12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E6647E1-3FDE-4284-993F-2C9B8C9A2719}"/>
              </a:ext>
            </a:extLst>
          </p:cNvPr>
          <p:cNvSpPr>
            <a:spLocks noGrp="1"/>
          </p:cNvSpPr>
          <p:nvPr/>
        </p:nvSpPr>
        <p:spPr>
          <a:xfrm>
            <a:off x="1028700" y="2381250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583" lnSpcReduction="10000"/>
          </a:bodyPr>
          <a:lstStyle/>
          <a:p>
            <a:pPr algn="l">
              <a:buNone/>
              <a:defRPr sz="75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TravelPlanner · B · validation:41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2628E2-EFCD-42DE-A569-4CD1C31AE658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762500" cy="86677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687"/>
          </a:bodyPr>
          <a:lstStyle/>
          <a:p>
            <a:pPr algn="l">
              <a:buNone/>
              <a:defRPr sz="9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Seven-day, three-city Virginia trip from Philadelphia under a $1,800 budget.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EA2E7D-0624-456C-8532-6694F39AF804}"/>
              </a:ext>
            </a:extLst>
          </p:cNvPr>
          <p:cNvSpPr>
            <a:spLocks noGrp="1"/>
          </p:cNvSpPr>
          <p:nvPr/>
        </p:nvSpPr>
        <p:spPr>
          <a:xfrm>
            <a:off x="704850" y="3162300"/>
            <a:ext cx="2476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92" lnSpcReduction="20000"/>
          </a:bodyPr>
          <a:lstStyle/>
          <a:p>
            <a:pPr algn="l">
              <a:buNone/>
              <a:defRPr sz="12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A1432D-7DAC-418D-B0A8-6929A6B6625E}"/>
              </a:ext>
            </a:extLst>
          </p:cNvPr>
          <p:cNvSpPr>
            <a:spLocks noGrp="1"/>
          </p:cNvSpPr>
          <p:nvPr/>
        </p:nvSpPr>
        <p:spPr>
          <a:xfrm>
            <a:off x="1028700" y="3162300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583" lnSpcReduction="10000"/>
          </a:bodyPr>
          <a:lstStyle/>
          <a:p>
            <a:pPr algn="l">
              <a:buNone/>
              <a:defRPr sz="75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TravelPlanner · C · validation:1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6A08D8-E9F5-44EA-B4C4-A2D002C79FD2}"/>
              </a:ext>
            </a:extLst>
          </p:cNvPr>
          <p:cNvSpPr>
            <a:spLocks noGrp="1"/>
          </p:cNvSpPr>
          <p:nvPr/>
        </p:nvSpPr>
        <p:spPr>
          <a:xfrm>
            <a:off x="1028700" y="3333750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809"/>
          </a:bodyPr>
          <a:lstStyle/>
          <a:p>
            <a:pPr algn="l">
              <a:buNone/>
              <a:defRPr sz="9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Three-day Washington-to-Myrtle-Beach trip under a $1,400 budget.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9F9607-CA5E-41BE-BE24-A6080F0BCB5A}"/>
              </a:ext>
            </a:extLst>
          </p:cNvPr>
          <p:cNvSpPr>
            <a:spLocks noGrp="1"/>
          </p:cNvSpPr>
          <p:nvPr/>
        </p:nvSpPr>
        <p:spPr>
          <a:xfrm>
            <a:off x="704850" y="3943350"/>
            <a:ext cx="2476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92" lnSpcReduction="20000"/>
          </a:bodyPr>
          <a:lstStyle/>
          <a:p>
            <a:pPr algn="l">
              <a:buNone/>
              <a:defRPr sz="12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FC5443-10CB-4CA0-92E4-9E5602464F37}"/>
              </a:ext>
            </a:extLst>
          </p:cNvPr>
          <p:cNvSpPr>
            <a:spLocks noGrp="1"/>
          </p:cNvSpPr>
          <p:nvPr/>
        </p:nvSpPr>
        <p:spPr>
          <a:xfrm>
            <a:off x="1028700" y="3943350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583" lnSpcReduction="10000"/>
          </a:bodyPr>
          <a:lstStyle/>
          <a:p>
            <a:pPr algn="l">
              <a:buNone/>
              <a:defRPr sz="75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TravelPlanner · C · validation:80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DC74650-75B8-479C-ABEE-F0D1FA5C5751}"/>
              </a:ext>
            </a:extLst>
          </p:cNvPr>
          <p:cNvSpPr>
            <a:spLocks noGrp="1"/>
          </p:cNvSpPr>
          <p:nvPr/>
        </p:nvSpPr>
        <p:spPr>
          <a:xfrm>
            <a:off x="1028700" y="4152900"/>
            <a:ext cx="47625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687"/>
          </a:bodyPr>
          <a:lstStyle/>
          <a:p>
            <a:pPr algn="l">
              <a:buNone/>
              <a:defRPr sz="9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Three-day Atlanta-to-Chicago trip for two, requiring an entire room, under $1,900.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7A0A6E7-56BE-416A-8F89-C9B8E8E2F2DC}"/>
              </a:ext>
            </a:extLst>
          </p:cNvPr>
          <p:cNvSpPr>
            <a:spLocks noGrp="1"/>
          </p:cNvSpPr>
          <p:nvPr/>
        </p:nvSpPr>
        <p:spPr>
          <a:xfrm>
            <a:off x="704850" y="4724400"/>
            <a:ext cx="2476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92" lnSpcReduction="20000"/>
          </a:bodyPr>
          <a:lstStyle/>
          <a:p>
            <a:pPr algn="l">
              <a:buNone/>
              <a:defRPr sz="12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245777"/>
                </a:solidFill>
                <a:latin typeface="Noto Serif SC"/>
                <a:ea typeface="Noto Serif SC"/>
                <a:cs typeface="Noto Serif SC"/>
              </a:rPr>
              <a:t>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F6CE03C-4241-4AE7-A665-E59ACC5B3593}"/>
              </a:ext>
            </a:extLst>
          </p:cNvPr>
          <p:cNvSpPr>
            <a:spLocks noGrp="1"/>
          </p:cNvSpPr>
          <p:nvPr/>
        </p:nvSpPr>
        <p:spPr>
          <a:xfrm>
            <a:off x="1028700" y="4724400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583" lnSpcReduction="10000"/>
          </a:bodyPr>
          <a:lstStyle/>
          <a:p>
            <a:pPr algn="l">
              <a:buNone/>
              <a:defRPr sz="75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245777"/>
                </a:solidFill>
                <a:latin typeface="Noto Sans SC"/>
                <a:ea typeface="Noto Sans SC"/>
                <a:cs typeface="Noto Sans SC"/>
              </a:rPr>
              <a:t>TravelPlanner · D · validation:4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A2D7132-2068-4A62-B3CD-4DCCBE2326DD}"/>
              </a:ext>
            </a:extLst>
          </p:cNvPr>
          <p:cNvSpPr>
            <a:spLocks noGrp="1"/>
          </p:cNvSpPr>
          <p:nvPr/>
        </p:nvSpPr>
        <p:spPr>
          <a:xfrm>
            <a:off x="1028700" y="4933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Three-day solo Ontario-to-Honolulu trip under a $3,200 budget.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34782E6-7747-4766-8F90-05674FC485A2}"/>
              </a:ext>
            </a:extLst>
          </p:cNvPr>
          <p:cNvSpPr>
            <a:spLocks noGrp="1"/>
          </p:cNvSpPr>
          <p:nvPr/>
        </p:nvSpPr>
        <p:spPr>
          <a:xfrm>
            <a:off x="6086475" y="2381250"/>
            <a:ext cx="2476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92" lnSpcReduction="20000"/>
          </a:bodyPr>
          <a:lstStyle/>
          <a:p>
            <a:pPr algn="l">
              <a:buNone/>
              <a:defRPr sz="120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5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1768DF1-C633-4C80-83DA-375FDB434912}"/>
              </a:ext>
            </a:extLst>
          </p:cNvPr>
          <p:cNvSpPr>
            <a:spLocks noGrp="1"/>
          </p:cNvSpPr>
          <p:nvPr/>
        </p:nvSpPr>
        <p:spPr>
          <a:xfrm>
            <a:off x="6410325" y="2381250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583" lnSpcReduction="10000"/>
          </a:bodyPr>
          <a:lstStyle/>
          <a:p>
            <a:pPr algn="l">
              <a:buNone/>
              <a:defRPr sz="7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ChinaTravel · CT-C · medium:e20241028161334777418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A0D0917-34A7-423E-A4DE-DA4F4510FA41}"/>
              </a:ext>
            </a:extLst>
          </p:cNvPr>
          <p:cNvSpPr>
            <a:spLocks noGrp="1"/>
          </p:cNvSpPr>
          <p:nvPr/>
        </p:nvSpPr>
        <p:spPr>
          <a:xfrm>
            <a:off x="6410325" y="2590800"/>
            <a:ext cx="4762500" cy="5619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687"/>
          </a:bodyPr>
          <a:lstStyle/>
          <a:p>
            <a:pPr algn="l">
              <a:buNone/>
              <a:defRPr sz="9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Two-day solo Shanghai-to-Wuhan train trip under ¥2,500, single-bed room, historical sites such as Yellow Crane Tower.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9FA9333-7FE9-4FBC-851F-18C6869C9D30}"/>
              </a:ext>
            </a:extLst>
          </p:cNvPr>
          <p:cNvSpPr>
            <a:spLocks noGrp="1"/>
          </p:cNvSpPr>
          <p:nvPr/>
        </p:nvSpPr>
        <p:spPr>
          <a:xfrm>
            <a:off x="6086475" y="3162300"/>
            <a:ext cx="2476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92" lnSpcReduction="20000"/>
          </a:bodyPr>
          <a:lstStyle/>
          <a:p>
            <a:pPr algn="l">
              <a:buNone/>
              <a:defRPr sz="120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6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4056D1-C2CB-41BE-BEEB-D2641FA72D4B}"/>
              </a:ext>
            </a:extLst>
          </p:cNvPr>
          <p:cNvSpPr>
            <a:spLocks noGrp="1"/>
          </p:cNvSpPr>
          <p:nvPr/>
        </p:nvSpPr>
        <p:spPr>
          <a:xfrm>
            <a:off x="6410325" y="3162300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583" lnSpcReduction="10000"/>
          </a:bodyPr>
          <a:lstStyle/>
          <a:p>
            <a:pPr algn="l">
              <a:buNone/>
              <a:defRPr sz="7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ChinaTravel · CT-C · easy:m20241028164815894420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C71E24-A855-4896-9497-C5645038ECE1}"/>
              </a:ext>
            </a:extLst>
          </p:cNvPr>
          <p:cNvSpPr>
            <a:spLocks noGrp="1"/>
          </p:cNvSpPr>
          <p:nvPr/>
        </p:nvSpPr>
        <p:spPr>
          <a:xfrm>
            <a:off x="6410325" y="3371850"/>
            <a:ext cx="4762500" cy="52387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687"/>
          </a:bodyPr>
          <a:lstStyle/>
          <a:p>
            <a:pPr algn="l">
              <a:buNone/>
              <a:defRPr sz="9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Three-day Hangzhou-to-Chengdu trip for two, requiring a twin room and a hotel gym.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D74D57D-0294-4FE2-9175-71374F2851D0}"/>
              </a:ext>
            </a:extLst>
          </p:cNvPr>
          <p:cNvSpPr>
            <a:spLocks noGrp="1"/>
          </p:cNvSpPr>
          <p:nvPr/>
        </p:nvSpPr>
        <p:spPr>
          <a:xfrm>
            <a:off x="6086475" y="3943350"/>
            <a:ext cx="2476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92" lnSpcReduction="20000"/>
          </a:bodyPr>
          <a:lstStyle/>
          <a:p>
            <a:pPr algn="l">
              <a:buNone/>
              <a:defRPr sz="120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7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5999DD5-0E32-4517-A504-03D77E070090}"/>
              </a:ext>
            </a:extLst>
          </p:cNvPr>
          <p:cNvSpPr>
            <a:spLocks noGrp="1"/>
          </p:cNvSpPr>
          <p:nvPr/>
        </p:nvSpPr>
        <p:spPr>
          <a:xfrm>
            <a:off x="6410325" y="3943350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583" lnSpcReduction="10000"/>
          </a:bodyPr>
          <a:lstStyle/>
          <a:p>
            <a:pPr algn="l">
              <a:buNone/>
              <a:defRPr sz="7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ChinaTravel · CT-C · human:h20241029143736524841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18E0AE5-8E67-471E-843E-6104B138BF31}"/>
              </a:ext>
            </a:extLst>
          </p:cNvPr>
          <p:cNvSpPr>
            <a:spLocks noGrp="1"/>
          </p:cNvSpPr>
          <p:nvPr/>
        </p:nvSpPr>
        <p:spPr>
          <a:xfrm>
            <a:off x="6410325" y="4152900"/>
            <a:ext cx="4762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687"/>
          </a:bodyPr>
          <a:lstStyle/>
          <a:p>
            <a:pPr algn="l">
              <a:buNone/>
              <a:defRPr sz="9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 dirty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Four-day Nanjing-to-Chengdu family trip for five, high-speed train round trip, pandas and nearby attractions, under ¥20,000.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F99C012-3484-4672-BF8F-362F81C0F122}"/>
              </a:ext>
            </a:extLst>
          </p:cNvPr>
          <p:cNvSpPr>
            <a:spLocks noGrp="1"/>
          </p:cNvSpPr>
          <p:nvPr/>
        </p:nvSpPr>
        <p:spPr>
          <a:xfrm>
            <a:off x="6086475" y="4724400"/>
            <a:ext cx="247650" cy="2190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4792" lnSpcReduction="20000"/>
          </a:bodyPr>
          <a:lstStyle/>
          <a:p>
            <a:pPr algn="l">
              <a:buNone/>
              <a:defRPr sz="120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>
                <a:solidFill>
                  <a:srgbClr val="168474"/>
                </a:solidFill>
                <a:latin typeface="Noto Serif SC"/>
                <a:ea typeface="Noto Serif SC"/>
                <a:cs typeface="Noto Serif SC"/>
              </a:rPr>
              <a:t>8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E6C3ABF-8EB4-4500-B1EA-4A704AAE2AA1}"/>
              </a:ext>
            </a:extLst>
          </p:cNvPr>
          <p:cNvSpPr>
            <a:spLocks noGrp="1"/>
          </p:cNvSpPr>
          <p:nvPr/>
        </p:nvSpPr>
        <p:spPr>
          <a:xfrm>
            <a:off x="6410325" y="4724400"/>
            <a:ext cx="47625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4583" lnSpcReduction="10000"/>
          </a:bodyPr>
          <a:lstStyle/>
          <a:p>
            <a:pPr algn="l">
              <a:buNone/>
              <a:defRPr sz="75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1">
                <a:solidFill>
                  <a:srgbClr val="168474"/>
                </a:solidFill>
                <a:latin typeface="Noto Sans SC"/>
                <a:ea typeface="Noto Sans SC"/>
                <a:cs typeface="Noto Sans SC"/>
              </a:rPr>
              <a:t>ChinaTravel · CT-C · human:h20241029143832205713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75BBACC-077C-42C9-AFDF-F7A556C558C4}"/>
              </a:ext>
            </a:extLst>
          </p:cNvPr>
          <p:cNvSpPr>
            <a:spLocks noGrp="1"/>
          </p:cNvSpPr>
          <p:nvPr/>
        </p:nvSpPr>
        <p:spPr>
          <a:xfrm>
            <a:off x="6410325" y="4933950"/>
            <a:ext cx="4762500" cy="58102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687"/>
          </a:bodyPr>
          <a:lstStyle/>
          <a:p>
            <a:pPr algn="l">
              <a:buNone/>
              <a:defRPr sz="9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>
                <a:solidFill>
                  <a:srgbClr val="15202B"/>
                </a:solidFill>
                <a:latin typeface="Noto Sans SC"/>
                <a:ea typeface="Noto Sans SC"/>
                <a:cs typeface="Noto Sans SC"/>
              </a:rPr>
              <a:t>Five-day Mid-Autumn Festival family flight from Hangzhou to Guangzhou, with aquarium and zoo preferences.</a:t>
            </a:r>
          </a:p>
        </p:txBody>
      </p:sp>
      <p:sp>
        <p:nvSpPr>
          <p:cNvPr id="31" name="直接连接符 30">
            <a:extLst>
              <a:ext uri="{FF2B5EF4-FFF2-40B4-BE49-F238E27FC236}">
                <a16:creationId xmlns:a16="http://schemas.microsoft.com/office/drawing/2014/main" id="{6908C2CB-2A12-41F8-BD4D-B40CA4355AA0}"/>
              </a:ext>
            </a:extLst>
          </p:cNvPr>
          <p:cNvSpPr>
            <a:spLocks noGrp="1"/>
          </p:cNvSpPr>
          <p:nvPr/>
        </p:nvSpPr>
        <p:spPr>
          <a:xfrm>
            <a:off x="704850" y="5572125"/>
            <a:ext cx="10429875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B999316-DE07-46F0-A952-E72A3E3AE0B4}"/>
              </a:ext>
            </a:extLst>
          </p:cNvPr>
          <p:cNvSpPr>
            <a:spLocks noGrp="1"/>
          </p:cNvSpPr>
          <p:nvPr/>
        </p:nvSpPr>
        <p:spPr>
          <a:xfrm>
            <a:off x="704850" y="5743575"/>
            <a:ext cx="2000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95" lnSpcReduction="20000"/>
          </a:bodyPr>
          <a:lstStyle/>
          <a:p>
            <a:pPr algn="l">
              <a:buNone/>
              <a:defRPr sz="750" b="1">
                <a:solidFill>
                  <a:srgbClr val="D96846"/>
                </a:solidFill>
                <a:latin typeface="Noto Sans SC"/>
                <a:ea typeface="Noto Sans SC"/>
                <a:cs typeface="Noto Sans SC"/>
              </a:defRPr>
            </a:pPr>
            <a:r>
              <a:rPr sz="1013" b="1">
                <a:solidFill>
                  <a:srgbClr val="D96846"/>
                </a:solidFill>
                <a:latin typeface="Noto Sans SC"/>
                <a:ea typeface="Noto Sans SC"/>
                <a:cs typeface="Noto Sans SC"/>
              </a:rPr>
              <a:t>VALIDITY BOUNDARIES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0792A33-E7AB-4FE9-9CE6-99183FF209CC}"/>
              </a:ext>
            </a:extLst>
          </p:cNvPr>
          <p:cNvSpPr>
            <a:spLocks noGrp="1"/>
          </p:cNvSpPr>
          <p:nvPr/>
        </p:nvSpPr>
        <p:spPr>
          <a:xfrm>
            <a:off x="2857500" y="5638799"/>
            <a:ext cx="8286750" cy="67627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90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1200" b="0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TP-A receives official reference information. C/D contain independent upstream reruns. </a:t>
            </a:r>
            <a:r>
              <a:rPr sz="1200" b="0" dirty="0" err="1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ChinaTravel</a:t>
            </a:r>
            <a:r>
              <a:rPr sz="1200" b="0" dirty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 has 12 paired pilot queries. The benchmarks use different schemas, evaluators, and time-separated server model versions.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9636F3B4-249D-496D-B136-DAEF2DB157FE}"/>
              </a:ext>
            </a:extLst>
          </p:cNvPr>
          <p:cNvSpPr>
            <a:spLocks noGrp="1"/>
          </p:cNvSpPr>
          <p:nvPr/>
        </p:nvSpPr>
        <p:spPr>
          <a:xfrm>
            <a:off x="666750" y="6477000"/>
            <a:ext cx="10858500" cy="0"/>
          </a:xfrm>
          <a:prstGeom prst="line">
            <a:avLst/>
          </a:prstGeom>
          <a:noFill/>
          <a:ln w="9525">
            <a:solidFill>
              <a:srgbClr val="D8D1C5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1C7980B-8E28-453C-87A9-EC605988D170}"/>
              </a:ext>
            </a:extLst>
          </p:cNvPr>
          <p:cNvSpPr>
            <a:spLocks noGrp="1"/>
          </p:cNvSpPr>
          <p:nvPr/>
        </p:nvSpPr>
        <p:spPr>
          <a:xfrm>
            <a:off x="685800" y="6534150"/>
            <a:ext cx="99060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20" lnSpcReduction="20000"/>
          </a:bodyPr>
          <a:lstStyle/>
          <a:p>
            <a:pPr algn="l">
              <a:buNone/>
              <a:def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675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Sources: representative_cases.json and validity_boundaries.md.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F19BD2B-2D96-4FB7-A70C-A29E5589A6C2}"/>
              </a:ext>
            </a:extLst>
          </p:cNvPr>
          <p:cNvSpPr>
            <a:spLocks noGrp="1"/>
          </p:cNvSpPr>
          <p:nvPr/>
        </p:nvSpPr>
        <p:spPr>
          <a:xfrm>
            <a:off x="11049000" y="6534150"/>
            <a:ext cx="457200" cy="171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7500" lnSpcReduction="20000"/>
          </a:bodyPr>
          <a:lstStyle/>
          <a:p>
            <a:pPr algn="r">
              <a:buNone/>
              <a:def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defRPr>
            </a:pPr>
            <a:r>
              <a:rPr sz="750" b="0">
                <a:solidFill>
                  <a:srgbClr val="637083"/>
                </a:solidFill>
                <a:latin typeface="Noto Sans SC"/>
                <a:ea typeface="Noto Sans SC"/>
                <a:cs typeface="Noto Sans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1620466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2034</Words>
  <Application>Microsoft Office PowerPoint</Application>
  <DocSecurity>0</DocSecurity>
  <PresentationFormat>宽屏</PresentationFormat>
  <Paragraphs>440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Noto Sans SC</vt:lpstr>
      <vt:lpstr>Noto Serif SC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国防 赵</cp:lastModifiedBy>
  <cp:revision>1</cp:revision>
  <dcterms:created xsi:type="dcterms:W3CDTF">2026-09-11T01:05:16Z</dcterms:created>
  <dcterms:modified xsi:type="dcterms:W3CDTF">2026-09-11T01:33:06Z</dcterms:modified>
</cp:coreProperties>
</file>